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media/image2.tif" ContentType="image/tif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8"/>
  </p:notesMasterIdLst>
  <p:sldIdLst>
    <p:sldId id="303" r:id="rId33"/>
    <p:sldId id="304" r:id="rId34"/>
    <p:sldId id="305" r:id="rId35"/>
    <p:sldId id="306" r:id="rId36"/>
    <p:sldId id="307" r:id="rId37"/>
    <p:sldId id="308" r:id="rId38"/>
    <p:sldId id="309" r:id="rId39"/>
    <p:sldId id="310" r:id="rId40"/>
    <p:sldId id="311" r:id="rId41"/>
    <p:sldId id="312" r:id="rId42"/>
    <p:sldId id="313" r:id="rId43"/>
    <p:sldId id="314" r:id="rId44"/>
    <p:sldId id="315" r:id="rId45"/>
    <p:sldId id="316" r:id="rId46"/>
    <p:sldId id="317" r:id="rId47"/>
    <p:sldId id="318" r:id="rId48"/>
    <p:sldId id="319" r:id="rId49"/>
    <p:sldId id="320" r:id="rId50"/>
    <p:sldId id="321" r:id="rId51"/>
    <p:sldId id="322" r:id="rId52"/>
    <p:sldId id="323" r:id="rId53"/>
    <p:sldId id="324" r:id="rId54"/>
    <p:sldId id="325" r:id="rId55"/>
    <p:sldId id="326" r:id="rId56"/>
    <p:sldId id="327" r:id="rId57"/>
    <p:sldId id="328" r:id="rId58"/>
    <p:sldId id="329" r:id="rId59"/>
    <p:sldId id="330" r:id="rId60"/>
    <p:sldId id="331" r:id="rId61"/>
    <p:sldId id="332" r:id="rId62"/>
    <p:sldId id="333" r:id="rId63"/>
    <p:sldId id="334" r:id="rId64"/>
    <p:sldId id="335" r:id="rId65"/>
    <p:sldId id="336" r:id="rId66"/>
    <p:sldId id="337" r:id="rId67"/>
    <p:sldId id="338" r:id="rId6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CB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26"/>
  </p:normalViewPr>
  <p:slideViewPr>
    <p:cSldViewPr snapToGrid="0">
      <p:cViewPr varScale="1">
        <p:scale>
          <a:sx n="58" d="100"/>
          <a:sy n="58" d="100"/>
        </p:scale>
        <p:origin x="-1568" y="-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Реальный день</c:v>
                </c:pt>
              </c:strCache>
            </c:strRef>
          </c:tx>
          <c:spPr>
            <a:solidFill>
              <a:srgbClr val="A1A1A1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Базовый вариант ТЗ</c:v>
                </c:pt>
              </c:strCache>
            </c:strRef>
          </c:tx>
          <c:spPr>
            <a:solidFill>
              <a:srgbClr val="141414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Наш план</c:v>
                </c:pt>
              </c:strCache>
            </c:strRef>
          </c:tx>
          <c:spPr>
            <a:solidFill>
              <a:srgbClr val="FFC800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11</c:v>
                </c:pt>
                <c:pt idx="5">
                  <c:v>9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400"/>
          </a:pPr>
        </a:p>
      </c:txPr>
    </c:legend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Бригад в среднем</c:v>
                </c:pt>
              </c:strCache>
            </c:strRef>
          </c:tx>
          <c:spPr>
            <a:solidFill>
              <a:srgbClr val="A1A1A1"/>
            </a:solidFill>
          </c:spPr>
          <c:dPt>
            <c:idx val="4"/>
            <c:spPr>
              <a:solidFill>
                <a:srgbClr val="FFC800"/>
              </a:solidFill>
            </c:spPr>
          </c:dPt>
          <c:dPt>
            <c:idx val="0"/>
            <c:spPr>
              <a:solidFill>
                <a:srgbClr val="141414"/>
              </a:solidFill>
            </c:spPr>
          </c:dPt>
          <c:dLbls>
            <c:numFmt formatCode="0.00" sourceLinked="0"/>
            <c:txPr>
              <a:bodyPr/>
              <a:lstStyle/>
              <a:p>
                <a:pPr>
                  <a:defRPr sz="26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Базовый ТЗ</c:v>
                </c:pt>
                <c:pt idx="1">
                  <c:v>OR-Tools</c:v>
                </c:pt>
                <c:pt idx="2">
                  <c:v>VROOM</c:v>
                </c:pt>
                <c:pt idx="3">
                  <c:v>PyVRP</c:v>
                </c:pt>
                <c:pt idx="4">
                  <c:v>Наш оптимизатор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11.55</c:v>
                </c:pt>
                <c:pt idx="1">
                  <c:v>8.78</c:v>
                </c:pt>
                <c:pt idx="2">
                  <c:v>8.83</c:v>
                </c:pt>
                <c:pt idx="3">
                  <c:v>8.64</c:v>
                </c:pt>
                <c:pt idx="4">
                  <c:v>8.17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Доказанный минимум бригад</c:v>
                </c:pt>
              </c:strCache>
            </c:strRef>
          </c:tx>
          <c:spPr>
            <a:solidFill>
              <a:srgbClr val="FFC800"/>
            </a:solidFill>
          </c:spPr>
          <c:dLbls>
            <c:txPr>
              <a:bodyPr/>
              <a:lstStyle/>
              <a:p>
                <a:pPr>
                  <a:defRPr sz="26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0,3 с</c:v>
                </c:pt>
                <c:pt idx="1">
                  <c:v>1 с</c:v>
                </c:pt>
                <c:pt idx="2">
                  <c:v>3 с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Весь план теоретически оптимален</c:v>
                </c:pt>
              </c:strCache>
            </c:strRef>
          </c:tx>
          <c:spPr>
            <a:solidFill>
              <a:srgbClr val="141414"/>
            </a:solidFill>
          </c:spPr>
          <c:dLbls>
            <c:txPr>
              <a:bodyPr/>
              <a:lstStyle/>
              <a:p>
                <a:pPr>
                  <a:defRPr sz="26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0,3 с</c:v>
                </c:pt>
                <c:pt idx="1">
                  <c:v>1 с</c:v>
                </c:pt>
                <c:pt idx="2">
                  <c:v>3 с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13</c:v>
                </c:pt>
                <c:pt idx="2">
                  <c:v>24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7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400"/>
          </a:pPr>
        </a:p>
      </c:txPr>
    </c:legend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19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4" name="Shape 19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0" y="11859862"/>
            <a:ext cx="2197100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 и дата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Заголовок презентации</a:t>
            </a:r>
          </a:p>
        </p:txBody>
      </p:sp>
      <p:sp>
        <p:nvSpPr>
          <p:cNvPr id="13" name="Уровень текста 1…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Подзаголовок презентации</a:t>
            </a:r>
          </a:p>
        </p:txBody>
      </p:sp>
      <p:sp>
        <p:nvSpPr>
          <p:cNvPr id="1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Авокадо и лаймы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2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Заголовок презентации</a:t>
            </a:r>
          </a:p>
        </p:txBody>
      </p:sp>
      <p:sp>
        <p:nvSpPr>
          <p:cNvPr id="2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7690" y="1106137"/>
            <a:ext cx="21968621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 и дата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4" name="Уровень текста 1…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6500" y="11609909"/>
            <a:ext cx="21971000" cy="111695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Подзаголовок презентации</a:t>
            </a:r>
          </a:p>
        </p:txBody>
      </p:sp>
      <p:sp>
        <p:nvSpPr>
          <p:cNvPr id="2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 (вариант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Тарелка с рублеными котлетами из лосося, салатом и хумусом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33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4"/>
          </a:xfrm>
          <a:prstGeom prst="rect">
            <a:avLst/>
          </a:prstGeom>
        </p:spPr>
        <p:txBody>
          <a:bodyPr anchor="b"/>
          <a:lstStyle/>
          <a:p>
            <a:r>
              <a:t>Заголовок слайда</a:t>
            </a:r>
          </a:p>
        </p:txBody>
      </p:sp>
      <p:sp>
        <p:nvSpPr>
          <p:cNvPr id="3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 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4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Уровень текста 1…"/>
          <p:cNvSpPr txBox="1">
            <a:spLocks noGrp="1"/>
          </p:cNvSpPr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/>
          <a:p>
            <a:r>
              <a:t>Текст пункта на слайде</a:t>
            </a:r>
          </a:p>
        </p:txBody>
      </p:sp>
      <p:sp>
        <p:nvSpPr>
          <p:cNvPr id="4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, пункты и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9779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1" name="Уровень текста 1…"/>
          <p:cNvSpPr txBox="1">
            <a:spLocks noGrp="1"/>
          </p:cNvSpPr>
          <p:nvPr>
            <p:ph type="body" sz="half" idx="21" hasCustomPrompt="1"/>
          </p:nvPr>
        </p:nvSpPr>
        <p:spPr>
          <a:xfrm>
            <a:off x="1206500" y="4248503"/>
            <a:ext cx="9779000" cy="8256632"/>
          </a:xfrm>
          <a:prstGeom prst="rect">
            <a:avLst/>
          </a:prstGeom>
        </p:spPr>
        <p:txBody>
          <a:bodyPr numCol="1" spcCol="38100"/>
          <a:lstStyle/>
          <a:p>
            <a:r>
              <a:t>Текст пункта на слайде</a:t>
            </a:r>
          </a:p>
        </p:txBody>
      </p:sp>
      <p:sp>
        <p:nvSpPr>
          <p:cNvPr id="62" name="Тарелка пасты папарделле с зелёным маслом из петрушки, жареным фундуком и стружкой сыра пармезан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63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6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Разде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Заголовок раздела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5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Заголовок раздела</a:t>
            </a:r>
          </a:p>
        </p:txBody>
      </p:sp>
      <p:sp>
        <p:nvSpPr>
          <p:cNvPr id="7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51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8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овестка д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Заголовок повестки дня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Заголовок повестки дня</a:t>
            </a:r>
          </a:p>
        </p:txBody>
      </p:sp>
      <p:sp>
        <p:nvSpPr>
          <p:cNvPr id="8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повестки дня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99"/>
            </a:lvl1pPr>
          </a:lstStyle>
          <a:p>
            <a:r>
              <a:t>Темы повестки дня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Информационное сообщ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Уровень текста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numCol="1" spcCol="38100"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Информационное сообщение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Важный фа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5"/>
            <a:ext cx="21971000" cy="7241587"/>
          </a:xfrm>
          <a:prstGeom prst="rect">
            <a:avLst/>
          </a:prstGeom>
        </p:spPr>
        <p:txBody>
          <a:bodyPr numCol="1" spcCol="38100"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7" name="Информация о факте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Информация о факте</a:t>
            </a:r>
          </a:p>
        </p:txBody>
      </p:sp>
      <p:sp>
        <p:nvSpPr>
          <p:cNvPr id="10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Цита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430023" y="10675453"/>
            <a:ext cx="2020005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Авторство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6" name="Уровень текста 1…"/>
          <p:cNvSpPr txBox="1">
            <a:spLocks noGrp="1"/>
          </p:cNvSpPr>
          <p:nvPr>
            <p:ph type="body" sz="half" idx="21" hasCustomPrompt="1"/>
          </p:nvPr>
        </p:nvSpPr>
        <p:spPr>
          <a:xfrm>
            <a:off x="1753923" y="4939860"/>
            <a:ext cx="20876154" cy="3836282"/>
          </a:xfrm>
          <a:prstGeom prst="rect">
            <a:avLst/>
          </a:prstGeom>
        </p:spPr>
        <p:txBody>
          <a:bodyPr numCol="1" spcCol="38100"/>
          <a:lstStyle>
            <a:lvl1pPr marL="300875" indent="-131851">
              <a:spcBef>
                <a:spcPts val="0"/>
              </a:spcBef>
              <a:buSzTx/>
              <a:buNone/>
              <a:defRPr sz="8500" spc="-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«Важная цитата»</a:t>
            </a:r>
          </a:p>
        </p:txBody>
      </p:sp>
      <p:sp>
        <p:nvSpPr>
          <p:cNvPr id="11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 (3 шт.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Миска салата с жареным рисом, варёными яйцами и палочками для еды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5" name="Тарелка с рублеными котлетами из лосося, салатом и хумусом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6" name="Тарелка пасты папарделле с зелёным маслом из петрушки, жареным фундуком и стружкой сыра пармезан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миска салата с жареным рисом, варёными яйцами и палочками для еды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3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0" y="11859862"/>
            <a:ext cx="2197100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Author and Date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0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51" name="Уровень текста 1…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Presentation Subtitle</a:t>
            </a:r>
          </a:p>
        </p:txBody>
      </p:sp>
      <p:sp>
        <p:nvSpPr>
          <p:cNvPr id="15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0346" y="712670"/>
            <a:ext cx="575067" cy="574669"/>
          </a:xfrm>
          <a:prstGeom prst="rect">
            <a:avLst/>
          </a:prstGeom>
          <a:ln w="12700">
            <a:miter lim="400000"/>
          </a:ln>
        </p:spPr>
      </p:pic>
      <p:sp>
        <p:nvSpPr>
          <p:cNvPr id="16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9196" y="565867"/>
            <a:ext cx="20918184" cy="1201292"/>
          </a:xfrm>
          <a:prstGeom prst="rect">
            <a:avLst/>
          </a:prstGeom>
        </p:spPr>
        <p:txBody>
          <a:bodyPr lIns="91437" tIns="91437" rIns="91437" bIns="91437"/>
          <a:lstStyle>
            <a:lvl1pPr defTabSz="1828800">
              <a:lnSpc>
                <a:spcPct val="90000"/>
              </a:lnSpc>
              <a:defRPr sz="7000" b="0" spc="0">
                <a:solidFill>
                  <a:srgbClr val="FFFFFF"/>
                </a:solidFill>
                <a:latin typeface="Beeline Sans Medium"/>
                <a:ea typeface="Beeline Sans Medium"/>
                <a:cs typeface="Beeline Sans Medium"/>
                <a:sym typeface="Beeline Sans Medium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61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800">
              <a:defRPr sz="2400">
                <a:solidFill>
                  <a:srgbClr val="262626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 0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9196" y="565867"/>
            <a:ext cx="20918184" cy="1201292"/>
          </a:xfrm>
          <a:prstGeom prst="rect">
            <a:avLst/>
          </a:prstGeom>
        </p:spPr>
        <p:txBody>
          <a:bodyPr lIns="91437" tIns="91437" rIns="91437" bIns="91437"/>
          <a:lstStyle>
            <a:lvl1pPr defTabSz="1828800">
              <a:lnSpc>
                <a:spcPct val="90000"/>
              </a:lnSpc>
              <a:defRPr sz="7000" b="0" spc="0">
                <a:solidFill>
                  <a:srgbClr val="FFFFFF"/>
                </a:solidFill>
                <a:latin typeface="Beeline Sans Medium"/>
                <a:ea typeface="Beeline Sans Medium"/>
                <a:cs typeface="Beeline Sans Medium"/>
                <a:sym typeface="Beeline Sans Medium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69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800">
              <a:defRPr sz="2400">
                <a:solidFill>
                  <a:srgbClr val="262626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3877" y="672502"/>
            <a:ext cx="21031202" cy="1387311"/>
          </a:xfrm>
          <a:prstGeom prst="rect">
            <a:avLst/>
          </a:prstGeom>
        </p:spPr>
        <p:txBody>
          <a:bodyPr lIns="91437" tIns="91437" rIns="91437" bIns="91437" anchor="ctr"/>
          <a:lstStyle>
            <a:lvl1pPr defTabSz="1828754">
              <a:lnSpc>
                <a:spcPct val="90000"/>
              </a:lnSpc>
              <a:defRPr sz="9000" b="0" spc="0">
                <a:latin typeface="Beeline Sans Black"/>
                <a:ea typeface="Beeline Sans Black"/>
                <a:cs typeface="Beeline Sans Black"/>
                <a:sym typeface="Beeline Sans Black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7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0" y="0"/>
            <a:ext cx="2542" cy="2542"/>
          </a:xfrm>
          <a:prstGeom prst="rect">
            <a:avLst/>
          </a:prstGeom>
        </p:spPr>
        <p:txBody>
          <a:bodyPr lIns="91437" tIns="91437" rIns="91437" bIns="91437" numCol="1" spcCol="38100"/>
          <a:lstStyle>
            <a:lvl1pPr marL="457187" indent="-457187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1pPr>
            <a:lvl2pPr marL="990575" indent="-533384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2pPr>
            <a:lvl3pPr marL="1554440" indent="-640063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3pPr>
            <a:lvl4pPr marL="2082747" indent="-711181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4pPr>
            <a:lvl5pPr marL="2539936" indent="-711181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78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0" y="0"/>
            <a:ext cx="661006" cy="678176"/>
          </a:xfrm>
          <a:prstGeom prst="rect">
            <a:avLst/>
          </a:prstGeom>
        </p:spPr>
        <p:txBody>
          <a:bodyPr lIns="91437" tIns="91437" rIns="91437" bIns="91437" anchor="t"/>
          <a:lstStyle>
            <a:lvl1pPr algn="l" defTabSz="1828754">
              <a:defRPr sz="3600"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Слайд без лига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152001" y="648130"/>
            <a:ext cx="19972510" cy="960010"/>
          </a:xfrm>
          <a:prstGeom prst="rect">
            <a:avLst/>
          </a:prstGeom>
        </p:spPr>
        <p:txBody>
          <a:bodyPr lIns="91437" tIns="91437" rIns="91437" bIns="91437"/>
          <a:lstStyle>
            <a:lvl1pPr defTabSz="1828754">
              <a:lnSpc>
                <a:spcPct val="90000"/>
              </a:lnSpc>
              <a:defRPr sz="9000" b="0" spc="0">
                <a:latin typeface="Beeline Sans Black"/>
                <a:ea typeface="Beeline Sans Black"/>
                <a:cs typeface="Beeline Sans Black"/>
                <a:sym typeface="Beeline Sans Black"/>
              </a:defRPr>
            </a:lvl1pPr>
          </a:lstStyle>
          <a:p>
            <a:r>
              <a:t>Заголовок слайда</a:t>
            </a:r>
          </a:p>
        </p:txBody>
      </p:sp>
      <p:pic>
        <p:nvPicPr>
          <p:cNvPr id="186" name="Рисунок 4" descr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7750" y="807259"/>
            <a:ext cx="641745" cy="641745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754">
              <a:defRPr sz="2400"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numCol="2" spcCol="1098550">
            <a:normAutofit/>
          </a:bodyPr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3653366" y="2743200"/>
            <a:ext cx="19507201" cy="1505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rPr dirty="0" err="1"/>
              <a:t>Текст</a:t>
            </a:r>
            <a:r>
              <a:rPr dirty="0"/>
              <a:t> </a:t>
            </a:r>
            <a:r>
              <a:rPr dirty="0" err="1"/>
              <a:t>заголовка</a:t>
            </a:r>
            <a:endParaRPr dirty="0"/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0999"/>
            <a:ext cx="368504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ransition spd="med"/>
  <p:txStyles>
    <p:titleStyle>
      <a:lvl1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titleStyle>
    <p:bodyStyle>
      <a:lvl1pPr marL="609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1219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1828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2438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30480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3657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4267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4876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5486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5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/Relationships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01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задача</a:t>
            </a:r>
            <a:br>
              <a:rPr lang="ru-RU" dirty="0"/>
            </a:br>
            <a:r>
              <a:rPr lang="ru-RU" dirty="0"/>
              <a:t>и данные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Постановка задачи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62102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Дано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754880"/>
            <a:ext cx="6309360" cy="73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три участка: Восток, Юго-восток, Югоцентр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205 заявок на один день: аварии, подключения, ремонт, дозаказ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в реальный день их выполняли 35 бригад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у заявки есть окно начала работ, у бригады навыки и транспорт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200400"/>
            <a:ext cx="731520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62102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Ограничения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754880"/>
            <a:ext cx="6309360" cy="73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у бригады есть нужный навык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работа начинается внутри окна, приехать раньше можно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смена до 22:00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время в пути зависит от транспорта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бригада работает только на своём участке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200400"/>
            <a:ext cx="7498079" cy="9144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621024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Порядок целей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700016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96560" y="4809744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Выполнить все заявки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96560" y="550468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если все не помещаются, первыми назначаем аварии, затем подключения, затем ремонт и дозаказ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51808" y="71323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96560" y="7242048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Меньше бригад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96560" y="7936992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каждая бригада означает смену инженера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51808" y="9564624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0" y="9674352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Меньше километров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96560" y="10369296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при одинаковом числе бригад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Исходные данные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108960"/>
            <a:ext cx="2304288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108960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7" y="3438144"/>
            <a:ext cx="1828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заявок в трёх CSV-файлах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206240"/>
            <a:ext cx="1828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кодировка CP1251, адрес офиса в последней строке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47088" y="5266944"/>
            <a:ext cx="20665439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395728" y="5266944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7" y="559612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адресов переведены в координаты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7" y="6364224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Nominatim, результат сохранён в репозитории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35808" y="7424927"/>
            <a:ext cx="1828800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84448" y="7424927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7754111"/>
            <a:ext cx="1353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матрицы времени и расстояний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8522207"/>
            <a:ext cx="1353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машина, пешком, велосипед, общественный транспорт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9582912"/>
            <a:ext cx="15910559" cy="1920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773168" y="9582912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9912096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тестовых задач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7" y="10680192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24 на контрольный день (3 участка, 4 варианта транспорта, 2 варианта навыков), 40 на реальные дни 28–29.09, 24 на сгенерированных участках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252960"/>
            <a:ext cx="2304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*Контрольный день — синтетические файлы организаторов, реальные дни — выгрузки за 28–29.09, сгенерированные участки — адреса из OpenStreetMap.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Генерация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62656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Чего не хватало в данных организаторов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840480"/>
            <a:ext cx="1078992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60704" y="4059936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4096512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Бригады и навыки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4700016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Состав бригад и их дома в области берём с контрольного дня. Навыки в двух вариантах: то, что бригада реально выполняла в тот день, или все три.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6711696"/>
            <a:ext cx="1078992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60704" y="6931152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69677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Транспорт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7571231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Четыре варианта: все на общественном транспорте, все на машине и два смешанных. В смешанных бригады из области на машине, московские: 60% общественный транспорт, 25% машина, 10% велосипед, 5% пешком. Итого 8 задач на каждый день участка.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9582912"/>
            <a:ext cx="1078992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60704" y="9802368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9838944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Только машина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10442448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Для аварий на узле связи и подключений с заказом оборудования нужен автомобиль: 4 из 66 заявок Востока, 19 из 83 Юго-востока.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0" y="2962656"/>
            <a:ext cx="116311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Новые участки Москвы: Север, Запад, Северо-восток</a:t>
            </a:r>
          </a:p>
        </p:txBody>
      </p:sp>
      <p:pic>
        <p:nvPicPr>
          <p:cNvPr id="21" name="Picture 20" descr="gen_Севе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0" y="3842308"/>
            <a:ext cx="3767328" cy="3013862"/>
          </a:xfrm>
          <a:prstGeom prst="roundRect">
            <a:avLst>
              <a:gd name="adj" fmla="val 4000"/>
            </a:avLst>
          </a:prstGeom>
        </p:spPr>
      </p:pic>
      <p:sp>
        <p:nvSpPr>
          <p:cNvPr id="22" name="TextBox 21"/>
          <p:cNvSpPr txBox="1"/>
          <p:nvPr/>
        </p:nvSpPr>
        <p:spPr>
          <a:xfrm>
            <a:off x="12070080" y="6949440"/>
            <a:ext cx="3767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Север</a:t>
            </a:r>
          </a:p>
        </p:txBody>
      </p:sp>
      <p:pic>
        <p:nvPicPr>
          <p:cNvPr id="23" name="Picture 22" descr="gen_Запад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0" y="3842308"/>
            <a:ext cx="3767328" cy="3013862"/>
          </a:xfrm>
          <a:prstGeom prst="roundRect">
            <a:avLst>
              <a:gd name="adj" fmla="val 4000"/>
            </a:avLst>
          </a:prstGeom>
        </p:spPr>
      </p:pic>
      <p:sp>
        <p:nvSpPr>
          <p:cNvPr id="24" name="TextBox 23"/>
          <p:cNvSpPr txBox="1"/>
          <p:nvPr/>
        </p:nvSpPr>
        <p:spPr>
          <a:xfrm>
            <a:off x="16002000" y="6949440"/>
            <a:ext cx="3767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Запад</a:t>
            </a:r>
          </a:p>
        </p:txBody>
      </p:sp>
      <p:pic>
        <p:nvPicPr>
          <p:cNvPr id="25" name="Picture 24" descr="gen_Северо-восток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33919" y="3842308"/>
            <a:ext cx="3767328" cy="3013862"/>
          </a:xfrm>
          <a:prstGeom prst="roundRect">
            <a:avLst>
              <a:gd name="adj" fmla="val 4000"/>
            </a:avLst>
          </a:prstGeom>
        </p:spPr>
      </p:pic>
      <p:sp>
        <p:nvSpPr>
          <p:cNvPr id="26" name="TextBox 25"/>
          <p:cNvSpPr txBox="1"/>
          <p:nvPr/>
        </p:nvSpPr>
        <p:spPr>
          <a:xfrm>
            <a:off x="19933919" y="6949440"/>
            <a:ext cx="3767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Северо-восток</a:t>
            </a:r>
          </a:p>
        </p:txBody>
      </p:sp>
      <p:sp>
        <p:nvSpPr>
          <p:cNvPr id="27" name="Oval 26"/>
          <p:cNvSpPr/>
          <p:nvPr/>
        </p:nvSpPr>
        <p:spPr>
          <a:xfrm>
            <a:off x="12070080" y="7680960"/>
            <a:ext cx="292608" cy="29260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472415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подключение</a:t>
            </a:r>
          </a:p>
        </p:txBody>
      </p:sp>
      <p:sp>
        <p:nvSpPr>
          <p:cNvPr id="29" name="Oval 28"/>
          <p:cNvSpPr/>
          <p:nvPr/>
        </p:nvSpPr>
        <p:spPr>
          <a:xfrm>
            <a:off x="14785847" y="7680960"/>
            <a:ext cx="292608" cy="292608"/>
          </a:xfrm>
          <a:prstGeom prst="ellipse">
            <a:avLst/>
          </a:prstGeom>
          <a:solidFill>
            <a:srgbClr val="A1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188184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ремонт</a:t>
            </a:r>
          </a:p>
        </p:txBody>
      </p:sp>
      <p:sp>
        <p:nvSpPr>
          <p:cNvPr id="31" name="Oval 30"/>
          <p:cNvSpPr/>
          <p:nvPr/>
        </p:nvSpPr>
        <p:spPr>
          <a:xfrm>
            <a:off x="16724376" y="7680960"/>
            <a:ext cx="292608" cy="29260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126712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авария</a:t>
            </a:r>
          </a:p>
        </p:txBody>
      </p:sp>
      <p:sp>
        <p:nvSpPr>
          <p:cNvPr id="33" name="Oval 32"/>
          <p:cNvSpPr/>
          <p:nvPr/>
        </p:nvSpPr>
        <p:spPr>
          <a:xfrm>
            <a:off x="18662904" y="7680960"/>
            <a:ext cx="292608" cy="292608"/>
          </a:xfrm>
          <a:prstGeom prst="ellipse">
            <a:avLst/>
          </a:prstGeom>
          <a:solidFill>
            <a:srgbClr val="F4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065240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дозаказ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0" y="8321040"/>
            <a:ext cx="11631168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адреса — настоящие жилые дома из OpenStreetMap, районы — по их границам в OSM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60–75 заявок, окна по 2 часа с теми же долями по времени дня, что у организаторов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типы в долях трёх участков: подключение 46%, ремонт 38%, авария 10%, дозаказ 6%; треть аварий с окном на весь день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по районам неравномерно, самый крупный не больше 20% заявок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11–12 бригад, наборы навыков с частотами контрольного дня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Расстояния и время в пути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291840"/>
            <a:ext cx="5394960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Геокодинг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Nominatim, 205 адресов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3952" y="3291840"/>
            <a:ext cx="5394960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73952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OSRM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свой сервер в Docker на карте Москвы и юга области, профили для машины, пешехода и велосипеда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54496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2289536" y="3291840"/>
            <a:ext cx="5394960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289536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89536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Поправка к OSRM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89536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время машины умножаем на 1,3: среднее отношение Яндекс Карт к OSRM по выборке пар адресов. К каждой заявке добавляем время на поиск дома и парковку: 5 мин на машине, 3 мин для остальных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070080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8105120" y="3291840"/>
            <a:ext cx="5394960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8105120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05120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Общественный транспорт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05120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до 1,5 км пешком, дальше 12 минут на подход и ожидание и 20 км/ч, после 25 км 45 км/ч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7885664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" y="10881360"/>
            <a:ext cx="23042880" cy="146304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15568" y="11100816"/>
            <a:ext cx="221284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Для каждого вида транспорта строим матрицы времени и расстояния между всеми точками участка. Их получает оптимизатор.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Архитектура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60704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заявки участка (xlsx или CSV)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бригады: навыки, транспорт, старт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нормативы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74336" y="5943600"/>
            <a:ext cx="347471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58383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760720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Подготовка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координаты адресов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матрицы OSRM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задача для оптимизатора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74351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58400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60736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Оптимизатор C++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0736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8 потоков, 3 секунды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выполняет все заявки минимальным числом бригад с минимальным пробегом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поиск теоретического минимума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374367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4758415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5160751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Валидация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60751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независимая проверка check_plan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все ограничения ТЗ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время и км считает заново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074383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9458431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860768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Интерфейс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60768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карта и шкала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объяснение назначений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сравнение с базовым вариантом, экспорт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9326880"/>
            <a:ext cx="2304288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9326880"/>
            <a:ext cx="6035040" cy="3017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События в течение дня</a:t>
            </a:r>
          </a:p>
          <a:p>
            <a:pPr algn="l">
              <a:spcBef>
                <a:spcPts val="12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срочная заявка, отмена, недоступный инженер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06640" y="10826496"/>
            <a:ext cx="1280160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0" y="9326880"/>
            <a:ext cx="14081760" cy="3017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При событии оптимизатор запускается заново от текущего состояния. Выполненные и начатые заявки закреплены, остальное пересчитывается по правилам перепланирования. Изменения видны на карте и в таблице.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5C13C3-1F94-10AF-8FD7-D4DCE99B2C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>
            <a:extLst>
              <a:ext uri="{FF2B5EF4-FFF2-40B4-BE49-F238E27FC236}">
                <a16:creationId xmlns:a16="http://schemas.microsoft.com/office/drawing/2014/main" id="{2D0F6E16-E2E7-C956-A9B6-63D7BCB0538D}"/>
              </a:ext>
            </a:extLst>
          </p:cNvPr>
          <p:cNvSpPr txBox="1"/>
          <p:nvPr/>
        </p:nvSpPr>
        <p:spPr>
          <a:xfrm>
            <a:off x="616227" y="-889000"/>
            <a:ext cx="14698858" cy="9828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02</a:t>
            </a:r>
            <a:endParaRPr dirty="0"/>
          </a:p>
        </p:txBody>
      </p:sp>
      <p:sp>
        <p:nvSpPr>
          <p:cNvPr id="206" name="медиа-давление и бюджет">
            <a:extLst>
              <a:ext uri="{FF2B5EF4-FFF2-40B4-BE49-F238E27FC236}">
                <a16:creationId xmlns:a16="http://schemas.microsoft.com/office/drawing/2014/main" id="{D17FC182-CFD1-F8DC-459F-9C689C3755FB}"/>
              </a:ext>
            </a:extLst>
          </p:cNvPr>
          <p:cNvSpPr txBox="1"/>
          <p:nvPr/>
        </p:nvSpPr>
        <p:spPr>
          <a:xfrm>
            <a:off x="13405764" y="5525710"/>
            <a:ext cx="10978236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алгоритм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Алгоритм по шагам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70432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70432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170432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Начальный план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сначала ставим заявки с наибольшей упущенной выгодой: второй вариант вставки у них намного хуже лучшего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3952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86016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86016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86016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Сокращение бригад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имитация отжига и ALNS (Adaptive Large Neighborhood Search): убираем маршрут и распределяем его заявки по остальным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289536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801600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801600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0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Сокращение пробега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0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SISR (Slack Induction by String Removals): вырезаем цепочки заявок и вставляем дешевле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105120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8617184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8617184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8617184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Нижняя граница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617184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метод генерации столбцов показывает, меньше какого числа бригад и км сделать теоретически невозможно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10241280"/>
            <a:ext cx="23042880" cy="21031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115568" y="10460736"/>
            <a:ext cx="22128480" cy="1664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1" i="0">
                <a:solidFill>
                  <a:srgbClr val="FFC800"/>
                </a:solidFill>
                <a:latin typeface="Beeline Sans"/>
              </a:rPr>
              <a:t>Шаги 1–3 </a:t>
            </a:r>
            <a:r>
              <a:rPr sz="2500" b="0" i="0">
                <a:solidFill>
                  <a:srgbClr val="FFFFFF"/>
                </a:solidFill>
                <a:latin typeface="Beeline Sans"/>
              </a:rPr>
              <a:t>выполняют 8 потоков одновременно, они обмениваются лучшим решением. На участок уходит 3 секунды. Шаг 4 для работы оптимизатора не нужен: его считаем отдельно, чтобы оценить, насколько план близок к теоретически лучшему.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 1. Начальный план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70432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regr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394" y="3474720"/>
            <a:ext cx="10474266" cy="8595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0" y="3291840"/>
            <a:ext cx="10698480" cy="6035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41414"/>
                </a:solidFill>
                <a:latin typeface="Beeline Sans"/>
              </a:rPr>
              <a:t>Для каждой заявки ищем лучшее место в каждом маршруте и считаем, сколько километров добавит вставка. Если бригада не успевает в окно, вариант не подходит.</a:t>
            </a:r>
          </a:p>
          <a:p>
            <a:pPr algn="l">
              <a:spcBef>
                <a:spcPts val="2800"/>
              </a:spcBef>
            </a:pPr>
            <a:r>
              <a:rPr sz="2800" b="1" i="0">
                <a:solidFill>
                  <a:srgbClr val="141414"/>
                </a:solidFill>
                <a:latin typeface="Beeline Sans"/>
              </a:rPr>
              <a:t>Упущенная выгода</a:t>
            </a:r>
            <a:r>
              <a:rPr sz="2800" b="0" i="0">
                <a:solidFill>
                  <a:srgbClr val="141414"/>
                </a:solidFill>
                <a:latin typeface="Beeline Sans"/>
              </a:rPr>
              <a:t> — насколько второй по стоимости вариант хуже лучшего. Если она большая, удобное место у заявки одно, и его легко потерять.</a:t>
            </a:r>
          </a:p>
          <a:p>
            <a:pPr algn="l">
              <a:spcBef>
                <a:spcPts val="2800"/>
              </a:spcBef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Первой ставим заявку с наибольшей упущенной выгодой, пересчитываем и повторяем. Аварии и заявки с редким навыком обычно попадают в начало.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0" y="9692640"/>
            <a:ext cx="10698480" cy="265176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441680" y="9912096"/>
            <a:ext cx="978408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Базовый вариант из ТЗ идёт по заявкам в порядке файла и отдаёт каждую первому подходящему инженеру. На Востоке он использует все 12 бригад и не выполняет 21 заявку.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 2. Сокращение числа бригад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77440"/>
            <a:ext cx="2176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5E5E5E"/>
                </a:solidFill>
                <a:latin typeface="Beeline Sans"/>
              </a:rPr>
              <a:t>имитация отжига и ALNS (разрушение и восстановление части плана) в разных потоках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200400"/>
            <a:ext cx="7315200" cy="6858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algo_flee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594" y="3383280"/>
            <a:ext cx="6306747" cy="64922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1042416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046073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3 бригады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1115568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начальный план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28432" y="6620256"/>
            <a:ext cx="347472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30768" y="3200400"/>
            <a:ext cx="7315200" cy="6858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algo_flee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4994" y="3383280"/>
            <a:ext cx="6306747" cy="649223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30768" y="1042416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1046073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Убрали маршрут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5248" y="1115568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его заявки лежат в пуле, штраф за них растёт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00832" y="6620256"/>
            <a:ext cx="347472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6203167" y="3200400"/>
            <a:ext cx="7315200" cy="6858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algo_fleet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07394" y="3383280"/>
            <a:ext cx="6306747" cy="649223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203167" y="1042416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57648" y="1046073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2 бригады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757648" y="1115568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заявки разошлись по двум оставшимся маршрутам (обведены)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 3. Сокращение пробега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77440"/>
            <a:ext cx="2176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5E5E5E"/>
                </a:solidFill>
                <a:latin typeface="Beeline Sans"/>
              </a:rPr>
              <a:t>SISR (Slack Induction by String Removals) с приёмом решений по правилу отжига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200400"/>
            <a:ext cx="4846320" cy="53949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algo_sisr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685838"/>
            <a:ext cx="4297680" cy="44240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88696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9546336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маршруты пересекаются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25312" y="3200400"/>
            <a:ext cx="4846320" cy="53949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algo_sisr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1" y="3685838"/>
            <a:ext cx="4297680" cy="4424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25312" y="88696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Вырезали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9546336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по две соседние заявки из двух маршрутов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92256" y="3200400"/>
            <a:ext cx="4846320" cy="53949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algo_sisr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6576" y="3685838"/>
            <a:ext cx="4297680" cy="442408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92256" y="88696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Вставили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92256" y="9546336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пробег меньше, окна соблюдены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0" y="3200400"/>
            <a:ext cx="7040880" cy="8961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SISR (Christiaens, Vanden Berghe, 2020): удаление цепочек и вставка с пропуском позиций. Хорошо работает на задачах с окнами.</a:t>
            </a:r>
          </a:p>
          <a:p>
            <a:pPr algn="l">
              <a:spcBef>
                <a:spcPts val="2400"/>
              </a:spcBef>
            </a:pPr>
            <a:r>
              <a:rPr sz="2600" b="0" i="0">
                <a:solidFill>
                  <a:srgbClr val="141414"/>
                </a:solidFill>
                <a:latin typeface="Beeline Sans"/>
              </a:rPr>
              <a:t>Новый план принимаем по правилу отжига, иногда даже немного худший. Так поиск выходит из локальных минимумов.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10881360"/>
            <a:ext cx="15453359" cy="146304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15568" y="11100816"/>
            <a:ext cx="14538959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Пробег сокращаем, когда число бригад уже минимально.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Параллельный поиск: 8 потоков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6858000" y="4114800"/>
            <a:ext cx="0" cy="374904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858000" y="5212868"/>
            <a:ext cx="3362207" cy="2650972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0" y="7863840"/>
            <a:ext cx="4754880" cy="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7863840"/>
            <a:ext cx="3362207" cy="2650971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58000" y="7863840"/>
            <a:ext cx="0" cy="374904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495792" y="7863840"/>
            <a:ext cx="3362208" cy="2650971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103120" y="7863840"/>
            <a:ext cx="4754880" cy="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3495792" y="5212868"/>
            <a:ext cx="3362208" cy="2650972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480560" y="6858000"/>
            <a:ext cx="4754880" cy="2011680"/>
          </a:xfrm>
          <a:prstGeom prst="roundRect">
            <a:avLst>
              <a:gd name="adj" fmla="val 20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63440" y="69494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41414"/>
                </a:solidFill>
                <a:latin typeface="Beeline Sans"/>
              </a:rPr>
              <a:t>общее хранилище</a:t>
            </a:r>
          </a:p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141414"/>
                </a:solidFill>
                <a:latin typeface="Beeline Sans"/>
              </a:rPr>
              <a:t>лучшего плана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351129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86984" y="351129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2887" y="4609364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49191" y="4609364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59" y="726033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341863" y="726033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SISR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2887" y="9911307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949191" y="9911307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 со сменой бригад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40680" y="1100937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586984" y="1100937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78472" y="9911307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224776" y="9911307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799" y="726033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2103" y="726033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78472" y="4609364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224776" y="4609364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подсказка для области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0" y="31089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Отжиг, 2 потока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0" y="36576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убирает маршрут и перетасовывает заявки мелкими ходами, пока все не встанут в план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0" y="457200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ALNS, 2 потока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0" y="512064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выбрасывает часть плана и собирает заново; заявки, которые часто остаются без места, дорожают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0" y="603504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SISR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0" y="6583679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сокращает пробег, переставляя цепочки заявок между маршрутами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0" y="749808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Отжиг со сменой бригад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0" y="804672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переносит конец маршрута на свободную бригаду и убирает маленький маршрут, маршруты назначает бригадам венгерским алгоритмом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0" y="896112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0" y="950976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две бригады меняются заявками до выбранного часа (пример дальше)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0" y="104241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Подсказка для области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0" y="109728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ищет план на копии задачи, где выезд бригады из своего района дороже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0" y="11978640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A1A1A1"/>
                </a:solidFill>
                <a:latin typeface="Beeline Sans"/>
              </a:rPr>
              <a:t>*На Востоке и Югоцентре нет бригад из области, там последние два потока работают как отжиг со сменой бригад.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Как потоки обмениваются планом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38328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4128" y="338328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1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0" y="393192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480560" y="457200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0" y="341985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предложить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634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8C8C8C"/>
                </a:solidFill>
                <a:latin typeface="Beeline Sans"/>
              </a:rPr>
              <a:t>забрать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76072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576072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2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80560" y="630936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480560" y="694944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8368" y="813816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813816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3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SISR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80560" y="868680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480560" y="932688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040880" y="3383280"/>
            <a:ext cx="4206240" cy="6492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1775" y="3383280"/>
            <a:ext cx="3657600" cy="649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хранилище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лучший план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число бригад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пробег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0789920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План лежит под мьютексом, а число бригад и значение цели читаются атомарно, поэтому потоки почти не ждут друг друга. Скорость около 100 тыс. итераций разрушения и восстановления в секунду на поток.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978640" y="3200400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99264" y="3383280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07440" y="34198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Предложить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07440" y="4023360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Поток кладёт найденный план в хранилище. Хранилище принимает его, только если план допустим и строго лучше текущего.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978640" y="5522976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2399264" y="5705856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07440" y="574243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Подхватить меньший парк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07440" y="6345936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Потоки сокращения бригад следят за числом бригад в хранилище. Если кто-то нашёл план с меньшим числом, они продолжают от него.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978640" y="7845552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399264" y="8028431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807440" y="806500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Миграция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07440" y="8668512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Раз в 5% времени поток, который отстал от лучшего плана больше чем на 0,3%, забирает лучший. Потоки пробега перезапускаются, когда другой поток сократил бригаду.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978640" y="10168128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399264" y="10351008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807440" y="10387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Переход к пробегу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807440" y="10991088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Если число бригад дошло до оценки снизу по суммарной работе, дальше сокращать нечего, и все потоки переходят к километрам.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Юго-восток: бригады из области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521440" cy="70408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sw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3535188"/>
            <a:ext cx="10972800" cy="63713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10515600"/>
            <a:ext cx="115214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Обмен начал маршрутов. </a:t>
            </a:r>
            <a:r>
              <a:rPr sz="2300" b="0" i="0">
                <a:solidFill>
                  <a:srgbClr val="141414"/>
                </a:solidFill>
                <a:latin typeface="Beeline Sans"/>
              </a:rPr>
              <a:t>До выбранного часа бригады меняются заявками, после оставляют свои. Заявки, которые перестали помещаться, вставляются заново и при необходимости вытесняют до трёх других.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0" y="3200400"/>
            <a:ext cx="10881360" cy="713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Почему трудно</a:t>
            </a:r>
          </a:p>
          <a:p>
            <a:pPr algn="l">
              <a:spcBef>
                <a:spcPts val="16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Часть бригад живёт в Кашире, Ступино и Домодедово. Решения распадаются на локальные минимумы, например 11 и 12 бригад на смешанном транспорте, и мелкими ходами между ними не перейти: нужно одновременно перестроить 3–4 маршрута в разных городах.</a:t>
            </a:r>
          </a:p>
          <a:p>
            <a:pPr algn="l">
              <a:spcBef>
                <a:spcPts val="1600"/>
              </a:spcBef>
            </a:pPr>
            <a:r>
              <a:rPr sz="2800" b="1" i="0">
                <a:solidFill>
                  <a:srgbClr val="141414"/>
                </a:solidFill>
                <a:latin typeface="Beeline Sans"/>
              </a:rPr>
              <a:t>Что помогает</a:t>
            </a:r>
          </a:p>
          <a:p>
            <a:pPr algn="l">
              <a:spcBef>
                <a:spcPts val="16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Обмен начал маршрутов за один ход меняет утренние участки двух бригад, и поиск перескакивает из плохого минимума в хороший.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граница: идея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0241280" cy="6583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colum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572" y="3383280"/>
            <a:ext cx="8928295" cy="62179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задач: план выходит на доказанный минимум бригад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07407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92%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запусков: план теоретически оптимален целиком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882128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+0,06%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пробег к теоретическому минимуму в среднем за 3 секунды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316382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93040" y="3200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Задача покрытия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93040" y="3822191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Каждый допустимый маршрут одной бригады это столбец таблицы: какие заявки он покрывает и сколько стоит. Нужно выбрать столбцы так, чтобы каждая заявка вошла ровно в один. В целых числах эта задача такая же трудная, как исходная.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1813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93040" y="62179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Линейная релаксация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93040" y="6839712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Разрешаем брать маршрут частично, например на 0,5. Такое решение нельзя выполнить: полбригады не бывает. Зато его стоимость легко посчитать, и настоящий план не может быть дешевле. Это и есть нижняя граница.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919886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93040" y="9235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Что она даёт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93040" y="9857232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Если найденный план совпал с границей, он теоретически оптимален: лучшего плана в этих ограничениях не существует. Если не совпал, граница показывает, сколько максимум можно выиграть.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граница: как считаем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568" y="34747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360273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Генерация столбцов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66344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Маршрутов миллиарды, поэтому начинаем с небольшого набора и решаем задачу линейного программирования. Она даёт двойственную цену каждой заявки: на сколько км подешевело бы решение, если бы эту заявку не нужно было покрывать. Если маршрут короче суммы цен своих заявок, он покрывает их дешевле текущих маршрутов. Например, цены заявок 5, 6 и 7 км, а маршрут через них 15 км: 15 &lt; 18, маршрут добавляем.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62688" y="320040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819888" y="34747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8" y="360273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Поиск маршрута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19888" y="466344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Такой маршрут ищем динамическим программированием. Строим цепочки заявка за заявкой в порядке времени и для каждой храним время окончания, пробег и сумму цен. Цепочку, которая хуже другой по всем трём, отбрасываем. Лучший найденный маршрут добавляем в ЛП, цены пересчитываются, повторяем, пока выгодных маршрутов нет.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768096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15568" y="79552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808329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Ветвление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914400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Если в ответе ЛП остались дробные маршруты, делим задачу на две ветки (например, «эта бригада используется» и «не используется») и решаем каждую. Отсечения — дополнительные неравенства, которые запрещают дробные решения и не мешают настоящим планам.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62688" y="768096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19888" y="79552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82928" y="808329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Финальная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19888" y="914400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Перебираем все маршруты, которые по оценке ещё могут дать план лучше найденного (для Востока 12–35 тыс.), и решаем на них точную целочисленную задачу: HiGHS и CP-SAT наперегонки.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252960"/>
            <a:ext cx="2304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Beeline Sans"/>
              </a:rPr>
              <a:t>*Граница считается отдельно от оптимизатора, для работы и интеграции она не нужна.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Проверка ограничений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115568" y="369417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4288" y="36576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437083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у бригады есть навык заявки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30768" y="320040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887968" y="369417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6688" y="36576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6688" y="437083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работа начинается внутри окна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630936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115568" y="680313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67665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Смена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747979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последняя работа заканчивается до 22:00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630936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887968" y="680313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76688" y="67665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Транспорт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6688" y="747979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время и км берутся из матрицы транспорта бригады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94183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115568" y="991209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98755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Участок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1058875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заявки и бригады одного участка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0768" y="94183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887968" y="991209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76688" y="98755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Полнота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6688" y="1058875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каждая заявка назначена один раз или помечена как неназначенная с причиной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203167" y="3200400"/>
            <a:ext cx="7498079" cy="89611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6751808" y="3621024"/>
            <a:ext cx="6492240" cy="82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C800"/>
                </a:solidFill>
                <a:latin typeface="Beeline Sans"/>
              </a:rPr>
              <a:t>Независимая проверка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Модуль check_plan в продукте и validate.py в исследованиях не используют код оптимизатора и заново считают время прибытия, ожидание и пробег.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Через них прошли все цифры в презентации.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Если заявку назначить нельзя, интерфейс пишет причину, например «нет навыка „Аварии“».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Перепланирование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3493008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Выполненные и начатые заявки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206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не меняем, начатую работу не прерываем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522976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5705856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815584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Новая обычная заявка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6528816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ставим в свободный промежуток, остальной план не трогаем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7845552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97280" y="8028431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81381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8851392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можно перестроить остаток дня, начать нужно в течение 2 часов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0168128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97280" y="10351008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10460736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Отмена или недоступный инженер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11173968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свободное время отдаём неназначенным заявкам, заявки ушедшего другим бригадам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374368" y="3200400"/>
            <a:ext cx="9326880" cy="89611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923008" y="3621024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Пример: Бригада 4 недоступна с 14:00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23008" y="4572000"/>
            <a:ext cx="8412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К 14:00 выполнено или начато 29 заявок, их не трогаем. Шесть оставшихся заявок Бригады 4 переходят к другим: пять к резервной бригаде, одна к Бригаде 1.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2300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2300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неназначенных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5764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i="0">
                <a:solidFill>
                  <a:srgbClr val="141414"/>
                </a:solidFill>
                <a:latin typeface="Beeline Sans Black"/>
              </a:rPr>
              <a:t>+6,4 км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5764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пробега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9228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i="0">
                <a:solidFill>
                  <a:srgbClr val="141414"/>
                </a:solidFill>
                <a:latin typeface="Beeline Sans Black"/>
              </a:rPr>
              <a:t>7 →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9228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бригад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23008" y="10241280"/>
            <a:ext cx="8412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Изменения видны на карте и в таблице «было / стало».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03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демо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План на карте</a:t>
            </a:r>
          </a:p>
        </p:txBody>
      </p:sp>
      <p:pic>
        <p:nvPicPr>
          <p:cNvPr id="7" name="Picture 6" descr="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797"/>
            <a:ext cx="16642080" cy="978352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474024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3654552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1674144" y="507963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474024" y="11145415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Метрики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бригады, пробег, выполненные и неназначенные заявки; рядом значения базового варианта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Нижняя граница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меньше 7 бригад нельзя, это доказано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Бригады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транспорт, навыки, число заявок и км; внизу бригады в резерве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Карта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маршруты по улицам, крупные точки — аварии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Объяснение назначения</a:t>
            </a:r>
          </a:p>
        </p:txBody>
      </p:sp>
      <p:pic>
        <p:nvPicPr>
          <p:cNvPr id="7" name="Picture 6" descr="ex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797"/>
            <a:ext cx="16642080" cy="978352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11674144" y="556880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1674144" y="6742829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1674144" y="850386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5982553" y="7819017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Заявка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подключение в Кузьминках, окно 20:00–22:00, работа 70 минут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Назначение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Бригада 4 на велосипеде приедет в 19:27 и начнёт в 20:00; маршрут длиннее всего на 0,4 км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Другие бригады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Бригаде 1 это +9,6 км, пять бригад не успевают к окну, резервные — лишняя смена, у Бригады 8 нет навыка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Карта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маршрут бригады и место заявки в нём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Событие: Бригада 4 недоступна с 14:00</a:t>
            </a:r>
          </a:p>
        </p:txBody>
      </p:sp>
      <p:pic>
        <p:nvPicPr>
          <p:cNvPr id="7" name="Picture 6" descr="ev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797"/>
            <a:ext cx="16642080" cy="978352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474024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1674144" y="53731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3769156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474024" y="11145415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Событие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14:00; 29 выполненных и начатых заявок закреплены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Изменения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было и стало по каждой из 6 заявок: пять ушли резервной бригаде, одна Бригаде 1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Итог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было 7 бригад, стало 8; пробег 192,2 км, на 6,4 км больше; все заявки назначены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Карта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новые участки маршрутов, перенесённые заявки обведены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Шкала дня и сравнение с базовым вариантом</a:t>
            </a:r>
          </a:p>
        </p:txBody>
      </p:sp>
      <p:pic>
        <p:nvPicPr>
          <p:cNvPr id="7" name="Picture 6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977"/>
            <a:ext cx="16642080" cy="978316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474024" y="287850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474024" y="625370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8595360" y="625370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8595360" y="835708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Шкала 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работа, дорога и ожидание по каждой бригаде; аварии обведены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Неназначенные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у нас все заявки назначены; ниже список того, что не назначил бы базовый вариант, с причинами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Сравнение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7 бригад против 12, 185,8 км против 243,7, выполнено 66 заявок против 45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Пробег по бригадам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км каждого исполнителя, вторая метрика из ТЗ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Реальный день и наш план, Восток</a:t>
            </a:r>
          </a:p>
        </p:txBody>
      </p:sp>
      <p:pic>
        <p:nvPicPr>
          <p:cNvPr id="7" name="Picture 6" descr="map_vostok_pt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31644"/>
            <a:ext cx="11338560" cy="7835590"/>
          </a:xfrm>
          <a:prstGeom prst="roundRect">
            <a:avLst>
              <a:gd name="adj" fmla="val 3000"/>
            </a:avLst>
          </a:prstGeom>
        </p:spPr>
      </p:pic>
      <p:sp>
        <p:nvSpPr>
          <p:cNvPr id="8" name="Rounded Rectangle 7"/>
          <p:cNvSpPr/>
          <p:nvPr/>
        </p:nvSpPr>
        <p:spPr>
          <a:xfrm>
            <a:off x="658368" y="11155680"/>
            <a:ext cx="11338560" cy="118872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24128" y="1115568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Диспетчер   </a:t>
            </a:r>
            <a:r>
              <a:rPr sz="2400" b="0" i="0">
                <a:solidFill>
                  <a:srgbClr val="141414"/>
                </a:solidFill>
                <a:latin typeface="Beeline Sans"/>
              </a:rPr>
              <a:t>12 бригад, 229 км, 3 опоздания, 2 заявки без бригады (□)</a:t>
            </a:r>
          </a:p>
        </p:txBody>
      </p:sp>
      <p:pic>
        <p:nvPicPr>
          <p:cNvPr id="10" name="Picture 9" descr="map_vostok_pt_ou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2688" y="3031644"/>
            <a:ext cx="11338560" cy="7835590"/>
          </a:xfrm>
          <a:prstGeom prst="roundRect">
            <a:avLst>
              <a:gd name="adj" fmla="val 3000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12362688" y="11155680"/>
            <a:ext cx="11338560" cy="11887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728448" y="1115568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Наш план   </a:t>
            </a:r>
            <a:r>
              <a:rPr sz="2400" b="0" i="0">
                <a:solidFill>
                  <a:srgbClr val="141414"/>
                </a:solidFill>
                <a:latin typeface="Beeline Sans"/>
              </a:rPr>
              <a:t>8 бригад, 167 км, без опозданий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618720"/>
            <a:ext cx="22860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*Общественный транспорт, навыки как в реальный день. Линии соединяют заявки в порядке объезда.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Загрузка бригад по времени</a:t>
            </a:r>
          </a:p>
        </p:txBody>
      </p:sp>
      <p:pic>
        <p:nvPicPr>
          <p:cNvPr id="7" name="Picture 6" descr="gantt_vostok_mix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304581"/>
            <a:ext cx="23042879" cy="78383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11795760"/>
            <a:ext cx="621792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6304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1795760"/>
            <a:ext cx="621792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подключение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87768" y="11795760"/>
            <a:ext cx="621792" cy="402336"/>
          </a:xfrm>
          <a:prstGeom prst="rect">
            <a:avLst/>
          </a:prstGeom>
          <a:solidFill>
            <a:srgbClr val="A1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9244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ремонт и дозаказ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08407" y="11704320"/>
            <a:ext cx="1207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серая полоса — дорога, пунктир — ожидание окна. Восток, смешанный транспорт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Наш план на трёх участках</a:t>
            </a:r>
          </a:p>
        </p:txBody>
      </p:sp>
      <p:pic>
        <p:nvPicPr>
          <p:cNvPr id="7" name="Picture 6" descr="map3_vostok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658368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Восток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8 бригад вместо 12, 167 км</a:t>
            </a:r>
          </a:p>
        </p:txBody>
      </p:sp>
      <p:pic>
        <p:nvPicPr>
          <p:cNvPr id="10" name="Picture 9" descr="map3_yugocentr_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8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8430768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Югоцентр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6 бригад вместо 11, 198 км</a:t>
            </a:r>
          </a:p>
        </p:txBody>
      </p:sp>
      <p:pic>
        <p:nvPicPr>
          <p:cNvPr id="13" name="Picture 12" descr="map3_yugovostok_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862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4" name="TextBox 13"/>
          <p:cNvSpPr txBox="1"/>
          <p:nvPr/>
        </p:nvSpPr>
        <p:spPr>
          <a:xfrm>
            <a:off x="16203167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Юго-восток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03167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11 бригад вместо 12, 413 км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03167" y="125272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*На карте Юго-востока только московская часть. Три бригады стартуют из Каширы, Ступино и Домодедово.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5C13C3-1F94-10AF-8FD7-D4DCE99B2C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>
            <a:extLst>
              <a:ext uri="{FF2B5EF4-FFF2-40B4-BE49-F238E27FC236}">
                <a16:creationId xmlns:a16="http://schemas.microsoft.com/office/drawing/2014/main" id="{2D0F6E16-E2E7-C956-A9B6-63D7BCB0538D}"/>
              </a:ext>
            </a:extLst>
          </p:cNvPr>
          <p:cNvSpPr txBox="1"/>
          <p:nvPr/>
        </p:nvSpPr>
        <p:spPr>
          <a:xfrm>
            <a:off x="616227" y="-889000"/>
            <a:ext cx="14698858" cy="9828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04</a:t>
            </a:r>
            <a:endParaRPr dirty="0"/>
          </a:p>
        </p:txBody>
      </p:sp>
      <p:sp>
        <p:nvSpPr>
          <p:cNvPr id="206" name="медиа-давление и бюджет">
            <a:extLst>
              <a:ext uri="{FF2B5EF4-FFF2-40B4-BE49-F238E27FC236}">
                <a16:creationId xmlns:a16="http://schemas.microsoft.com/office/drawing/2014/main" id="{D17FC182-CFD1-F8DC-459F-9C689C3755FB}"/>
              </a:ext>
            </a:extLst>
          </p:cNvPr>
          <p:cNvSpPr txBox="1"/>
          <p:nvPr/>
        </p:nvSpPr>
        <p:spPr>
          <a:xfrm>
            <a:off x="13405764" y="5525710"/>
            <a:ext cx="10978236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результаты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Число бригад на реальном дне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3017520"/>
          <a:ext cx="15544800" cy="9418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642080" y="30175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7099280" y="32004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99280" y="47000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опозданий и невыполненных заявок в нашем плане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642080" y="62179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7099280" y="64008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10–35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0" y="79004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заявок не выполняет базовый вариант, хотя использует все бригады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642080" y="94183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7099280" y="96012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2–35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0" y="111008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опозданий в реальном плане, если считать по нормативам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Все варианты реального дня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017520"/>
          <a:ext cx="23042880" cy="80467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669280"/>
                <a:gridCol w="4754880"/>
                <a:gridCol w="3840480"/>
                <a:gridCol w="3474720"/>
                <a:gridCol w="5303520"/>
              </a:tblGrid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Участок,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Реальный день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Базовый ТЗ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Наш план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Оптимальность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229 км, 3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25 заявок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8 бр, 167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252 км, 2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19 заявок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7 бр, 190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21 заявок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7 бр, 186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228 км, 4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14 заявок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6 бр, 198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228 км, 2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10 заявок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6 бр, 164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13 заявок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6 бр, 161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367 км, 35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35 заявок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11 бр, 413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380 км, 24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29 заявок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9 бр, 436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36 заявок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11 бр, 524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1338560"/>
            <a:ext cx="23042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1A1A1"/>
                </a:solidFill>
                <a:latin typeface="Beeline Sans"/>
              </a:rPr>
              <a:t>*«Доказана»: план оптимален и по числу бригад, и по пробегу, лучшего плана в этих ограничениях нет (нижняя граница совпала с планом).</a:t>
            </a:r>
          </a:p>
          <a:p>
            <a:pPr algn="l">
              <a:spcBef>
                <a:spcPts val="600"/>
              </a:spcBef>
            </a:pPr>
            <a:r>
              <a:rPr sz="2000" b="0" i="0">
                <a:solidFill>
                  <a:srgbClr val="A1A1A1"/>
                </a:solidFill>
                <a:latin typeface="Beeline Sans"/>
              </a:rPr>
              <a:t>В ячейках: бригад, км, опоздания или невыполненные заявки. Навыки как в реальный день, смешанный транспорт задали мы.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Сравнение с OR-Tools, PyVRP и VROOM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3017520"/>
          <a:ext cx="14081760" cy="8412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5288767" y="3017520"/>
            <a:ext cx="8412480" cy="94183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5800832" y="3474720"/>
            <a:ext cx="7406640" cy="8778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C800"/>
                </a:solidFill>
                <a:latin typeface="Beeline Sans"/>
              </a:rPr>
              <a:t>Все заявки выполнены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у нас и у PyVRP в 84 задачах из 88, у VROOM в 79, у OR-Tools в 78. В 4 задачах выполнить все заявки нельзя.</a:t>
            </a:r>
          </a:p>
          <a:p>
            <a:pPr algn="l">
              <a:spcBef>
                <a:spcPts val="1800"/>
              </a:spcBef>
            </a:pPr>
            <a:r>
              <a:rPr sz="3000" b="1" i="0">
                <a:solidFill>
                  <a:srgbClr val="FFC800"/>
                </a:solidFill>
                <a:latin typeface="Beeline Sans"/>
              </a:rPr>
              <a:t>На контрольном дне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в 24 задачах PyVRP использует 198 бригад, наш оптимизатор 188 при доказанном минимуме 187.</a:t>
            </a:r>
          </a:p>
          <a:p>
            <a:pPr algn="l">
              <a:spcBef>
                <a:spcPts val="1800"/>
              </a:spcBef>
            </a:pPr>
            <a:r>
              <a:rPr sz="3000" b="1" i="0">
                <a:solidFill>
                  <a:srgbClr val="FFC800"/>
                </a:solidFill>
                <a:latin typeface="Beeline Sans"/>
              </a:rPr>
              <a:t>Почему свой оптимизатор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библиотеки учитывают число бригад как слагаемое общей стоимости. Мы сокращаем парк отдельной фазой.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Доказанная оптимальность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Контрольный день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07007" y="4572000"/>
            <a:ext cx="2962656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26464" y="4791456"/>
            <a:ext cx="2651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24/24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640080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доказан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минимум бригад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5424" y="4791456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24/24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640080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теоретически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307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79408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Реальные дни 28–29.09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408" y="4572000"/>
            <a:ext cx="2962656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98864" y="4791456"/>
            <a:ext cx="2651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40/40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640080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доказан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минимум бригад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07824" y="4791456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36/40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07824" y="640080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теоретически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203167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6751808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Сгенерированные участки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751808" y="4572000"/>
            <a:ext cx="2962656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971264" y="4791456"/>
            <a:ext cx="2651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24/24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71264" y="640080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доказан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минимум бригад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080224" y="4791456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21/24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080224" y="640080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теоретически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9418320"/>
            <a:ext cx="230428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Нижняя граница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нужна только для доказательства: она показывает, что выбранный подход близок к теоретическому пределу. Для работы оптимизатора и интеграции её считать не нужно. Граница считается 1–3 минуты, полное доказательство от минуты до часа.</a:t>
            </a:r>
          </a:p>
          <a:p>
            <a:pPr algn="l">
              <a:spcBef>
                <a:spcPts val="2000"/>
              </a:spcBef>
            </a:pPr>
            <a:r>
              <a:rPr sz="2600" b="1" i="0">
                <a:solidFill>
                  <a:srgbClr val="FFC800"/>
                </a:solidFill>
                <a:latin typeface="Beeline Sans"/>
              </a:rPr>
              <a:t>До оптимума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в 81 задаче из 88 лучший план совпал с теоретической нижней границей. В остальных 7 он достигает в среднем 99,2% теоретического оптимума по км (не меньше 96,8%), по всем 88 задачам 99,94%.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Скорость работы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3017520"/>
          <a:ext cx="13167360" cy="8321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1521440"/>
            <a:ext cx="1316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Beeline Sans"/>
              </a:rPr>
              <a:t>*24 задачи контрольного дня; 8 потоков на ноутбуке, один запуск.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447520" y="3017520"/>
            <a:ext cx="9253728" cy="2871216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904720" y="3236976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1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0" y="3383279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хватает, чтобы во всех 24 задачах выйти на доказанный минимум бригад; пробег 99,6% от теоретического минимума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447520" y="6163056"/>
            <a:ext cx="9253728" cy="287121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4904720" y="6382512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3 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240" y="6528816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на участок в продукте: все 24 плана совпадают с теоретическим оптимумом целиком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0" y="9308592"/>
            <a:ext cx="9253728" cy="287121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4904720" y="9528048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&lt; 1 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922240" y="9674352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на 1000 участков на одном ноутбуке при 3 секундах на участок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Что пробовали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017520"/>
          <a:ext cx="23042880" cy="90708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0"/>
                <a:gridCol w="8412480"/>
              </a:tblGrid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Подход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Результат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Жадные: сортировка по окну, ближайший сосед, заметание, экономия Кларка–Райта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много 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Графовые: покрытие путями, поток, венгерский по слотам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слабее; венгерский оставили для назначения 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Табу-поиск, лучевой поиск, облегчённый HGS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хуже отжига и ALNS за 1 секунду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OR-Tools, PyVRP, VROOM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в среднем на 0,5–0,7 бригады больше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Собрать план из лучших маршрутов разных запусков (точный подбор CP-SAT)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почти без выигрыша: короче лишь в 4 задачах из 30, максимум на 3,4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Подсказки по видам транспорта, план по кластерам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в среднем без выигрыша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Отжиг, ALNS, SISR в 8 параллельных потоках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используем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Эффект и ограничения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17520"/>
            <a:ext cx="731520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2004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35 →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8463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бригад в день, общественный транспорт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017520"/>
            <a:ext cx="731520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2004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35 → 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8463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бригад в день, машина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017520"/>
            <a:ext cx="731520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2004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8463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опозданий, в реальном плане их от 2 до 35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6309360"/>
            <a:ext cx="23042880" cy="128016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97280" y="6400800"/>
            <a:ext cx="223113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Теоретический оптимум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по бригадам — во всех 88 тестовых задачах, по километражу — в 81 из 88; в остальных 7 план достигает в среднем 99,2% оптимума по км.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7863840"/>
            <a:ext cx="11338560" cy="44805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7" y="813816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Ограничения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9052560"/>
            <a:ext cx="102412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экономия бригад рассчитана при смене 10:00–22:00 без перерывов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общественный транспорт по средней скорости, без расписаний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аварию ставим как можно раньше только при перепланировании (не позже 2 часов)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362688" y="7863840"/>
            <a:ext cx="11338560" cy="44805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911328" y="813816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Что дальше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11328" y="9052560"/>
            <a:ext cx="102412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стоимость бригады в км как настройка диспетчера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пробки, расписания транспорта, обеды, разные смены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планирование на несколько дней, ручное переназначение с проверкой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Технологии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Оптимизатор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C++17, свои эвристики, 8 потоков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Оценка нижней границы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Python, HiGHS, CP-SAT: генерация столбцов и точные задачи; нужна только для оценки качества плана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Дороги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OSRM в Docker, OpenStreetMap Москвы и области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07007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Тесты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модульные и сквозные (pytest): вход, расписание, проверка плана, объяснения, перепланирование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79408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Интерфейс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страница диспетчера: карта по улицам, шкала, проигрывание дня, изменения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03167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6751808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51808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на входе заявки и бригады в xlsx или CSV, на выходе plan.xlsx и plan.json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9601200"/>
            <a:ext cx="23042880" cy="274320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07008" y="9966960"/>
            <a:ext cx="21945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FFC800"/>
                </a:solidFill>
                <a:latin typeface="Beeline Sans"/>
              </a:rPr>
              <a:t>Запуск: одна команда на участок</a:t>
            </a:r>
          </a:p>
          <a:p>
            <a:pPr algn="l">
              <a:spcBef>
                <a:spcPts val="8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python -m dispatch plan "Восток заявки.xlsx" -b "Восток бригады.xlsx" -o out/Восток</a:t>
            </a:r>
          </a:p>
          <a:p>
            <a:pPr algn="l">
              <a:spcBef>
                <a:spcPts val="800"/>
              </a:spcBef>
            </a:pPr>
            <a:r>
              <a:rPr sz="2500" b="0" i="0">
                <a:solidFill>
                  <a:srgbClr val="A1A1A1"/>
                </a:solidFill>
                <a:latin typeface="Beeline Sans"/>
              </a:rPr>
              <a:t>в папке результата план, метрики, причины неназначения и объяснения; демо целиком — docker compose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1" name="спасибо">
            <a:extLst>
              <a:ext uri="{FF2B5EF4-FFF2-40B4-BE49-F238E27FC236}">
                <a16:creationId xmlns:a16="http://schemas.microsoft.com/office/drawing/2014/main" id="{956FE607-2AAF-233D-56EB-85446070CA4B}"/>
              </a:ext>
            </a:extLst>
          </p:cNvPr>
          <p:cNvSpPr txBox="1"/>
          <p:nvPr/>
        </p:nvSpPr>
        <p:spPr>
          <a:xfrm>
            <a:off x="807330" y="9998690"/>
            <a:ext cx="21578977" cy="302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algn="l">
              <a:lnSpc>
                <a:spcPct val="90000"/>
              </a:lnSpc>
              <a:defRPr sz="21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 err="1"/>
              <a:t>спасибо</a:t>
            </a:r>
            <a:endParaRPr dirty="0"/>
          </a:p>
        </p:txBody>
      </p:sp>
      <p:pic>
        <p:nvPicPr>
          <p:cNvPr id="603" name="Изображение" descr="Изображение">
            <a:extLst>
              <a:ext uri="{FF2B5EF4-FFF2-40B4-BE49-F238E27FC236}">
                <a16:creationId xmlns:a16="http://schemas.microsoft.com/office/drawing/2014/main" id="{B60C4DF0-D2EC-FCAA-6E47-DB9D6B777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30" y="971501"/>
            <a:ext cx="4779520" cy="899856"/>
          </a:xfrm>
          <a:prstGeom prst="rect">
            <a:avLst/>
          </a:prstGeom>
          <a:ln w="12700">
            <a:miter lim="400000"/>
          </a:ln>
        </p:spPr>
      </p:pic>
      <p:sp>
        <p:nvSpPr>
          <p:cNvPr id="604" name="TextBox 603"/>
          <p:cNvSpPr txBox="1"/>
          <p:nvPr/>
        </p:nvSpPr>
        <p:spPr>
          <a:xfrm>
            <a:off x="804672" y="4206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eeline Sans"/>
              </a:rPr>
              <a:t>Никита Подгузов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804672" y="5120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A1A1A1"/>
                </a:solidFill>
                <a:latin typeface="Beeline Sans"/>
              </a:rPr>
              <a:t>капитан, бекенд-разработчик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804672" y="585216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@Nikitosh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8668512" y="4206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eeline Sans"/>
              </a:rPr>
              <a:t>Ксения Шор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8668512" y="5120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A1A1A1"/>
                </a:solidFill>
                <a:latin typeface="Beeline Sans"/>
              </a:rPr>
              <a:t>дизайнер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8668512" y="585216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@KseniiaShor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804672" y="246888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FFC800"/>
                </a:solidFill>
                <a:latin typeface="Beeline Sans Black"/>
              </a:rPr>
              <a:t>Команда Trdelnik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1_BasicWhite">
  <a:themeElements>
    <a:clrScheme name="beetech">
      <a:dk1>
        <a:srgbClr val="1E1E1E"/>
      </a:dk1>
      <a:lt1>
        <a:srgbClr val="FFFFFF"/>
      </a:lt1>
      <a:dk2>
        <a:srgbClr val="141414"/>
      </a:dk2>
      <a:lt2>
        <a:srgbClr val="F8F8F8"/>
      </a:lt2>
      <a:accent1>
        <a:srgbClr val="FFC800"/>
      </a:accent1>
      <a:accent2>
        <a:srgbClr val="F59B19"/>
      </a:accent2>
      <a:accent3>
        <a:srgbClr val="F47300"/>
      </a:accent3>
      <a:accent4>
        <a:srgbClr val="00C2AB"/>
      </a:accent4>
      <a:accent5>
        <a:srgbClr val="EC008C"/>
      </a:accent5>
      <a:accent6>
        <a:srgbClr val="6332C8"/>
      </a:accent6>
      <a:hlink>
        <a:srgbClr val="F07300"/>
      </a:hlink>
      <a:folHlink>
        <a:srgbClr val="E5093B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6DC749F4E63E2499755345AD71F676C" ma:contentTypeVersion="1" ma:contentTypeDescription="Создание документа." ma:contentTypeScope="" ma:versionID="befad51a7d1e2057edc29d085254fa4b">
  <xsd:schema xmlns:xsd="http://www.w3.org/2001/XMLSchema" xmlns:xs="http://www.w3.org/2001/XMLSchema" xmlns:p="http://schemas.microsoft.com/office/2006/metadata/properties" xmlns:ns2="b0d1da1b-b766-4d02-a7fe-ca5e63ac8b47" targetNamespace="http://schemas.microsoft.com/office/2006/metadata/properties" ma:root="true" ma:fieldsID="60ff9718db658d84870affcbadea4cab" ns2:_="">
    <xsd:import namespace="b0d1da1b-b766-4d02-a7fe-ca5e63ac8b47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d1da1b-b766-4d02-a7fe-ca5e63ac8b4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A770616-B9A9-4136-8EF0-5FD8000A08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d1da1b-b766-4d02-a7fe-ca5e63ac8b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AF782C7-19C9-468F-A881-26AE90F9BC1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D8C896-CF3A-4CE8-9C0B-CB9A407D0537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1781</Words>
  <Application>Microsoft Macintosh PowerPoint</Application>
  <PresentationFormat>Произвольный</PresentationFormat>
  <Paragraphs>172</Paragraphs>
  <Slides>23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30" baseType="lpstr">
      <vt:lpstr>Arial</vt:lpstr>
      <vt:lpstr>Beeline Sans</vt:lpstr>
      <vt:lpstr>Beeline Sans Black</vt:lpstr>
      <vt:lpstr>Beeline Sans Medium</vt:lpstr>
      <vt:lpstr>Helvetica Neue</vt:lpstr>
      <vt:lpstr>Helvetica Neue Medium</vt:lpstr>
      <vt:lpstr>21_BasicWhite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Миллер Марина Игоревна</cp:lastModifiedBy>
  <cp:revision>20</cp:revision>
  <dcterms:modified xsi:type="dcterms:W3CDTF">2026-05-12T07:54:46Z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0x010100C6DC749F4E63E2499755345AD71F676C</vt:lpwstr>
  </property>
</Properties>
</file>