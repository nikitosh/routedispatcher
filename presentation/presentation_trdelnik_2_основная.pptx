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media/image2.tif" ContentType="image/tif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8"/>
  </p:notesMasterIdLst>
  <p:sldIdLst>
    <p:sldId id="303" r:id="rId33"/>
    <p:sldId id="304" r:id="rId34"/>
    <p:sldId id="305" r:id="rId35"/>
    <p:sldId id="306" r:id="rId36"/>
    <p:sldId id="307" r:id="rId37"/>
    <p:sldId id="308" r:id="rId38"/>
    <p:sldId id="309" r:id="rId39"/>
    <p:sldId id="310" r:id="rId40"/>
    <p:sldId id="311" r:id="rId41"/>
    <p:sldId id="312" r:id="rId42"/>
    <p:sldId id="313" r:id="rId43"/>
    <p:sldId id="314" r:id="rId44"/>
    <p:sldId id="315" r:id="rId45"/>
    <p:sldId id="316" r:id="rId46"/>
    <p:sldId id="317" r:id="rId47"/>
    <p:sldId id="318" r:id="rId48"/>
    <p:sldId id="319" r:id="rId49"/>
    <p:sldId id="320" r:id="rId50"/>
    <p:sldId id="321" r:id="rId51"/>
    <p:sldId id="322" r:id="rId52"/>
    <p:sldId id="323" r:id="rId53"/>
    <p:sldId id="324" r:id="rId54"/>
    <p:sldId id="325" r:id="rId55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B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26"/>
  </p:normalViewPr>
  <p:slideViewPr>
    <p:cSldViewPr snapToGrid="0">
      <p:cViewPr varScale="1">
        <p:scale>
          <a:sx n="58" d="100"/>
          <a:sy n="58" d="100"/>
        </p:scale>
        <p:origin x="-1568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Реальный день</c:v>
                </c:pt>
              </c:strCache>
            </c:strRef>
          </c:tx>
          <c:spPr>
            <a:solidFill>
              <a:srgbClr val="A1A1A1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Базовый вариант ТЗ</c:v>
                </c:pt>
              </c:strCache>
            </c:strRef>
          </c:tx>
          <c:spPr>
            <a:solidFill>
              <a:srgbClr val="141414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11</c:v>
                </c:pt>
                <c:pt idx="5">
                  <c:v>9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Бригад в среднем</c:v>
                </c:pt>
              </c:strCache>
            </c:strRef>
          </c:tx>
          <c:spPr>
            <a:solidFill>
              <a:srgbClr val="A1A1A1"/>
            </a:solidFill>
          </c:spPr>
          <c:dPt>
            <c:idx val="4"/>
            <c:spPr>
              <a:solidFill>
                <a:srgbClr val="FFC800"/>
              </a:solidFill>
            </c:spPr>
          </c:dPt>
          <c:dPt>
            <c:idx val="0"/>
            <c:spPr>
              <a:solidFill>
                <a:srgbClr val="141414"/>
              </a:solidFill>
            </c:spPr>
          </c:dPt>
          <c:dLbls>
            <c:numFmt formatCode="0.00" sourceLinked="0"/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Базовый ТЗ</c:v>
                </c:pt>
                <c:pt idx="1">
                  <c:v>OR-Tools</c:v>
                </c:pt>
                <c:pt idx="2">
                  <c:v>VROOM</c:v>
                </c:pt>
                <c:pt idx="3">
                  <c:v>PyVRP</c:v>
                </c:pt>
                <c:pt idx="4">
                  <c:v>Наш оптимизатор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11.6</c:v>
                </c:pt>
                <c:pt idx="1">
                  <c:v>8.4</c:v>
                </c:pt>
                <c:pt idx="2">
                  <c:v>8.23</c:v>
                </c:pt>
                <c:pt idx="3">
                  <c:v>8.2</c:v>
                </c:pt>
                <c:pt idx="4">
                  <c:v>7.13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19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4" name="Shape 19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13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1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Авокадо и лаймы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2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7690" y="1106137"/>
            <a:ext cx="21968621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Уровень текста 1…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6500" y="11609909"/>
            <a:ext cx="21971000" cy="111695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2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 (вариант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Тарелка с рублеными котлетами из лосося, салатом и хумусом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3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r>
              <a:t>Заголовок слайда</a:t>
            </a:r>
          </a:p>
        </p:txBody>
      </p:sp>
      <p:sp>
        <p:nvSpPr>
          <p:cNvPr id="3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4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1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62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6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Заголовок раздела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Заголовок раздела</a:t>
            </a:r>
          </a:p>
        </p:txBody>
      </p:sp>
      <p:sp>
        <p:nvSpPr>
          <p:cNvPr id="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51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8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Заголовок повестки дня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Заголовок повестки дня</a:t>
            </a:r>
          </a:p>
        </p:txBody>
      </p:sp>
      <p:sp>
        <p:nvSpPr>
          <p:cNvPr id="8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повестки дня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99"/>
            </a:lvl1pPr>
          </a:lstStyle>
          <a:p>
            <a:r>
              <a:t>Темы повестки дня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Информационное сообщ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Информационное сообщение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Важный фа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5"/>
            <a:ext cx="21971000" cy="7241587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Информация о факте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Информация о факте</a:t>
            </a:r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430023" y="10675453"/>
            <a:ext cx="2020005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Авторство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6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753923" y="4939860"/>
            <a:ext cx="20876154" cy="3836282"/>
          </a:xfrm>
          <a:prstGeom prst="rect">
            <a:avLst/>
          </a:prstGeom>
        </p:spPr>
        <p:txBody>
          <a:bodyPr numCol="1" spcCol="38100"/>
          <a:lstStyle>
            <a:lvl1pPr marL="300875" indent="-131851">
              <a:spcBef>
                <a:spcPts val="0"/>
              </a:spcBef>
              <a:buSzTx/>
              <a:buNone/>
              <a:defRPr sz="8500" spc="-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«Важная цитата»</a:t>
            </a:r>
          </a:p>
        </p:txBody>
      </p:sp>
      <p:sp>
        <p:nvSpPr>
          <p:cNvPr id="11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Миска салата с жареным рисом, варёными яйцами и палочками для еды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5" name="Тарелка с рублеными котлетами из лосося, салатом и хумусом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6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миска салата с жареным рисом, варёными яйцами и палочками для еды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3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Author and Date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0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51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Presentation Subtitle</a:t>
            </a:r>
          </a:p>
        </p:txBody>
      </p:sp>
      <p:sp>
        <p:nvSpPr>
          <p:cNvPr id="15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0346" y="712670"/>
            <a:ext cx="575067" cy="574669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 0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3877" y="672502"/>
            <a:ext cx="21031202" cy="1387311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0" y="0"/>
            <a:ext cx="2542" cy="2542"/>
          </a:xfrm>
          <a:prstGeom prst="rect">
            <a:avLst/>
          </a:prstGeom>
        </p:spPr>
        <p:txBody>
          <a:bodyPr lIns="91437" tIns="91437" rIns="91437" bIns="91437" numCol="1" spcCol="38100"/>
          <a:lstStyle>
            <a:lvl1pPr marL="457187" indent="-457187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1pPr>
            <a:lvl2pPr marL="990575" indent="-533384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2pPr>
            <a:lvl3pPr marL="1554440" indent="-640063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3pPr>
            <a:lvl4pPr marL="2082747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4pPr>
            <a:lvl5pPr marL="2539936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78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661006" cy="678176"/>
          </a:xfrm>
          <a:prstGeom prst="rect">
            <a:avLst/>
          </a:prstGeom>
        </p:spPr>
        <p:txBody>
          <a:bodyPr lIns="91437" tIns="91437" rIns="91437" bIns="91437" anchor="t"/>
          <a:lstStyle>
            <a:lvl1pPr algn="l" defTabSz="1828754">
              <a:defRPr sz="36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Слайд без лига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152001" y="648130"/>
            <a:ext cx="19972510" cy="960010"/>
          </a:xfrm>
          <a:prstGeom prst="rect">
            <a:avLst/>
          </a:prstGeom>
        </p:spPr>
        <p:txBody>
          <a:bodyPr lIns="91437" tIns="91437" rIns="91437" bIns="91437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Заголовок слайда</a:t>
            </a:r>
          </a:p>
        </p:txBody>
      </p:sp>
      <p:pic>
        <p:nvPicPr>
          <p:cNvPr id="186" name="Рисунок 4" descr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7750" y="807259"/>
            <a:ext cx="641745" cy="641745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754">
              <a:defRPr sz="24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numCol="2" spcCol="1098550">
            <a:normAutofit/>
          </a:bodyPr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rPr dirty="0" err="1"/>
              <a:t>Текст</a:t>
            </a:r>
            <a:r>
              <a:rPr dirty="0"/>
              <a:t> </a:t>
            </a:r>
            <a:r>
              <a:rPr dirty="0" err="1"/>
              <a:t>заголовка</a:t>
            </a:r>
            <a:endParaRPr dirty="0"/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ransition spd="med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/Relationships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01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задача</a:t>
            </a:r>
            <a:br>
              <a:rPr lang="ru-RU" dirty="0"/>
            </a:br>
            <a:r>
              <a:rPr lang="ru-RU" dirty="0"/>
              <a:t>и данные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Дано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три участка: Восток, Юго-восток, Югоцентр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205 заявок на один день: аварии, подключения, ремонт, дозаказ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в реальный день их выполняли 35 бригад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у заявки есть окно начала работ, у бригады навыки и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у бригады есть нужный навык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работа начинается внутри окна, приехать раньше можно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смена до 22:00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время в пути зависит от транспорта</a:t>
            </a:r>
          </a:p>
          <a:p>
            <a:pPr algn="l" marL="438912" indent="-438912">
              <a:spcBef>
                <a:spcPts val="2000"/>
              </a:spcBef>
              <a:buClr>
                <a:srgbClr val="141414"/>
              </a:buClr>
              <a:buFont typeface="Beeline Sans"/>
              <a:buChar char="—"/>
            </a:pPr>
            <a:r>
              <a:rPr sz="2700" b="0" i="0">
                <a:solidFill>
                  <a:srgbClr val="141414"/>
                </a:solidFill>
                <a:latin typeface="Beeline Sans"/>
              </a:rPr>
              <a:t>бригада работает только на своём участке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200400"/>
            <a:ext cx="7498079" cy="9144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62102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Порядок целей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70001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6560" y="4809744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Выполнить все заявки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96560" y="550468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если все не помещаются, первыми назначаем аварии, затем подключения, затем ремонт и дозаказ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51808" y="71323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96560" y="7242048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бригад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96560" y="7936992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каждая бригада означает смену инженера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1808" y="9564624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0" y="9674352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километров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96560" y="10369296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при одинаковом числе бригад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Исходные данные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2304288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108960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7" y="3438144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заявок в трёх CSV-файлах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206240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кодировка CP1251, адрес офиса в последней строке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7088" y="5266944"/>
            <a:ext cx="20665439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395728" y="5266944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7" y="559612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адресов переведены в координаты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7" y="6364224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Nominatim, результат сохранён в репозитории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5808" y="7424927"/>
            <a:ext cx="1828800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84448" y="7424927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7754111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матрицы времени и расстояний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8522207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машина, пешком, велосипед, общественный транспорт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9582912"/>
            <a:ext cx="15910559" cy="1920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773168" y="9582912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9912096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тестовых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7" y="10680192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24 на контрольный день (3 участка, 4 варианта транспорта, 2 варианта навыков), 40 на реальные дни 28–29.09, 24 на сгенерированных участках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*Контрольный день — синтетические файлы организаторов, реальные дни — выгрузки за 28–29.09, сгенерированные участки — адреса из OpenStreetMap.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Расстояния и время в пути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Геокодинг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Nominatim, 205 адресов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73952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OSRM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свой сервер в Docker на карте Москвы и юга области, профили для машины, пешехода и велосипеда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54496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2289536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289536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89536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Поправка к OSRM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89536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время машины умножаем на 1,3: среднее отношение Яндекс Карт к OSRM по выборке пар адресов. К каждой заявке добавляем время на поиск дома и парковку: 5 мин на машине, 3 мин для остальных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070080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8105120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105120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05120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Общественный транспорт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05120" y="70408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до 1,5 км пешком, дальше 12 минут на подход и ожидание и 20 км/ч, после 25 км 45 км/ч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7885664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" y="10881360"/>
            <a:ext cx="23042880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15568" y="11100816"/>
            <a:ext cx="221284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Для каждого вида транспорта строим матрицы времени и расстояния между всеми точками участка. Их получает оптимизатор.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Архитектура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0704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заявки участка (xlsx или CSV)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бригады: навыки, транспорт, старт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нормативы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4336" y="5943600"/>
            <a:ext cx="347471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58383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760720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Подготовка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координаты адресов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матрицы OSRM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задача для оптимизатора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74351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58400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60736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Оптимизатор C++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0736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8 потоков, 3 секунды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выполняет все заявки минимальным числом бригад с минимальным пробегом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поиск теоретического минимума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374367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4758415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5160751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Валидация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60751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независимая проверка check_plan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все ограничения ТЗ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время и км считает заново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074383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458431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860768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60768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карта и шкала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объяснение назначений</a:t>
            </a:r>
          </a:p>
          <a:p>
            <a:pPr algn="l" marL="438912" indent="-438912">
              <a:spcBef>
                <a:spcPts val="1200"/>
              </a:spcBef>
              <a:buClr>
                <a:srgbClr val="141414"/>
              </a:buClr>
              <a:buFont typeface="Beeline Sans"/>
              <a:buChar char="—"/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сравнение с базовым вариантом, экспорт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9326880"/>
            <a:ext cx="2304288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9326880"/>
            <a:ext cx="603504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События в течение дня</a:t>
            </a:r>
          </a:p>
          <a:p>
            <a:pPr algn="l">
              <a:spcBef>
                <a:spcPts val="12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срочная заявка, отмена, недоступный инженер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10826496"/>
            <a:ext cx="1280160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0" y="9326880"/>
            <a:ext cx="1408176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При событии оптимизатор запускается заново от текущего состояния. Выполненные и начатые заявки закреплены, остальное пересчитывается по правилам перепланирования. Изменения видны на карте и в таблице.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02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алгоритм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Алгоритм по шагам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70432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70432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170432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Начальный 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сначала ставим заявки с наибольшей упущенной выгодой: второй вариант вставки у них намного хуже лучшего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3952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86016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86016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986016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Сокращение бригад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имитация отжига и ALNS (Adaptive Large Neighborhood Search): убираем маршрут и распределяем его заявки по остальным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289536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80160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801600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0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Сокращение пробега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0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SISR (Slack Induction by String Removals): вырезаем цепочки заявок и вставляем дешевле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105120" y="3200400"/>
            <a:ext cx="539496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8617184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8617184" y="5394960"/>
            <a:ext cx="4370832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8617184" y="5669280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617184" y="6620256"/>
            <a:ext cx="44805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метод генерации столбцов показывает, меньше какого числа бригад и км сделать теоретически невозможно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10241280"/>
            <a:ext cx="23042880" cy="2103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115568" y="10460736"/>
            <a:ext cx="22128480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Шаги 1–3 </a:t>
            </a:r>
            <a:r>
              <a:rPr sz="2500" b="0" i="0">
                <a:solidFill>
                  <a:srgbClr val="FFFFFF"/>
                </a:solidFill>
                <a:latin typeface="Beeline Sans"/>
              </a:rPr>
              <a:t>выполняют 8 потоков одновременно, они обмениваются лучшим решением. На участок уходит 3 секунды. Шаг 4 для работы оптимизатора не нужен: его считаем отдельно, чтобы оценить, насколько план близок к теоретически лучшему.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1. Начальный план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70432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reg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394" y="3474720"/>
            <a:ext cx="10474266" cy="8595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0" y="3291840"/>
            <a:ext cx="10698480" cy="6035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41414"/>
                </a:solidFill>
                <a:latin typeface="Beeline Sans"/>
              </a:rPr>
              <a:t>Для каждой заявки ищем лучшее место в каждом маршруте и считаем, сколько километров добавит вставка. Если бригада не успевает в окно, вариант не подходит.</a:t>
            </a:r>
          </a:p>
          <a:p>
            <a:pPr algn="l">
              <a:spcBef>
                <a:spcPts val="28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Упущенная выгода</a:t>
            </a:r>
            <a:r>
              <a:rPr sz="2800" b="0" i="0">
                <a:solidFill>
                  <a:srgbClr val="141414"/>
                </a:solidFill>
                <a:latin typeface="Beeline Sans"/>
              </a:rPr>
              <a:t> — насколько второй по стоимости вариант хуже лучшего. Если она большая, удобное место у заявки одно, и его легко потерять.</a:t>
            </a:r>
          </a:p>
          <a:p>
            <a:pPr algn="l">
              <a:spcBef>
                <a:spcPts val="2800"/>
              </a:spcBef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Первой ставим заявку с наибольшей упущенной выгодой, пересчитываем и повторяем. Аварии и заявки с редким навыком обычно попадают в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0" y="9692640"/>
            <a:ext cx="10698480" cy="265176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441680" y="9912096"/>
            <a:ext cx="978408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Базовый вариант из ТЗ идёт по заявкам в порядке файла и отдаёт каждую первому подходящему инженеру. На Востоке он использует все 12 бригад и не выполняет 21 заявку.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2. Сокращение числа бригад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176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5E5E5E"/>
                </a:solidFill>
                <a:latin typeface="Beeline Sans"/>
              </a:rPr>
              <a:t>имитация отжига и ALNS (разрушение и восстановление части плана) в разных потоках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lgo_fle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94" y="3383280"/>
            <a:ext cx="6306747" cy="6492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3 бригады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28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начальный план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28432" y="6620256"/>
            <a:ext cx="347472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30768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algo_fleet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4994" y="3383280"/>
            <a:ext cx="6306747" cy="64922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8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Убрали маршрут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52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его заявки лежат в пуле, штраф за них растёт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00832" y="6620256"/>
            <a:ext cx="347472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6203167" y="3200400"/>
            <a:ext cx="7315200" cy="6858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algo_fleet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07394" y="3383280"/>
            <a:ext cx="6306747" cy="649223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203167" y="1042416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57648" y="1046073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2 бригады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757648" y="1115568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заявки разошлись по двум оставшимся маршрутам (обведены)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3. Сокращение пробега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176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5E5E5E"/>
                </a:solidFill>
                <a:latin typeface="Beeline Sans"/>
              </a:rPr>
              <a:t>SISR (Slack Induction by String Removals) с приёмом решений по правилу отжига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lgo_sis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3685838"/>
            <a:ext cx="4297680" cy="44240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Было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маршруты пересекаются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25312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algo_sisr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1" y="3685838"/>
            <a:ext cx="4297680" cy="4424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25312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Вырезали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по две соседние заявки из двух маршрутов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92256" y="3200400"/>
            <a:ext cx="4846320" cy="53949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algo_sisr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6576" y="3685838"/>
            <a:ext cx="4297680" cy="442408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92256" y="886968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Вставили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92256" y="9546336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пробег меньше, окна соблюдены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0" y="3200400"/>
            <a:ext cx="7040880" cy="8961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SISR (Christiaens, Vanden Berghe, 2020): удаление цепочек и вставка с пропуском позиций. Хорошо работает на задачах с окнами.</a:t>
            </a:r>
          </a:p>
          <a:p>
            <a:pPr algn="l">
              <a:spcBef>
                <a:spcPts val="2400"/>
              </a:spcBef>
            </a:pPr>
            <a:r>
              <a:rPr sz="2600" b="0" i="0">
                <a:solidFill>
                  <a:srgbClr val="141414"/>
                </a:solidFill>
                <a:latin typeface="Beeline Sans"/>
              </a:rPr>
              <a:t>Новый план принимаем по правилу отжига, иногда даже немного худший. Так поиск выходит из локальных минимумов.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10881360"/>
            <a:ext cx="15453359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11100816"/>
            <a:ext cx="14538959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Пробег сокращаем, когда число бригад уже минимально.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Параллельный поиск: 8 потоков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858000" y="411480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858000" y="5212868"/>
            <a:ext cx="3362207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7863840"/>
            <a:ext cx="3362207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58000" y="786384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495792" y="7863840"/>
            <a:ext cx="3362208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495792" y="5212868"/>
            <a:ext cx="3362208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480560" y="6858000"/>
            <a:ext cx="4754880" cy="20116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69494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41414"/>
                </a:solidFill>
                <a:latin typeface="Beeline Sans"/>
              </a:rPr>
              <a:t>общее хранилище</a:t>
            </a:r>
          </a:p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141414"/>
                </a:solidFill>
                <a:latin typeface="Beeline Sans"/>
              </a:rPr>
              <a:t>лучшего плана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351129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86984" y="351129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2887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49191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5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34186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2887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949191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1100937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586984" y="1100937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78472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224776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79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210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78472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24776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подсказка для области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31089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Отжиг, 2 потока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0" y="36576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убирает маршрут и перетасовывает заявки мелкими ходами, пока все не встанут в план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0" y="457200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ALNS, 2 потока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0" y="512064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выбрасывает часть плана и собирает заново; заявки, которые часто остаются без места, дорожают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0" y="603504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SISR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0" y="6583679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сокращает пробег, переставляя цепочки заявок между маршрутами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0" y="74980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0" y="804672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переносит конец маршрута на свободную бригаду и убирает маленький маршрут, маршруты назначает бригадам венгерским алгоритмом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0" y="896112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0" y="950976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две бригады меняются заявками до выбранного часа (пример дальше)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0" y="104241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Подсказка для области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0" y="109728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ищет план на копии задачи, где выезд бригады из своего района дороже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0" y="1197864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A1A1A1"/>
                </a:solidFill>
                <a:latin typeface="Beeline Sans"/>
              </a:rPr>
              <a:t>*На Востоке и Югоцентре нет бригад из области, там последние два потока работают как отжиг со сменой бригад.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Как потоки обмениваются планом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8328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338328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1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0" y="393192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480560" y="457200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0" y="341985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8C8C8C"/>
                </a:solidFill>
                <a:latin typeface="Beeline Sans"/>
              </a:rPr>
              <a:t>забрать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6072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576072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2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630936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480560" y="694944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813816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813816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3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80560" y="868680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480560" y="932688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040880" y="3383280"/>
            <a:ext cx="420624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1775" y="3383280"/>
            <a:ext cx="3657600" cy="649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хранилище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лучший план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число бригад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пробег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078992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План лежит под мьютексом, а число бригад и значение цели читаются атомарно, поэтому потоки почти не ждут друг друга. Скорость около 100 тыс. итераций разрушения и восстановления в секунду на поток.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978640" y="3200400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4" y="3383280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0" y="34198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07440" y="402336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 кладёт найденный план в хранилище. Хранилище принимает его, только если план допустим и строго лучше текущего.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78640" y="5522976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2399264" y="5705856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07440" y="574243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Подхватить меньший парк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0" y="6345936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Потоки сокращения бригад следят за числом бригад в хранилище. Если кто-то нашёл план с меньшим числом, они продолжают от него.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978640" y="7845552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399264" y="8028431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807440" y="806500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Миграция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07440" y="8668512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Раз в 5% времени поток, который отстал от лучшего плана больше чем на 0,3%, забирает лучший. Потоки пробега перезапускаются, когда другой поток сократил бригаду.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978640" y="10168128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399264" y="10351008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807440" y="10387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Переход к пробегу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807440" y="10991088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Если число бригад дошло до оценки снизу по суммарной работе, дальше сокращать нечего, и все потоки переходят к километрам.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Юго-восток: бригады из области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521440" cy="70408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sw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3535188"/>
            <a:ext cx="10972800" cy="63713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10515600"/>
            <a:ext cx="11521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Обмен начал маршрутов. </a:t>
            </a:r>
            <a:r>
              <a:rPr sz="2300" b="0" i="0">
                <a:solidFill>
                  <a:srgbClr val="141414"/>
                </a:solidFill>
                <a:latin typeface="Beeline Sans"/>
              </a:rPr>
              <a:t>До выбранного часа бригады меняются заявками, после оставляют свои. Заявки, которые перестали помещаться, вставляются заново и при необходимости вытесняют до трёх других.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0" y="3200400"/>
            <a:ext cx="10881360" cy="713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Почему трудно</a:t>
            </a:r>
          </a:p>
          <a:p>
            <a:pPr algn="l">
              <a:spcBef>
                <a:spcPts val="16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Часть бригад живёт в Кашире, Ступино и Домодедово. Решения распадаются на локальные минимумы, например 11 и 12 бригад на смешанном транспорте, и мелкими ходами между ними не перейти: нужно одновременно перестроить 3–4 маршрута в разных городах.</a:t>
            </a:r>
          </a:p>
          <a:p>
            <a:pPr algn="l">
              <a:spcBef>
                <a:spcPts val="16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Что помогает</a:t>
            </a:r>
          </a:p>
          <a:p>
            <a:pPr algn="l">
              <a:spcBef>
                <a:spcPts val="16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Обмен начал маршрутов за один ход меняет утренние участки двух бригад, и поиск перескакивает из плохого минимума в хороший.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идея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0241280" cy="6583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colum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572" y="3383280"/>
            <a:ext cx="8928295" cy="6217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задач: план выходит на доказанный минимум бригад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07407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61%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запусков: план теоретически оптимален целиком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8212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+1,4%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пробег к теоретическому минимуму в среднем за 3 секунды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316382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9304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Задача покрытия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0" y="3822191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Каждый допустимый маршрут одной бригады это столбец таблицы: какие заявки он покрывает и сколько стоит. Нужно выбрать столбцы так, чтобы каждая заявка вошла ровно в один. В целых числах эта задача такая же трудная, как исходная.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1813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93040" y="62179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Линейная релаксация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93040" y="683971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Разрешаем брать маршрут частично, например на 0,5. Такое решение нельзя выполнить: полбригады не бывает. Зато его стоимость легко посчитать, и настоящий план не может быть дешевле. Это и есть нижняя граница.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919886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0" y="9235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Что она даёт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0" y="985723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Если найденный план совпал с границей, он теоретически оптимален: лучшего плана в этих ограничениях не существует. Если не совпал, граница показывает, сколько максимум можно выиграть.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как считаем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Генерация столбцов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Маршрутов миллиарды, поэтому начинаем с небольшого набора и решаем задачу линейного программирования. Она даёт двойственную цену каждой заявки: на сколько км подешевело бы решение, если бы эту заявку не нужно было покрывать. Если маршрут короче суммы цен своих заявок, он покрывает их дешевле текущих маршрутов. Например, цены заявок 5, 6 и 7 км, а маршрут через них 15 км: 15 &lt; 18, маршрут добавляем.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6268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81988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Поиск маршрута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988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Такой маршрут ищем динамическим программированием. Строим цепочки заявка за заявкой в порядке времени и для каждой храним время окончания, пробег и сумму цен. Цепочку, которая хуже другой по всем трём, отбрасываем. Лучший найденный маршрут добавляем в ЛП, цены пересчитываются, повторяем, пока выгодных маршрутов нет.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1556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Ветвление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Если в ответе ЛП остались дробные маршруты, делим задачу на две ветки (например, «эта бригада используется» и «не используется») и решаем каждую. Отсечения — дополнительные неравенства, которые запрещают дробные решения и не мешают настоящим планам.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6268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1988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8292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Финальная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1988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Перебираем все маршруты, которые по оценке ещё могут дать план лучше найденного (для Востока 12–35 тыс.), и решаем на них точную целочисленную задачу.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*Граница считается отдельно от оптимизатора, для работы и интеграции она не нужна.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Проверка ограничений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1155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42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у бригады есть навык заявки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307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8879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66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работа начинается внутри окна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155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Смена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последняя работа заканчивается до 22:00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8879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66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Транспорт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время и км берутся из матрицы транспорта бригады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1155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Участок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заявки и бригады одного участка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8879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66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Полнота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каждая заявка назначена один раз или помечена как неназначенная с причиной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203167" y="3200400"/>
            <a:ext cx="7498079" cy="8961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6751808" y="3621024"/>
            <a:ext cx="6492240" cy="82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C800"/>
                </a:solidFill>
                <a:latin typeface="Beeline Sans"/>
              </a:rPr>
              <a:t>Независимая проверка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Модуль check_plan в продукте и validate.py в исследованиях не используют код оптимизатора и заново считают время прибытия, ожидание и пробег.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Через них прошли все цифры в презентации.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Если заявку назначить нельзя, интерфейс пишет причину, например «нет навыка „Аварии“».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Перепланирование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493008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Выполненные и начатые заявки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206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не меняем, начатую работу не прерываем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522976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5705856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815584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Новая обычная 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652881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ставим в свободный промежуток, остальной план не трогаем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845552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8028431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81381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8851392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можно перестроить остаток дня, начать нужно в течение 2 часов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0168128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1035100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046073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Отмена или недоступный инженер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11173968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свободное время отдаём неназначенным заявкам, заявки ушедшего другим бригадам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374368" y="3200400"/>
            <a:ext cx="9326880" cy="89611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923008" y="3621024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Пример: Бригада 4 недоступна с 14:00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23008" y="4572000"/>
            <a:ext cx="8412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К 14:00 выполнено или начато 29 заявок, их не трогаем. Шесть оставшихся заявок Бригады 4 переходят к другим: пять к резервной бригаде, одна к Бригаде 1.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2300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2300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неназначенных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5764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+6,4 км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5764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пробега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9228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0" i="0">
                <a:solidFill>
                  <a:srgbClr val="141414"/>
                </a:solidFill>
                <a:latin typeface="Beeline Sans Black"/>
              </a:rPr>
              <a:t>7 →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9228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23008" y="10241280"/>
            <a:ext cx="8412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Изменения видны на карте и в таблице «было / стало».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03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демо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План на карте</a:t>
            </a:r>
          </a:p>
        </p:txBody>
      </p:sp>
      <p:pic>
        <p:nvPicPr>
          <p:cNvPr id="7" name="Picture 6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3654552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1674144" y="507963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474024" y="11145415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Метрики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бригады, пробег, выполненные и неназначенные заявки; рядом значения базового варианта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меньше 7 бригад нельзя, это доказано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Бригады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транспорт, навыки, число заявок и км; внизу бригады в резерве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маршруты по улицам, крупные точки — аварии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Объяснение назначения</a:t>
            </a:r>
          </a:p>
        </p:txBody>
      </p:sp>
      <p:pic>
        <p:nvPicPr>
          <p:cNvPr id="7" name="Picture 6" descr="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11674144" y="556880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1674144" y="6742829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1674144" y="850386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5982553" y="7819017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подключение в Кузьминках, окно 20:00–22:00, работа 70 минут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Назначение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Бригада 4 на велосипеде приедет в 19:27 и начнёт в 20:00; маршрут длиннее всего на 0,4 км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Другие бригады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Бригаде 1 это +9,6 км, пять бригад не успевают к окну, резервные — лишняя смена, у Бригады 8 нет навыка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 бригады и место заявки в нём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Событие: Бригада 4 недоступна с 14:00</a:t>
            </a:r>
          </a:p>
        </p:txBody>
      </p:sp>
      <p:pic>
        <p:nvPicPr>
          <p:cNvPr id="7" name="Picture 6" descr="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797"/>
            <a:ext cx="16642080" cy="978352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1674144" y="53731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3769156" y="361210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474024" y="11145415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Событие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14:00; 29 выполненных и начатых заявок закреплены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Изменения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было и стало по каждой из 6 заявок: пять ушли резервной бригаде, одна Бригаде 1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Итог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было 7 бригад, стало 8; пробег 192,2 км, на 6,4 км больше; все заявки назначены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новые участки маршрутов, перенесённые заявки обведены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Шкала дня и сравнение с базовым вариантом</a:t>
            </a:r>
          </a:p>
        </p:txBody>
      </p:sp>
      <p:pic>
        <p:nvPicPr>
          <p:cNvPr id="7" name="Picture 6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977"/>
            <a:ext cx="16642080" cy="9783165"/>
          </a:xfrm>
          <a:prstGeom prst="roundRect">
            <a:avLst>
              <a:gd name="adj" fmla="val 2500"/>
            </a:avLst>
          </a:prstGeom>
        </p:spPr>
      </p:pic>
      <p:sp>
        <p:nvSpPr>
          <p:cNvPr id="8" name="Oval 7"/>
          <p:cNvSpPr/>
          <p:nvPr/>
        </p:nvSpPr>
        <p:spPr>
          <a:xfrm>
            <a:off x="474024" y="287850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474024" y="625370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8595360" y="625370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8595360" y="835708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Шкала 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работа, дорога и ожидание по каждой бригаде; аварии обведены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Неназначенные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у нас все заявки назначены; ниже список того, что не назначил бы базовый вариант, с причинами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Сравнение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7 бригад против 12, 185,8 км против 243,7, выполнено 66 заявок против 45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Пробег по бригадам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км каждого исполнителя, вторая метрика из ТЗ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Реальный день и наш план, Восток</a:t>
            </a:r>
          </a:p>
        </p:txBody>
      </p:sp>
      <p:pic>
        <p:nvPicPr>
          <p:cNvPr id="7" name="Picture 6" descr="map_vostok_pt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65836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412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Диспетчер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12 бригад, 229 км, 3 опоздания, 2 заявки без бригады (□)</a:t>
            </a:r>
          </a:p>
        </p:txBody>
      </p:sp>
      <p:pic>
        <p:nvPicPr>
          <p:cNvPr id="10" name="Picture 9" descr="map_vostok_pt_ou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268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1236268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72844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Наш план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8 бригад, 167 км, без опозданий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618720"/>
            <a:ext cx="22860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*Общественный транспорт, навыки как в реальный день. Линии соединяют заявки в порядке объезда.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Загрузка бригад по времени</a:t>
            </a:r>
          </a:p>
        </p:txBody>
      </p:sp>
      <p:pic>
        <p:nvPicPr>
          <p:cNvPr id="7" name="Picture 6" descr="gantt_vostok_mi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04581"/>
            <a:ext cx="23042879" cy="78383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11795760"/>
            <a:ext cx="621792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630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1795760"/>
            <a:ext cx="621792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87768" y="11795760"/>
            <a:ext cx="621792" cy="402336"/>
          </a:xfrm>
          <a:prstGeom prst="rect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924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ремонт и дозаказ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08407" y="11704320"/>
            <a:ext cx="1207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серая полоса — дорога, пунктир — ожидание окна. Восток, смешанный транспорт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Демо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Наш план на трёх участках</a:t>
            </a:r>
          </a:p>
        </p:txBody>
      </p:sp>
      <p:pic>
        <p:nvPicPr>
          <p:cNvPr id="7" name="Picture 6" descr="map3_vostok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8" name="TextBox 7"/>
          <p:cNvSpPr txBox="1"/>
          <p:nvPr/>
        </p:nvSpPr>
        <p:spPr>
          <a:xfrm>
            <a:off x="6583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Восток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8 бригад вместо 12, 167 км</a:t>
            </a:r>
          </a:p>
        </p:txBody>
      </p:sp>
      <p:pic>
        <p:nvPicPr>
          <p:cNvPr id="10" name="Picture 9" descr="map3_yugocentr_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8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4307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Югоцентр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6 бригад вместо 11, 198 км</a:t>
            </a:r>
          </a:p>
        </p:txBody>
      </p:sp>
      <p:pic>
        <p:nvPicPr>
          <p:cNvPr id="13" name="Picture 12" descr="map3_yugovostok_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862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4" name="TextBox 13"/>
          <p:cNvSpPr txBox="1"/>
          <p:nvPr/>
        </p:nvSpPr>
        <p:spPr>
          <a:xfrm>
            <a:off x="16203167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Юго-восток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03167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11 бригад вместо 12, 413 км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3167" y="125272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*На карте Юго-востока только московская часть. Три бригады стартуют из Каширы, Ступино и Домодедово.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04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результаты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Число бригад на реальном дне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5544800" cy="9418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6642080" y="30175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7099280" y="32004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99280" y="47000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и невыполненных заявок в нашем плане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642080" y="62179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7099280" y="64008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10–35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0" y="79004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заявок не выполняет базовый вариант, хотя использует все бригады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0" y="94183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7099280" y="96012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2–35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0" y="111008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в реальном плане, если считать по нормативам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Все варианты реального дня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80467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669280"/>
                <a:gridCol w="4754880"/>
                <a:gridCol w="3840480"/>
                <a:gridCol w="3474720"/>
                <a:gridCol w="5303520"/>
              </a:tblGrid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Участок,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Реальный день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Базовый ТЗ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Наш план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141414"/>
                          </a:solidFill>
                          <a:latin typeface="Beeline Sans"/>
                        </a:rPr>
                        <a:t>Оптимальность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229 км, 3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8, 167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252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19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7, 190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21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7, 186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228 км, 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14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6, 198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228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10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6, 164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11, 13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6, 161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367 км, 35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11, 413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минимум бригад*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380 км, 24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29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9, 436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минимум бригад*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4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12, 36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i="0">
                          <a:solidFill>
                            <a:srgbClr val="FFC800"/>
                          </a:solidFill>
                          <a:latin typeface="Beeline Sans"/>
                        </a:rPr>
                        <a:t>11, 524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i="0">
                          <a:solidFill>
                            <a:srgbClr val="FFFFFF"/>
                          </a:solidFill>
                          <a:latin typeface="Beeline Sans"/>
                        </a:rPr>
                        <a:t>минимум бригад*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338560"/>
            <a:ext cx="23042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1A1A1"/>
                </a:solidFill>
                <a:latin typeface="Beeline Sans"/>
              </a:rPr>
              <a:t>*Для Юго-востока минимум бригад доказан, а по пробегу доказательство не закончено: разрыв до нижней границы 4,5–8,7%. Это оценка сверху, насколько план может отставать от оптимума, а не само отставание.</a:t>
            </a:r>
          </a:p>
          <a:p>
            <a:pPr algn="l">
              <a:spcBef>
                <a:spcPts val="600"/>
              </a:spcBef>
            </a:pPr>
            <a:r>
              <a:rPr sz="2000" b="0" i="0">
                <a:solidFill>
                  <a:srgbClr val="A1A1A1"/>
                </a:solidFill>
                <a:latin typeface="Beeline Sans"/>
              </a:rPr>
              <a:t>В ячейках: бригад, км, опоздания или невыполненные заявки. Навыки как в реальный день, смешанный транспорт задали мы.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Сравнение с OR-Tools, PyVRP и VROOM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4081760" cy="8412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612880"/>
            <a:ext cx="1408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*Среднее число бригад на 30 задачах (3 участка, 10 составов бригад), лимит 1 секунда. Наш оптимизатор здесь в ранней версии.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288767" y="3017520"/>
            <a:ext cx="8412480" cy="94183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5800832" y="3474720"/>
            <a:ext cx="7406640" cy="8778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C800"/>
                </a:solidFill>
                <a:latin typeface="Beeline Sans"/>
              </a:rPr>
              <a:t>Все заявки выполнены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у нас в 26 задачах из 30, у OR-Tools в 24, у PyVRP и VROOM в 25. В 4 задачах выполнить все заявки нельзя.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На 12 основных задачах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PyVRP за 1 секунду использует 92 бригады, наш оптимизатор 87, это доказанный минимум.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Почему свой оптимизатор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библиотеки учитывают число бригад как слагаемое общей стоимости. Мы сокращаем парк отдельной фазой.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Доказанная оптимальность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Контрольный день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29768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24 задачи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7007" y="5120640"/>
            <a:ext cx="2926080" cy="310896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481328" y="521208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6912864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минимум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521208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69128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9794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Реальные дни 28–29.09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429768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40 задач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9408" y="5120640"/>
            <a:ext cx="2926080" cy="310896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53728" y="521208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6912864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минимум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54128" y="521208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54128" y="69128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203167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7518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Сгенерированные участки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751808" y="4297680"/>
            <a:ext cx="6217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24 задачи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751808" y="5120640"/>
            <a:ext cx="2926080" cy="310896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7026127" y="521208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026127" y="6912864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минимум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226527" y="521208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226527" y="691286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9418320"/>
            <a:ext cx="230428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Нижняя граница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нужна только для доказательства: она показывает, что выбранный подход близок к теоретическому пределу. Для работы оптимизатора и интеграции её считать не нужно. Граница считается 1–3 минуты, полное доказательство от минуты до часа.</a:t>
            </a:r>
          </a:p>
          <a:p>
            <a:pPr algn="l">
              <a:spcBef>
                <a:spcPts val="2000"/>
              </a:spcBef>
            </a:pPr>
            <a:r>
              <a:rPr sz="2600" b="1" i="0">
                <a:solidFill>
                  <a:srgbClr val="FFC800"/>
                </a:solidFill>
                <a:latin typeface="Beeline Sans"/>
              </a:rPr>
              <a:t>Где оптимум не доказан,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план по пробегу в среднем на 4,9% выше нижней границы. Больше 10% только в одной задаче Юго-востока, где граница по км слабая.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Что пробовали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90708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0"/>
                <a:gridCol w="8412480"/>
              </a:tblGrid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Подход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Результат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Жадные: сортировка по окну, ближайший сосед, заметание, экономия Кларка–Райта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много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Графовые: покрытие путями, поток, венгерский по слотам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слабее; венгерский оставили для назначения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Табу-поиск, лучевой поиск, облегчённый HGS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хуже отжига и ALNS за 1 секунду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OR-Tools, PyVRP, VROOM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на 1 бригаду больше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Собрать план из лучших маршрутов разных запусков (точный подбор CP-SAT)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почти без выигрыша: короче лишь в 4 задачах из 30, максимум на 3,4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Подсказки по видам транспорта, план по кластерам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без выигрыша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Отжиг, ALNS, SISR в 8 параллельных потоках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используем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Эффект и ограничения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2918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35 →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521208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бригад в день, общественный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2918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35 → 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521208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бригад в день, машина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29184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521208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опозданий, в реальном плане их от 2 до 35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7223760"/>
            <a:ext cx="11338560" cy="51206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07007" y="758952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8595360"/>
            <a:ext cx="102412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экономия бригад рассчитана при смене 10:00–22:00 без перерывов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общественный транспорт по средней скорости, без расписаний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аварию ставим как можно раньше только при перепланировании (не позже 2 часов)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62688" y="7223760"/>
            <a:ext cx="11338560" cy="51206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911328" y="758952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Что 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11328" y="8595360"/>
            <a:ext cx="1024128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стоимость бригады в км как настройка диспетчера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пробки, расписания транспорта, обеды, разные смены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планирование на несколько дней, ручное переназначение с проверкой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Технологии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Оптимизатор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C++17, свои эвристики, 8 потоков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Точный метод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Python, HiGHS, OR-Tools CP-SAT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Дороги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OSRM в Docker, OpenStreetMap Москвы и области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07007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Тесты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модульные и сквозные (pytest): вход, расписание, проверка плана, объяснения, перепланирование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794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страница диспетчера: карта по улицам, шкала, проигрывание дня, изменения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03167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67518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518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 входе заявки и бригады в xlsx или CSV, на выходе plan.xlsx и plan.json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9601200"/>
            <a:ext cx="23042880" cy="27432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07008" y="9966960"/>
            <a:ext cx="2194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Запуск: одна команда на участок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python -m dispatch plan "Восток заявки.xlsx" -b "Восток бригады.xlsx" -o out/Восток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A1A1A1"/>
                </a:solidFill>
                <a:latin typeface="Beeline Sans"/>
              </a:rPr>
              <a:t>в папке результата план, метрики, причины неназначения и объяснения; демо целиком — docker compose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1" name="спасибо">
            <a:extLst>
              <a:ext uri="{FF2B5EF4-FFF2-40B4-BE49-F238E27FC236}">
                <a16:creationId xmlns:a16="http://schemas.microsoft.com/office/drawing/2014/main" id="{956FE607-2AAF-233D-56EB-85446070CA4B}"/>
              </a:ext>
            </a:extLst>
          </p:cNvPr>
          <p:cNvSpPr txBox="1"/>
          <p:nvPr/>
        </p:nvSpPr>
        <p:spPr>
          <a:xfrm>
            <a:off x="807330" y="9998690"/>
            <a:ext cx="21578977" cy="302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l">
              <a:lnSpc>
                <a:spcPct val="90000"/>
              </a:lnSpc>
              <a:defRPr sz="21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 err="1"/>
              <a:t>спасибо</a:t>
            </a:r>
            <a:endParaRPr dirty="0"/>
          </a:p>
        </p:txBody>
      </p:sp>
      <p:pic>
        <p:nvPicPr>
          <p:cNvPr id="603" name="Изображение" descr="Изображение">
            <a:extLst>
              <a:ext uri="{FF2B5EF4-FFF2-40B4-BE49-F238E27FC236}">
                <a16:creationId xmlns:a16="http://schemas.microsoft.com/office/drawing/2014/main" id="{B60C4DF0-D2EC-FCAA-6E47-DB9D6B777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30" y="971501"/>
            <a:ext cx="4779520" cy="899856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TextBox 603"/>
          <p:cNvSpPr txBox="1"/>
          <p:nvPr/>
        </p:nvSpPr>
        <p:spPr>
          <a:xfrm>
            <a:off x="80467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Никита Подгузов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80467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капитан, бекенд-разработчик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80467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@Nikitosh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866851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Ксения Шор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866851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дизайнер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866851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@KseniiaShor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804672" y="246888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C800"/>
                </a:solidFill>
                <a:latin typeface="Beeline Sans Black"/>
              </a:rPr>
              <a:t>Команда Trdelnik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1_BasicWhite">
  <a:themeElements>
    <a:clrScheme name="beetech">
      <a:dk1>
        <a:srgbClr val="1E1E1E"/>
      </a:dk1>
      <a:lt1>
        <a:srgbClr val="FFFFFF"/>
      </a:lt1>
      <a:dk2>
        <a:srgbClr val="141414"/>
      </a:dk2>
      <a:lt2>
        <a:srgbClr val="F8F8F8"/>
      </a:lt2>
      <a:accent1>
        <a:srgbClr val="FFC800"/>
      </a:accent1>
      <a:accent2>
        <a:srgbClr val="F59B19"/>
      </a:accent2>
      <a:accent3>
        <a:srgbClr val="F47300"/>
      </a:accent3>
      <a:accent4>
        <a:srgbClr val="00C2AB"/>
      </a:accent4>
      <a:accent5>
        <a:srgbClr val="EC008C"/>
      </a:accent5>
      <a:accent6>
        <a:srgbClr val="6332C8"/>
      </a:accent6>
      <a:hlink>
        <a:srgbClr val="F07300"/>
      </a:hlink>
      <a:folHlink>
        <a:srgbClr val="E5093B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6DC749F4E63E2499755345AD71F676C" ma:contentTypeVersion="1" ma:contentTypeDescription="Создание документа." ma:contentTypeScope="" ma:versionID="befad51a7d1e2057edc29d085254fa4b">
  <xsd:schema xmlns:xsd="http://www.w3.org/2001/XMLSchema" xmlns:xs="http://www.w3.org/2001/XMLSchema" xmlns:p="http://schemas.microsoft.com/office/2006/metadata/properties" xmlns:ns2="b0d1da1b-b766-4d02-a7fe-ca5e63ac8b47" targetNamespace="http://schemas.microsoft.com/office/2006/metadata/properties" ma:root="true" ma:fieldsID="60ff9718db658d84870affcbadea4cab" ns2:_="">
    <xsd:import namespace="b0d1da1b-b766-4d02-a7fe-ca5e63ac8b47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d1da1b-b766-4d02-a7fe-ca5e63ac8b4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A770616-B9A9-4136-8EF0-5FD8000A08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d1da1b-b766-4d02-a7fe-ca5e63ac8b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F782C7-19C9-468F-A881-26AE90F9BC1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D8C896-CF3A-4CE8-9C0B-CB9A407D0537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1781</Words>
  <Application>Microsoft Macintosh PowerPoint</Application>
  <PresentationFormat>Произвольный</PresentationFormat>
  <Paragraphs>172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0" baseType="lpstr">
      <vt:lpstr>Arial</vt:lpstr>
      <vt:lpstr>Beeline Sans</vt:lpstr>
      <vt:lpstr>Beeline Sans Black</vt:lpstr>
      <vt:lpstr>Beeline Sans Medium</vt:lpstr>
      <vt:lpstr>Helvetica Neue</vt:lpstr>
      <vt:lpstr>Helvetica Neue Medium</vt:lpstr>
      <vt:lpstr>21_BasicWhite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Миллер Марина Игоревна</cp:lastModifiedBy>
  <cp:revision>20</cp:revision>
  <dcterms:modified xsi:type="dcterms:W3CDTF">2026-05-12T07:54:46Z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0x010100C6DC749F4E63E2499755345AD71F676C</vt:lpwstr>
  </property>
</Properties>
</file>