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media/image2.tif" ContentType="image/tif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8"/>
  </p:notesMasterIdLst>
  <p:sldIdLst>
    <p:sldId id="303" r:id="rId33"/>
    <p:sldId id="304" r:id="rId34"/>
    <p:sldId id="307" r:id="rId37"/>
    <p:sldId id="308" r:id="rId38"/>
    <p:sldId id="309" r:id="rId39"/>
    <p:sldId id="310" r:id="rId40"/>
    <p:sldId id="311" r:id="rId41"/>
    <p:sldId id="360" r:id="rId90"/>
    <p:sldId id="314" r:id="rId44"/>
    <p:sldId id="355" r:id="rId85"/>
    <p:sldId id="321" r:id="rId51"/>
    <p:sldId id="322" r:id="rId52"/>
    <p:sldId id="324" r:id="rId54"/>
    <p:sldId id="356" r:id="rId86"/>
    <p:sldId id="333" r:id="rId63"/>
    <p:sldId id="334" r:id="rId64"/>
    <p:sldId id="361" r:id="rId91"/>
    <p:sldId id="335" r:id="rId65"/>
    <p:sldId id="362" r:id="rId92"/>
    <p:sldId id="363" r:id="rId93"/>
    <p:sldId id="364" r:id="rId94"/>
    <p:sldId id="359" r:id="rId89"/>
    <p:sldId id="338" r:id="rId68"/>
    <p:sldId id="358" r:id="rId88"/>
    <p:sldId id="342" r:id="rId72"/>
    <p:sldId id="341" r:id="rId71"/>
    <p:sldId id="346" r:id="rId76"/>
    <p:sldId id="343" r:id="rId73"/>
    <p:sldId id="344" r:id="rId74"/>
    <p:sldId id="348" r:id="rId78"/>
    <p:sldId id="349" r:id="rId79"/>
    <p:sldId id="350" r:id="rId80"/>
    <p:sldId id="351" r:id="rId81"/>
    <p:sldId id="352" r:id="rId82"/>
    <p:sldId id="353" r:id="rId83"/>
    <p:sldId id="354" r:id="rId84"/>
    <p:sldId id="365" r:id="rId95"/>
    <p:sldId id="305" r:id="rId35"/>
    <p:sldId id="306" r:id="rId36"/>
    <p:sldId id="315" r:id="rId45"/>
    <p:sldId id="317" r:id="rId47"/>
    <p:sldId id="318" r:id="rId48"/>
    <p:sldId id="319" r:id="rId49"/>
    <p:sldId id="320" r:id="rId50"/>
    <p:sldId id="323" r:id="rId53"/>
    <p:sldId id="325" r:id="rId55"/>
    <p:sldId id="357" r:id="rId87"/>
    <p:sldId id="332" r:id="rId62"/>
    <p:sldId id="339" r:id="rId69"/>
    <p:sldId id="340" r:id="rId70"/>
    <p:sldId id="345" r:id="rId75"/>
    <p:sldId id="347" r:id="rId7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1pPr>
    <a:lvl2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2pPr>
    <a:lvl3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3pPr>
    <a:lvl4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4pPr>
    <a:lvl5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5pPr>
    <a:lvl6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6pPr>
    <a:lvl7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7pPr>
    <a:lvl8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8pPr>
    <a:lvl9pPr marL="0" marR="0" indent="0" algn="ctr" defTabSz="2438337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j-lt"/>
        <a:ea typeface="+mj-ea"/>
        <a:cs typeface="+mj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B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/>
      <a:tcStyle>
        <a:tcBdr/>
        <a:fill>
          <a:solidFill>
            <a:srgbClr val="E6F0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/>
      <a:tcStyle>
        <a:tcBdr/>
        <a:fill>
          <a:solidFill>
            <a:srgbClr val="EAF8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CDDF"/>
          </a:solidFill>
        </a:fill>
      </a:tcStyle>
    </a:wholeTbl>
    <a:band2H>
      <a:tcTxStyle/>
      <a:tcStyle>
        <a:tcBdr/>
        <a:fill>
          <a:solidFill>
            <a:srgbClr val="FFE8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5E5E5E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solidFill>
            <a:srgbClr val="5E5E5E">
              <a:alpha val="20000"/>
            </a:srgbClr>
          </a:solidFill>
        </a:fill>
      </a:tcStyle>
    </a:firstCol>
    <a:la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50800" cap="flat">
              <a:solidFill>
                <a:srgbClr val="5E5E5E"/>
              </a:solidFill>
              <a:prstDash val="solid"/>
              <a:round/>
            </a:ln>
          </a:top>
          <a:bottom>
            <a:ln w="127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5E5E5E"/>
        </a:fontRef>
        <a:srgbClr val="5E5E5E"/>
      </a:tcTxStyle>
      <a:tcStyle>
        <a:tcBdr>
          <a:left>
            <a:ln w="12700" cap="flat">
              <a:solidFill>
                <a:srgbClr val="5E5E5E"/>
              </a:solidFill>
              <a:prstDash val="solid"/>
              <a:round/>
            </a:ln>
          </a:left>
          <a:right>
            <a:ln w="12700" cap="flat">
              <a:solidFill>
                <a:srgbClr val="5E5E5E"/>
              </a:solidFill>
              <a:prstDash val="solid"/>
              <a:round/>
            </a:ln>
          </a:right>
          <a:top>
            <a:ln w="12700" cap="flat">
              <a:solidFill>
                <a:srgbClr val="5E5E5E"/>
              </a:solidFill>
              <a:prstDash val="solid"/>
              <a:round/>
            </a:ln>
          </a:top>
          <a:bottom>
            <a:ln w="25400" cap="flat">
              <a:solidFill>
                <a:srgbClr val="5E5E5E"/>
              </a:solidFill>
              <a:prstDash val="solid"/>
              <a:round/>
            </a:ln>
          </a:bottom>
          <a:insideH>
            <a:ln w="12700" cap="flat">
              <a:solidFill>
                <a:srgbClr val="5E5E5E"/>
              </a:solidFill>
              <a:prstDash val="solid"/>
              <a:round/>
            </a:ln>
          </a:insideH>
          <a:insideV>
            <a:ln w="12700" cap="flat">
              <a:solidFill>
                <a:srgbClr val="5E5E5E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26"/>
  </p:normalViewPr>
  <p:slideViewPr>
    <p:cSldViewPr snapToGrid="0">
      <p:cViewPr varScale="1">
        <p:scale>
          <a:sx n="58" d="100"/>
          <a:sy n="58" d="100"/>
        </p:scale>
        <p:origin x="-1568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Relationship Id="rId83" Type="http://schemas.openxmlformats.org/officeDocument/2006/relationships/slide" Target="slides/slide74.xml"/><Relationship Id="rId84" Type="http://schemas.openxmlformats.org/officeDocument/2006/relationships/slide" Target="slides/slide75.xml"/><Relationship Id="rId85" Type="http://schemas.openxmlformats.org/officeDocument/2006/relationships/slide" Target="slides/slide76.xml"/><Relationship Id="rId86" Type="http://schemas.openxmlformats.org/officeDocument/2006/relationships/slide" Target="slides/slide77.xml"/><Relationship Id="rId87" Type="http://schemas.openxmlformats.org/officeDocument/2006/relationships/slide" Target="slides/slide78.xml"/><Relationship Id="rId88" Type="http://schemas.openxmlformats.org/officeDocument/2006/relationships/slide" Target="slides/slide79.xml"/><Relationship Id="rId89" Type="http://schemas.openxmlformats.org/officeDocument/2006/relationships/slide" Target="slides/slide80.xml"/><Relationship Id="rId90" Type="http://schemas.openxmlformats.org/officeDocument/2006/relationships/slide" Target="slides/slide81.xml"/><Relationship Id="rId91" Type="http://schemas.openxmlformats.org/officeDocument/2006/relationships/slide" Target="slides/slide82.xml"/><Relationship Id="rId92" Type="http://schemas.openxmlformats.org/officeDocument/2006/relationships/slide" Target="slides/slide83.xml"/><Relationship Id="rId93" Type="http://schemas.openxmlformats.org/officeDocument/2006/relationships/slide" Target="slides/slide84.xml"/><Relationship Id="rId94" Type="http://schemas.openxmlformats.org/officeDocument/2006/relationships/slide" Target="slides/slide85.xml"/><Relationship Id="rId95" Type="http://schemas.openxmlformats.org/officeDocument/2006/relationships/slide" Target="slides/slide86.xml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Реальный день</c:v>
                </c:pt>
              </c:strCache>
            </c:strRef>
          </c:tx>
          <c:spPr>
            <a:solidFill>
              <a:srgbClr val="A1A1A1"/>
            </a:solidFill>
          </c:spPr>
          <c:dLbls>
            <c:txPr>
              <a:bodyPr/>
              <a:lstStyle/>
              <a:p>
                <a:pPr>
                  <a:defRPr sz="24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Восток
общ. тр.</c:v>
                </c:pt>
                <c:pt idx="1">
                  <c:v>Восток
машина</c:v>
                </c:pt>
                <c:pt idx="2">
                  <c:v>Югоцентр
общ. тр.</c:v>
                </c:pt>
                <c:pt idx="3">
                  <c:v>Югоцентр
машина</c:v>
                </c:pt>
                <c:pt idx="4">
                  <c:v>Юго-восток
общ. тр.</c:v>
                </c:pt>
                <c:pt idx="5">
                  <c:v>Юго-восток
машина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12</c:v>
                </c:pt>
                <c:pt idx="2">
                  <c:v>11</c:v>
                </c:pt>
                <c:pt idx="3">
                  <c:v>11</c:v>
                </c:pt>
                <c:pt idx="4">
                  <c:v>12</c:v>
                </c:pt>
                <c:pt idx="5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Базовый вариант ТЗ</c:v>
                </c:pt>
              </c:strCache>
            </c:strRef>
          </c:tx>
          <c:spPr>
            <a:solidFill>
              <a:srgbClr val="141414"/>
            </a:solidFill>
          </c:spPr>
          <c:dLbls>
            <c:txPr>
              <a:bodyPr/>
              <a:lstStyle/>
              <a:p>
                <a:pPr>
                  <a:defRPr sz="24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Восток
общ. тр.</c:v>
                </c:pt>
                <c:pt idx="1">
                  <c:v>Восток
машина</c:v>
                </c:pt>
                <c:pt idx="2">
                  <c:v>Югоцентр
общ. тр.</c:v>
                </c:pt>
                <c:pt idx="3">
                  <c:v>Югоцентр
машина</c:v>
                </c:pt>
                <c:pt idx="4">
                  <c:v>Юго-восток
общ. тр.</c:v>
                </c:pt>
                <c:pt idx="5">
                  <c:v>Юго-восток
машина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</c:v>
                </c:pt>
                <c:pt idx="1">
                  <c:v>12</c:v>
                </c:pt>
                <c:pt idx="2">
                  <c:v>11</c:v>
                </c:pt>
                <c:pt idx="3">
                  <c:v>11</c:v>
                </c:pt>
                <c:pt idx="4">
                  <c:v>12</c:v>
                </c:pt>
                <c:pt idx="5">
                  <c:v>12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Наш план</c:v>
                </c:pt>
              </c:strCache>
            </c:strRef>
          </c:tx>
          <c:spPr>
            <a:solidFill>
              <a:srgbClr val="FFC800"/>
            </a:solidFill>
          </c:spPr>
          <c:dLbls>
            <c:txPr>
              <a:bodyPr/>
              <a:lstStyle/>
              <a:p>
                <a:pPr>
                  <a:defRPr sz="24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Восток
общ. тр.</c:v>
                </c:pt>
                <c:pt idx="1">
                  <c:v>Восток
машина</c:v>
                </c:pt>
                <c:pt idx="2">
                  <c:v>Югоцентр
общ. тр.</c:v>
                </c:pt>
                <c:pt idx="3">
                  <c:v>Югоцентр
машина</c:v>
                </c:pt>
                <c:pt idx="4">
                  <c:v>Юго-восток
общ. тр.</c:v>
                </c:pt>
                <c:pt idx="5">
                  <c:v>Юго-восток
машина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11</c:v>
                </c:pt>
                <c:pt idx="5">
                  <c:v>9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1A1A1"/>
            </a:solidFill>
          </a:ln>
        </c:spPr>
        <c:txPr>
          <a:bodyPr/>
          <a:lstStyle/>
          <a:p>
            <a:pPr>
              <a:defRPr sz="2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2400"/>
          </a:pPr>
        </a:p>
      </c:txPr>
    </c:legend>
    <c:dispBlanksAs val="gap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Бригад в среднем</c:v>
                </c:pt>
              </c:strCache>
            </c:strRef>
          </c:tx>
          <c:spPr>
            <a:solidFill>
              <a:srgbClr val="A1A1A1"/>
            </a:solidFill>
          </c:spPr>
          <c:dPt>
            <c:idx val="4"/>
            <c:spPr>
              <a:solidFill>
                <a:srgbClr val="FFC800"/>
              </a:solidFill>
            </c:spPr>
          </c:dPt>
          <c:dPt>
            <c:idx val="0"/>
            <c:spPr>
              <a:solidFill>
                <a:srgbClr val="141414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600" b="1"/>
                      <a:t>11,55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2600" b="1"/>
                      <a:t>8,78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2600" b="1"/>
                      <a:t>8,83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2600" b="1"/>
                      <a:t>8,64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2600" b="1"/>
                      <a:t>8,17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0" sourceLinked="0"/>
            <c:txPr>
              <a:bodyPr/>
              <a:lstStyle/>
              <a:p>
                <a:pPr>
                  <a:defRPr sz="26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Базовый ТЗ</c:v>
                </c:pt>
                <c:pt idx="1">
                  <c:v>OR-Tools</c:v>
                </c:pt>
                <c:pt idx="2">
                  <c:v>VROOM</c:v>
                </c:pt>
                <c:pt idx="3">
                  <c:v>PyVRP</c:v>
                </c:pt>
                <c:pt idx="4">
                  <c:v>Наш оптимизатор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11.55</c:v>
                </c:pt>
                <c:pt idx="1">
                  <c:v>8.78</c:v>
                </c:pt>
                <c:pt idx="2">
                  <c:v>8.83</c:v>
                </c:pt>
                <c:pt idx="3">
                  <c:v>8.64</c:v>
                </c:pt>
                <c:pt idx="4">
                  <c:v>8.17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1A1A1"/>
            </a:solidFill>
          </a:ln>
        </c:spPr>
        <c:txPr>
          <a:bodyPr/>
          <a:lstStyle/>
          <a:p>
            <a:pPr>
              <a:defRPr sz="2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2800" b="1"/>
              <a:t>План за 3 с на доказанном минимуме бригад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План за 3 с на доказанном минимуме бригад</c:v>
                </c:pt>
              </c:strCache>
            </c:strRef>
          </c:tx>
          <c:spPr>
            <a:solidFill>
              <a:srgbClr val="FFC800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26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Контрольный день</c:v>
                </c:pt>
                <c:pt idx="1">
                  <c:v>Реальные дни</c:v>
                </c:pt>
                <c:pt idx="2">
                  <c:v>Новые участки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</c:v>
                </c:pt>
                <c:pt idx="1">
                  <c:v>100</c:v>
                </c:pt>
                <c:pt idx="2">
                  <c:v>99</c:v>
                </c:pt>
              </c:numCache>
            </c:numRef>
          </c:val>
        </c:ser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1A1A1"/>
            </a:solidFill>
          </a:ln>
        </c:spPr>
        <c:txPr>
          <a:bodyPr/>
          <a:lstStyle/>
          <a:p>
            <a:pPr>
              <a:defRPr sz="26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2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вес отзыва</c:v>
                </c:pt>
              </c:strCache>
            </c:strRef>
          </c:tx>
          <c:spPr>
            <a:ln w="69850">
              <a:solidFill>
                <a:srgbClr val="FFC800"/>
              </a:solidFill>
            </a:ln>
          </c:spPr>
          <c:marker/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30</c:v>
                </c:pt>
                <c:pt idx="2">
                  <c:v>60</c:v>
                </c:pt>
                <c:pt idx="3">
                  <c:v>90</c:v>
                </c:pt>
                <c:pt idx="4">
                  <c:v>120</c:v>
                </c:pt>
                <c:pt idx="5">
                  <c:v>150</c:v>
                </c:pt>
                <c:pt idx="6">
                  <c:v>180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</c:v>
                </c:pt>
                <c:pt idx="1">
                  <c:v>0.707</c:v>
                </c:pt>
                <c:pt idx="2">
                  <c:v>0.5</c:v>
                </c:pt>
                <c:pt idx="3">
                  <c:v>0.354</c:v>
                </c:pt>
                <c:pt idx="4">
                  <c:v>0.25</c:v>
                </c:pt>
                <c:pt idx="5">
                  <c:v>0.177</c:v>
                </c:pt>
                <c:pt idx="6">
                  <c:v>0.125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1A1A1"/>
            </a:solidFill>
          </a:ln>
        </c:spPr>
        <c:txPr>
          <a:bodyPr/>
          <a:lstStyle/>
          <a:p>
            <a:pPr>
              <a:defRPr sz="2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numFmt formatCode="0.0" sourceLinked="0"/>
        <c:majorTickMark val="out"/>
        <c:minorTickMark val="none"/>
        <c:tickLblPos val="nextTo"/>
        <c:spPr>
          <a:ln>
            <a:solidFill>
              <a:srgbClr val="F1F1F1"/>
            </a:solidFill>
          </a:ln>
        </c:spPr>
        <c:txPr>
          <a:bodyPr/>
          <a:lstStyle/>
          <a:p>
            <a:pPr>
              <a:defRPr sz="20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все пятёрки</c:v>
                </c:pt>
              </c:strCache>
            </c:strRef>
          </c:tx>
          <c:spPr>
            <a:ln w="69850">
              <a:solidFill>
                <a:srgbClr val="141414"/>
              </a:solidFill>
            </a:ln>
          </c:spPr>
          <c:marker/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15</c:v>
                </c:pt>
                <c:pt idx="5">
                  <c:v>30</c:v>
                </c:pt>
                <c:pt idx="6">
                  <c:v>60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4.27</c:v>
                </c:pt>
                <c:pt idx="1">
                  <c:v>4.33</c:v>
                </c:pt>
                <c:pt idx="2">
                  <c:v>4.43</c:v>
                </c:pt>
                <c:pt idx="3">
                  <c:v>4.56</c:v>
                </c:pt>
                <c:pt idx="4">
                  <c:v>4.68</c:v>
                </c:pt>
                <c:pt idx="5">
                  <c:v>4.8</c:v>
                </c:pt>
                <c:pt idx="6">
                  <c:v>4.89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все четвёрки</c:v>
                </c:pt>
              </c:strCache>
            </c:strRef>
          </c:tx>
          <c:spPr>
            <a:ln w="69850">
              <a:solidFill>
                <a:srgbClr val="A1A1A1"/>
              </a:solidFill>
            </a:ln>
          </c:spPr>
          <c:marker/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15</c:v>
                </c:pt>
                <c:pt idx="5">
                  <c:v>30</c:v>
                </c:pt>
                <c:pt idx="6">
                  <c:v>60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4.18</c:v>
                </c:pt>
                <c:pt idx="1">
                  <c:v>4.17</c:v>
                </c:pt>
                <c:pt idx="2">
                  <c:v>4.14</c:v>
                </c:pt>
                <c:pt idx="3">
                  <c:v>4.11</c:v>
                </c:pt>
                <c:pt idx="4">
                  <c:v>4.08</c:v>
                </c:pt>
                <c:pt idx="5">
                  <c:v>4.05</c:v>
                </c:pt>
                <c:pt idx="6">
                  <c:v>4.03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1A1A1"/>
            </a:solidFill>
          </a:ln>
        </c:spPr>
        <c:txPr>
          <a:bodyPr/>
          <a:lstStyle/>
          <a:p>
            <a:pPr>
              <a:defRPr sz="20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.0"/>
          <c:min val="3.9"/>
        </c:scaling>
        <c:delete val="0"/>
        <c:axPos val="l"/>
        <c:numFmt formatCode="0.0" sourceLinked="0"/>
        <c:majorTickMark val="out"/>
        <c:minorTickMark val="none"/>
        <c:tickLblPos val="nextTo"/>
        <c:spPr>
          <a:ln>
            <a:solidFill>
              <a:srgbClr val="F1F1F1"/>
            </a:solidFill>
          </a:ln>
        </c:spPr>
        <c:txPr>
          <a:bodyPr/>
          <a:lstStyle/>
          <a:p>
            <a:pPr>
              <a:defRPr sz="20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2100"/>
          </a:pPr>
        </a:p>
      </c:txPr>
    </c:legend>
    <c:plotVisOnly val="1"/>
    <c:dispBlanksAs val="gap"/>
    <c:showDLblsOverMax val="0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было</c:v>
                </c:pt>
              </c:strCache>
            </c:strRef>
          </c:tx>
          <c:spPr>
            <a:solidFill>
              <a:srgbClr val="F1F1F1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2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Пакет услуг</c:v>
                </c:pt>
                <c:pt idx="1">
                  <c:v>Гигабит</c:v>
                </c:pt>
                <c:pt idx="2">
                  <c:v>Нет связи</c:v>
                </c:pt>
                <c:pt idx="3">
                  <c:v>Старый дом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1.1</c:v>
                </c:pt>
                <c:pt idx="1">
                  <c:v>1.2</c:v>
                </c:pt>
                <c:pt idx="2">
                  <c:v>1.3</c:v>
                </c:pt>
                <c:pt idx="3">
                  <c:v>1.15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выучено</c:v>
                </c:pt>
              </c:strCache>
            </c:strRef>
          </c:tx>
          <c:spPr>
            <a:solidFill>
              <a:srgbClr val="FFC800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2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Пакет услуг</c:v>
                </c:pt>
                <c:pt idx="1">
                  <c:v>Гигабит</c:v>
                </c:pt>
                <c:pt idx="2">
                  <c:v>Нет связи</c:v>
                </c:pt>
                <c:pt idx="3">
                  <c:v>Старый дом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1.26</c:v>
                </c:pt>
                <c:pt idx="1">
                  <c:v>1.41</c:v>
                </c:pt>
                <c:pt idx="2">
                  <c:v>1.13</c:v>
                </c:pt>
                <c:pt idx="3">
                  <c:v>1.22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истина</c:v>
                </c:pt>
              </c:strCache>
            </c:strRef>
          </c:tx>
          <c:spPr>
            <a:solidFill>
              <a:srgbClr val="141414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2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Пакет услуг</c:v>
                </c:pt>
                <c:pt idx="1">
                  <c:v>Гигабит</c:v>
                </c:pt>
                <c:pt idx="2">
                  <c:v>Нет связи</c:v>
                </c:pt>
                <c:pt idx="3">
                  <c:v>Старый дом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1.25</c:v>
                </c:pt>
                <c:pt idx="1">
                  <c:v>1.45</c:v>
                </c:pt>
                <c:pt idx="2">
                  <c:v>1.15</c:v>
                </c:pt>
                <c:pt idx="3">
                  <c:v>1.25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6"/>
          <c:min val="0.8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2200"/>
          </a:pPr>
        </a:p>
      </c:txPr>
    </c:legend>
    <c:dispBlanksAs val="gap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из офиса</c:v>
                </c:pt>
              </c:strCache>
            </c:strRef>
          </c:tx>
          <c:spPr>
            <a:solidFill>
              <a:srgbClr val="A1A1A1"/>
            </a:solidFill>
          </c:spPr>
          <c:dLbls>
            <c:txPr>
              <a:bodyPr/>
              <a:lstStyle/>
              <a:p>
                <a:pPr>
                  <a:defRPr sz="24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Восток</c:v>
                </c:pt>
                <c:pt idx="1">
                  <c:v>Югоцентр</c:v>
                </c:pt>
                <c:pt idx="2">
                  <c:v>Юго-
восток</c:v>
                </c:pt>
                <c:pt idx="3">
                  <c:v>Север</c:v>
                </c:pt>
                <c:pt idx="4">
                  <c:v>Запад</c:v>
                </c:pt>
                <c:pt idx="5">
                  <c:v>Северо-
восток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</c:v>
                </c:pt>
                <c:pt idx="1">
                  <c:v>25</c:v>
                </c:pt>
                <c:pt idx="2">
                  <c:v>50</c:v>
                </c:pt>
                <c:pt idx="3">
                  <c:v>23</c:v>
                </c:pt>
                <c:pt idx="4">
                  <c:v>27</c:v>
                </c:pt>
                <c:pt idx="5">
                  <c:v>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из дома</c:v>
                </c:pt>
              </c:strCache>
            </c:strRef>
          </c:tx>
          <c:spPr>
            <a:solidFill>
              <a:srgbClr val="FFC800"/>
            </a:solidFill>
          </c:spPr>
          <c:dLbls>
            <c:txPr>
              <a:bodyPr/>
              <a:lstStyle/>
              <a:p>
                <a:pPr>
                  <a:defRPr sz="2400" b="1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Восток</c:v>
                </c:pt>
                <c:pt idx="1">
                  <c:v>Югоцентр</c:v>
                </c:pt>
                <c:pt idx="2">
                  <c:v>Юго-
восток</c:v>
                </c:pt>
                <c:pt idx="3">
                  <c:v>Север</c:v>
                </c:pt>
                <c:pt idx="4">
                  <c:v>Запад</c:v>
                </c:pt>
                <c:pt idx="5">
                  <c:v>Северо-
восток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15</c:v>
                </c:pt>
                <c:pt idx="1">
                  <c:v>17</c:v>
                </c:pt>
                <c:pt idx="2">
                  <c:v>24</c:v>
                </c:pt>
                <c:pt idx="3">
                  <c:v>18</c:v>
                </c:pt>
                <c:pt idx="4">
                  <c:v>17</c:v>
                </c:pt>
                <c:pt idx="5">
                  <c:v>16</c:v>
                </c:pt>
              </c:numCache>
            </c:numRef>
          </c:val>
        </c:ser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2400"/>
          </a:pPr>
        </a:p>
      </c:txPr>
    </c:legend>
    <c:dispBlanksAs val="gap"/>
  </c:chart>
  <c:txPr>
    <a:bodyPr/>
    <a:lstStyle/>
    <a:p>
      <a:pPr>
        <a:defRPr sz="2200">
          <a:solidFill>
            <a:srgbClr val="141414"/>
          </a:solidFill>
          <a:latin typeface="Beeline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4" name="Shape 19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t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0" y="11859862"/>
            <a:ext cx="2197100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Автор и дата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5" cy="4648203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Подзаголовок презентации</a:t>
            </a:r>
          </a:p>
        </p:txBody>
      </p:sp>
      <p:sp>
        <p:nvSpPr>
          <p:cNvPr id="1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22" name="Заголовок презентации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Заголовок презентации</a:t>
            </a:r>
          </a:p>
        </p:txBody>
      </p:sp>
      <p:sp>
        <p:nvSpPr>
          <p:cNvPr id="2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7690" y="1106137"/>
            <a:ext cx="21968621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Автор и дата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Уровень текста 1…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6500" y="11609909"/>
            <a:ext cx="21971000" cy="111695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Подзаголовок презентации</a:t>
            </a:r>
          </a:p>
        </p:txBody>
      </p:sp>
      <p:sp>
        <p:nvSpPr>
          <p:cNvPr id="2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3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4"/>
          </a:xfrm>
          <a:prstGeom prst="rect">
            <a:avLst/>
          </a:prstGeom>
        </p:spPr>
        <p:txBody>
          <a:bodyPr anchor="b"/>
          <a:lstStyle/>
          <a:p>
            <a:r>
              <a:t>Заголовок слайда</a:t>
            </a:r>
          </a:p>
        </p:txBody>
      </p:sp>
      <p:sp>
        <p:nvSpPr>
          <p:cNvPr id="3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4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Уровень текста 1…"/>
          <p:cNvSpPr txBox="1">
            <a:spLocks noGrp="1"/>
          </p:cNvSpPr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/>
          <a:p>
            <a:r>
              <a:t>Текст пункта на слайде</a:t>
            </a:r>
          </a:p>
        </p:txBody>
      </p:sp>
      <p:sp>
        <p:nvSpPr>
          <p:cNvPr id="4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9779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1" name="Уровень текста 1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1206500" y="4248503"/>
            <a:ext cx="9779000" cy="8256632"/>
          </a:xfrm>
          <a:prstGeom prst="rect">
            <a:avLst/>
          </a:prstGeom>
        </p:spPr>
        <p:txBody>
          <a:bodyPr numCol="1" spcCol="38100"/>
          <a:lstStyle/>
          <a:p>
            <a:r>
              <a:t>Текст пункта на слайде</a:t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3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63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64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5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Заголовок раздела</a:t>
            </a:r>
          </a:p>
        </p:txBody>
      </p:sp>
      <p:sp>
        <p:nvSpPr>
          <p:cNvPr id="72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5233"/>
            <a:ext cx="368504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51"/>
          </a:xfrm>
          <a:prstGeom prst="rect">
            <a:avLst/>
          </a:prstGeom>
        </p:spPr>
        <p:txBody>
          <a:bodyPr/>
          <a:lstStyle/>
          <a:p>
            <a:r>
              <a:t>Заголовок слайда</a:t>
            </a:r>
          </a:p>
        </p:txBody>
      </p:sp>
      <p:sp>
        <p:nvSpPr>
          <p:cNvPr id="80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слайда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Заголовок повестки дня</a:t>
            </a:r>
          </a:p>
        </p:txBody>
      </p:sp>
      <p:sp>
        <p:nvSpPr>
          <p:cNvPr id="8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2372960"/>
            <a:ext cx="21971000" cy="934782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1308100" indent="-698500" defTabSz="825500">
              <a:lnSpc>
                <a:spcPct val="100000"/>
              </a:lnSpc>
              <a:spcBef>
                <a:spcPts val="0"/>
              </a:spcBef>
              <a:defRPr sz="5500" b="1"/>
            </a:lvl2pPr>
            <a:lvl3pPr marL="1917700" indent="-698500" defTabSz="825500">
              <a:lnSpc>
                <a:spcPct val="100000"/>
              </a:lnSpc>
              <a:spcBef>
                <a:spcPts val="0"/>
              </a:spcBef>
              <a:defRPr sz="5500" b="1"/>
            </a:lvl3pPr>
            <a:lvl4pPr marL="2527300" indent="-698500" defTabSz="825500">
              <a:lnSpc>
                <a:spcPct val="100000"/>
              </a:lnSpc>
              <a:spcBef>
                <a:spcPts val="0"/>
              </a:spcBef>
              <a:defRPr sz="5500" b="1"/>
            </a:lvl4pPr>
            <a:lvl5pPr marL="3136900" indent="-698500" defTabSz="825500">
              <a:lnSpc>
                <a:spcPct val="100000"/>
              </a:lnSpc>
              <a:spcBef>
                <a:spcPts val="0"/>
              </a:spcBef>
              <a:defRPr sz="5500" b="1"/>
            </a:lvl5pPr>
          </a:lstStyle>
          <a:p>
            <a:r>
              <a:t>Подзаголовок повестки дня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idx="21" hasCustomPrompt="1"/>
          </p:nvPr>
        </p:nvSpPr>
        <p:spPr>
          <a:xfrm>
            <a:off x="1206500" y="4248503"/>
            <a:ext cx="21971000" cy="8256015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99"/>
            </a:lvl1pPr>
          </a:lstStyle>
          <a:p>
            <a:r>
              <a:t>Темы повестки дня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Уровень текста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numCol="1" spcCol="38100"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Информационное сообщение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5"/>
            <a:ext cx="21971000" cy="7241587"/>
          </a:xfrm>
          <a:prstGeom prst="rect">
            <a:avLst/>
          </a:prstGeom>
        </p:spPr>
        <p:txBody>
          <a:bodyPr numCol="1" spcCol="38100"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100 %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Информация о факте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Информация о факте</a:t>
            </a:r>
          </a:p>
        </p:txBody>
      </p:sp>
      <p:sp>
        <p:nvSpPr>
          <p:cNvPr id="10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430023" y="10675453"/>
            <a:ext cx="2020005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Авторство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6" name="Уровень текста 1…"/>
          <p:cNvSpPr txBox="1">
            <a:spLocks noGrp="1"/>
          </p:cNvSpPr>
          <p:nvPr>
            <p:ph type="body" sz="half" idx="21" hasCustomPrompt="1"/>
          </p:nvPr>
        </p:nvSpPr>
        <p:spPr>
          <a:xfrm>
            <a:off x="1753923" y="4939860"/>
            <a:ext cx="20876154" cy="3836282"/>
          </a:xfrm>
          <a:prstGeom prst="rect">
            <a:avLst/>
          </a:prstGeom>
        </p:spPr>
        <p:txBody>
          <a:bodyPr numCol="1" spcCol="38100"/>
          <a:lstStyle>
            <a:lvl1pPr marL="300875" indent="-131851">
              <a:spcBef>
                <a:spcPts val="0"/>
              </a:spcBef>
              <a:buSzTx/>
              <a:buNone/>
              <a:defRPr sz="8500" spc="-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«Важная цитата»</a:t>
            </a:r>
          </a:p>
        </p:txBody>
      </p:sp>
      <p:sp>
        <p:nvSpPr>
          <p:cNvPr id="11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Миска салата с жареным рисом, варёными яйцами и палочками для еды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5" name="Тарелка с рублеными котлетами из лосося, салатом и хумусом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6" name="Тарелка пасты папарделле с зелёным маслом из петрушки, жареным фундуком и стружкой сыра пармезан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27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миска салата с жареным рисом, варёными яйцами и палочками для еды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 numCol="1" spcCol="38100">
            <a:noAutofit/>
          </a:bodyPr>
          <a:lstStyle/>
          <a:p>
            <a:endParaRPr/>
          </a:p>
        </p:txBody>
      </p:sp>
      <p:sp>
        <p:nvSpPr>
          <p:cNvPr id="13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0" y="11859862"/>
            <a:ext cx="21971005" cy="636981"/>
          </a:xfrm>
          <a:prstGeom prst="rect">
            <a:avLst/>
          </a:prstGeom>
        </p:spPr>
        <p:txBody>
          <a:bodyPr lIns="45718" tIns="45718" rIns="45718" bIns="45718"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  <a:lvl2pPr marL="1066800" indent="-457200" defTabSz="825500">
              <a:lnSpc>
                <a:spcPct val="100000"/>
              </a:lnSpc>
              <a:spcBef>
                <a:spcPts val="0"/>
              </a:spcBef>
              <a:defRPr sz="3600" b="1"/>
            </a:lvl2pPr>
            <a:lvl3pPr marL="1676400" indent="-457200" defTabSz="825500">
              <a:lnSpc>
                <a:spcPct val="100000"/>
              </a:lnSpc>
              <a:spcBef>
                <a:spcPts val="0"/>
              </a:spcBef>
              <a:defRPr sz="3600" b="1"/>
            </a:lvl3pPr>
            <a:lvl4pPr marL="2286000" indent="-457200" defTabSz="825500">
              <a:lnSpc>
                <a:spcPct val="100000"/>
              </a:lnSpc>
              <a:spcBef>
                <a:spcPts val="0"/>
              </a:spcBef>
              <a:defRPr sz="3600" b="1"/>
            </a:lvl4pPr>
            <a:lvl5pPr marL="2895600" indent="-457200" defTabSz="825500">
              <a:lnSpc>
                <a:spcPct val="100000"/>
              </a:lnSpc>
              <a:spcBef>
                <a:spcPts val="0"/>
              </a:spcBef>
              <a:defRPr sz="3600" b="1"/>
            </a:lvl5pPr>
          </a:lstStyle>
          <a:p>
            <a:r>
              <a:t>Author and Date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0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5" cy="4648203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51" name="Уровень текста 1…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2" y="7223190"/>
            <a:ext cx="21971002" cy="1905003"/>
          </a:xfrm>
          <a:prstGeom prst="rect">
            <a:avLst/>
          </a:prstGeom>
        </p:spPr>
        <p:txBody>
          <a:bodyPr numCol="1" spcCol="38100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Presentation Subtitle</a:t>
            </a:r>
          </a:p>
        </p:txBody>
      </p:sp>
      <p:sp>
        <p:nvSpPr>
          <p:cNvPr id="15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0346" y="712670"/>
            <a:ext cx="575067" cy="574669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19196" y="565867"/>
            <a:ext cx="20918184" cy="1201292"/>
          </a:xfrm>
          <a:prstGeom prst="rect">
            <a:avLst/>
          </a:prstGeom>
        </p:spPr>
        <p:txBody>
          <a:bodyPr lIns="91437" tIns="91437" rIns="91437" bIns="91437"/>
          <a:lstStyle>
            <a:lvl1pPr defTabSz="1828800">
              <a:lnSpc>
                <a:spcPct val="90000"/>
              </a:lnSpc>
              <a:defRPr sz="7000" b="0" spc="0">
                <a:solidFill>
                  <a:srgbClr val="FFFFFF"/>
                </a:solidFill>
                <a:latin typeface="Beeline Sans Medium"/>
                <a:ea typeface="Beeline Sans Medium"/>
                <a:cs typeface="Beeline Sans Medium"/>
                <a:sym typeface="Beeline Sans Medium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61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6969338" y="12456162"/>
            <a:ext cx="505863" cy="513077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1828800">
              <a:defRPr sz="2400">
                <a:solidFill>
                  <a:srgbClr val="262626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 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19196" y="565867"/>
            <a:ext cx="20918184" cy="1201292"/>
          </a:xfrm>
          <a:prstGeom prst="rect">
            <a:avLst/>
          </a:prstGeom>
        </p:spPr>
        <p:txBody>
          <a:bodyPr lIns="91437" tIns="91437" rIns="91437" bIns="91437"/>
          <a:lstStyle>
            <a:lvl1pPr defTabSz="1828800">
              <a:lnSpc>
                <a:spcPct val="90000"/>
              </a:lnSpc>
              <a:defRPr sz="7000" b="0" spc="0">
                <a:solidFill>
                  <a:srgbClr val="FFFFFF"/>
                </a:solidFill>
                <a:latin typeface="Beeline Sans Medium"/>
                <a:ea typeface="Beeline Sans Medium"/>
                <a:cs typeface="Beeline Sans Medium"/>
                <a:sym typeface="Beeline Sans Medium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69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6969338" y="12456162"/>
            <a:ext cx="505863" cy="513077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1828800">
              <a:defRPr sz="2400">
                <a:solidFill>
                  <a:srgbClr val="262626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713877" y="672502"/>
            <a:ext cx="21031202" cy="1387311"/>
          </a:xfrm>
          <a:prstGeom prst="rect">
            <a:avLst/>
          </a:prstGeom>
        </p:spPr>
        <p:txBody>
          <a:bodyPr lIns="91437" tIns="91437" rIns="91437" bIns="91437" anchor="ctr"/>
          <a:lstStyle>
            <a:lvl1pPr defTabSz="1828754">
              <a:lnSpc>
                <a:spcPct val="90000"/>
              </a:lnSpc>
              <a:defRPr sz="9000" b="0" spc="0"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r>
              <a:t>Текст заголовка</a:t>
            </a:r>
          </a:p>
        </p:txBody>
      </p:sp>
      <p:sp>
        <p:nvSpPr>
          <p:cNvPr id="177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0" y="0"/>
            <a:ext cx="2542" cy="2542"/>
          </a:xfrm>
          <a:prstGeom prst="rect">
            <a:avLst/>
          </a:prstGeom>
        </p:spPr>
        <p:txBody>
          <a:bodyPr lIns="91437" tIns="91437" rIns="91437" bIns="91437" numCol="1" spcCol="38100"/>
          <a:lstStyle>
            <a:lvl1pPr marL="457187" indent="-457187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1pPr>
            <a:lvl2pPr marL="990575" indent="-533384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2pPr>
            <a:lvl3pPr marL="1554440" indent="-640063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3pPr>
            <a:lvl4pPr marL="2082747" indent="-711181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4pPr>
            <a:lvl5pPr marL="2539936" indent="-711181" defTabSz="1828754">
              <a:spcBef>
                <a:spcPts val="2000"/>
              </a:spcBef>
              <a:buSzPct val="100000"/>
              <a:buFont typeface="Arial"/>
              <a:defRPr sz="5600">
                <a:latin typeface="Beeline Sans"/>
                <a:ea typeface="Beeline Sans"/>
                <a:cs typeface="Beeline Sans"/>
                <a:sym typeface="Beeline Sans"/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78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0" y="0"/>
            <a:ext cx="661006" cy="678176"/>
          </a:xfrm>
          <a:prstGeom prst="rect">
            <a:avLst/>
          </a:prstGeom>
        </p:spPr>
        <p:txBody>
          <a:bodyPr lIns="91437" tIns="91437" rIns="91437" bIns="91437" anchor="t"/>
          <a:lstStyle>
            <a:lvl1pPr algn="l" defTabSz="1828754">
              <a:defRPr sz="3600"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лайд без лиг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Заголовок слайда"/>
          <p:cNvSpPr txBox="1">
            <a:spLocks noGrp="1"/>
          </p:cNvSpPr>
          <p:nvPr>
            <p:ph type="title" hasCustomPrompt="1"/>
          </p:nvPr>
        </p:nvSpPr>
        <p:spPr>
          <a:xfrm>
            <a:off x="1152001" y="648130"/>
            <a:ext cx="19972510" cy="960010"/>
          </a:xfrm>
          <a:prstGeom prst="rect">
            <a:avLst/>
          </a:prstGeom>
        </p:spPr>
        <p:txBody>
          <a:bodyPr lIns="91437" tIns="91437" rIns="91437" bIns="91437"/>
          <a:lstStyle>
            <a:lvl1pPr defTabSz="1828754">
              <a:lnSpc>
                <a:spcPct val="90000"/>
              </a:lnSpc>
              <a:defRPr sz="9000" b="0" spc="0">
                <a:latin typeface="Beeline Sans Black"/>
                <a:ea typeface="Beeline Sans Black"/>
                <a:cs typeface="Beeline Sans Black"/>
                <a:sym typeface="Beeline Sans Black"/>
              </a:defRPr>
            </a:lvl1pPr>
          </a:lstStyle>
          <a:p>
            <a:r>
              <a:t>Заголовок слайда</a:t>
            </a:r>
          </a:p>
        </p:txBody>
      </p:sp>
      <p:pic>
        <p:nvPicPr>
          <p:cNvPr id="186" name="Рисунок 4" descr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7750" y="807259"/>
            <a:ext cx="641745" cy="641745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6969338" y="12456162"/>
            <a:ext cx="505863" cy="513077"/>
          </a:xfrm>
          <a:prstGeom prst="rect">
            <a:avLst/>
          </a:prstGeom>
        </p:spPr>
        <p:txBody>
          <a:bodyPr lIns="91437" tIns="91437" rIns="91437" bIns="91437" anchor="ctr"/>
          <a:lstStyle>
            <a:lvl1pPr algn="r" defTabSz="1828754">
              <a:defRPr sz="2400"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Уровень текста 1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3"/>
            <a:ext cx="21971000" cy="82560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numCol="2" spcCol="1098550">
            <a:normAutofit/>
          </a:bodyPr>
          <a:lstStyle/>
          <a:p>
            <a:r>
              <a:t>Текст пункта на слайде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3653366" y="2743200"/>
            <a:ext cx="19507201" cy="15053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 err="1"/>
              <a:t>Текст</a:t>
            </a:r>
            <a:r>
              <a:rPr dirty="0"/>
              <a:t> </a:t>
            </a:r>
            <a:r>
              <a:rPr dirty="0" err="1"/>
              <a:t>заголовка</a:t>
            </a:r>
            <a:endParaRPr dirty="0"/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12001500" y="13080999"/>
            <a:ext cx="368504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ransition spd="med"/>
  <p:txStyles>
    <p:titleStyle>
      <a:lvl1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l" defTabSz="2438337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titleStyle>
    <p:bodyStyle>
      <a:lvl1pPr marL="609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1219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1828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2438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30480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36576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42672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48768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5486400" marR="0" indent="-609600" algn="l" defTabSz="2438337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6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7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76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chart" Target="../charts/chart10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chart" Target="../charts/chart1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chart" Target="../charts/chart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3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image" Target="../media/image36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chart" Target="../charts/chart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Relationship Id="rId3" Type="http://schemas.openxmlformats.org/officeDocument/2006/relationships/chart" Target="../charts/chart1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899562-5539-A2EC-13B6-25296BF6F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/>
          <p:cNvSpPr txBox="1"/>
          <p:nvPr/>
        </p:nvSpPr>
        <p:spPr>
          <a:xfrm>
            <a:off x="12105657" y="1474027"/>
            <a:ext cx="12278343" cy="880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01</a:t>
            </a:r>
          </a:p>
        </p:txBody>
      </p:sp>
      <p:sp>
        <p:nvSpPr>
          <p:cNvPr id="206" name="медиа-давление и бюджет"/>
          <p:cNvSpPr txBox="1"/>
          <p:nvPr/>
        </p:nvSpPr>
        <p:spPr>
          <a:xfrm>
            <a:off x="2391927" y="5144710"/>
            <a:ext cx="12923158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wrap="none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задача</a:t>
            </a:r>
            <a:br>
              <a:rPr lang="ru-RU" dirty="0"/>
            </a:br>
            <a:r>
              <a:rPr lang="ru-RU" dirty="0"/>
              <a:t>и данные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Задача и данные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Постановка задачи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7315200" cy="9144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7" y="362102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1414"/>
                </a:solidFill>
                <a:latin typeface="Beeline Sans"/>
              </a:rPr>
              <a:t>Дано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4754880"/>
            <a:ext cx="6309360" cy="73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шесть участков: три от организаторов (Восток, Юго-восток, Югоцентр) и три наших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414 заявок на один день: аварии, подключения, ремонт, дозаказ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70 бригад; бригада — один инженер со своими навыками, транспортом, домом и графиком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у заявки есть окно начала работ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0768" y="3200400"/>
            <a:ext cx="7315200" cy="9144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79408" y="3621024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1414"/>
                </a:solidFill>
                <a:latin typeface="Beeline Sans"/>
              </a:rPr>
              <a:t>Ограничения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4754880"/>
            <a:ext cx="6309360" cy="731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у бригады есть навык заявки, на узел связи — только на машине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работа начинается внутри окна, приехать раньше можно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смена по графику 2/2 или 5/2, обед 45 минут между 13 и 16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время работы зависит от дома (этаж, лифт, год постройки) и темпа бригады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оборудование берут утром, пешком много не унести</a:t>
            </a:r>
          </a:p>
          <a:p>
            <a:pPr algn="l" marL="438912" indent="-438912">
              <a:spcBef>
                <a:spcPts val="14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бригада выезжает утром из дома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03167" y="3200400"/>
            <a:ext cx="7498079" cy="914400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6751808" y="3621024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41414"/>
                </a:solidFill>
                <a:latin typeface="Beeline Sans"/>
              </a:rPr>
              <a:t>Порядок целей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51808" y="4700016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196560" y="4809744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Выполнить все заявки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196560" y="550468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если все не помещаются, первыми назначаем аварии, затем подключения, затем ремонт и дозаказ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51808" y="713232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196560" y="7242048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Меньше бригад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96560" y="7936992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каждая бригада на день — это рабочая смена инженера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51808" y="9564624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196560" y="9674352"/>
            <a:ext cx="5212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Меньше километров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96560" y="10369296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при том же числе бригад; к аварии приезжаем как можно раньше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Задача и данные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Исходные данные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08960"/>
            <a:ext cx="23042880" cy="1920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7" y="3108960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205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7" y="3438144"/>
            <a:ext cx="1828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заявок в трёх CSV-файлах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7" y="4206240"/>
            <a:ext cx="18288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кодировка CP1251, адрес офиса в последней строке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5266944"/>
            <a:ext cx="20665439" cy="1920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395728" y="5266944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205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7" y="5596128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адресов переведены в координаты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7" y="6364224"/>
            <a:ext cx="159105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Nominatim, результат сохранён в репозитории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35808" y="7424927"/>
            <a:ext cx="18288000" cy="1920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584448" y="7424927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7754111"/>
            <a:ext cx="1353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матрицы времени и расстояний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8522207"/>
            <a:ext cx="135331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машина, пешком, велосипед, общественный транспорт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24528" y="9582912"/>
            <a:ext cx="15910559" cy="192024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773168" y="9582912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0767" y="9912096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тестовых задач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7" y="10680192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24 на контрольный день (3 участка, 4 варианта транспорта, 2 варианта навыков), 40 на реальные дни 28–29.09, 24 на сгенерированных участках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12252960"/>
            <a:ext cx="2304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8C8C8C"/>
                </a:solidFill>
                <a:latin typeface="Beeline Sans"/>
              </a:rPr>
              <a:t>*Контрольный день 17.08: контрольная выгрузка организаторов за реальный день. Реальные дни: выгрузки за 28–29.09. Сгенерированные участки: адреса из OpenStreetMap.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Задача и данные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Генерация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96265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Чего не хватало в данных организаторов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40480"/>
            <a:ext cx="10789920" cy="26517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60704" y="4059936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096512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Бригады и навыки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700016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Состав бригад и их дома в области берём с контрольного дня. Навыки в двух вариантах: то, что бригада реально выполняла в тот день, или все три.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6711696"/>
            <a:ext cx="10789920" cy="26517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60704" y="6931152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6967728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Транспорт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7571231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Четыре варианта: все на общественном транспорте, все на машине и два смешанных. В смешанных бригады из области на машине, московские: 60% общественный транспорт, 25% машина, 10% велосипед, 5% пешком. Итого 8 задач на каждый день участка.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9582912"/>
            <a:ext cx="10789920" cy="26517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60704" y="9802368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9838944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Только машина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10442448"/>
            <a:ext cx="8686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Для аварий на узле связи и подключений с заказом оборудования нужен автомобиль: 4 из 66 заявок Востока, 19 из 83 Юго-востока.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0" y="2962656"/>
            <a:ext cx="1163116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Новые участки Москвы: Север, Запад, Северо-восток</a:t>
            </a:r>
          </a:p>
        </p:txBody>
      </p:sp>
      <p:pic>
        <p:nvPicPr>
          <p:cNvPr id="21" name="Picture 20" descr="gen_Север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0" y="3842308"/>
            <a:ext cx="3767328" cy="3013862"/>
          </a:xfrm>
          <a:prstGeom prst="roundRect">
            <a:avLst>
              <a:gd name="adj" fmla="val 4000"/>
            </a:avLst>
          </a:prstGeom>
        </p:spPr>
      </p:pic>
      <p:sp>
        <p:nvSpPr>
          <p:cNvPr id="22" name="TextBox 21"/>
          <p:cNvSpPr txBox="1"/>
          <p:nvPr/>
        </p:nvSpPr>
        <p:spPr>
          <a:xfrm>
            <a:off x="12070080" y="6949440"/>
            <a:ext cx="3767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141414"/>
                </a:solidFill>
                <a:latin typeface="Beeline Sans"/>
              </a:rPr>
              <a:t>Север</a:t>
            </a:r>
          </a:p>
        </p:txBody>
      </p:sp>
      <p:pic>
        <p:nvPicPr>
          <p:cNvPr id="23" name="Picture 22" descr="gen_Запад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0" y="3842308"/>
            <a:ext cx="3767328" cy="3013862"/>
          </a:xfrm>
          <a:prstGeom prst="roundRect">
            <a:avLst>
              <a:gd name="adj" fmla="val 4000"/>
            </a:avLst>
          </a:prstGeom>
        </p:spPr>
      </p:pic>
      <p:sp>
        <p:nvSpPr>
          <p:cNvPr id="24" name="TextBox 23"/>
          <p:cNvSpPr txBox="1"/>
          <p:nvPr/>
        </p:nvSpPr>
        <p:spPr>
          <a:xfrm>
            <a:off x="16002000" y="6949440"/>
            <a:ext cx="3767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141414"/>
                </a:solidFill>
                <a:latin typeface="Beeline Sans"/>
              </a:rPr>
              <a:t>Запад</a:t>
            </a:r>
          </a:p>
        </p:txBody>
      </p:sp>
      <p:pic>
        <p:nvPicPr>
          <p:cNvPr id="25" name="Picture 24" descr="gen_Северо-восток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3919" y="3842308"/>
            <a:ext cx="3767328" cy="3013862"/>
          </a:xfrm>
          <a:prstGeom prst="roundRect">
            <a:avLst>
              <a:gd name="adj" fmla="val 4000"/>
            </a:avLst>
          </a:prstGeom>
        </p:spPr>
      </p:pic>
      <p:sp>
        <p:nvSpPr>
          <p:cNvPr id="26" name="TextBox 25"/>
          <p:cNvSpPr txBox="1"/>
          <p:nvPr/>
        </p:nvSpPr>
        <p:spPr>
          <a:xfrm>
            <a:off x="19933919" y="6949440"/>
            <a:ext cx="37673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1" i="0">
                <a:solidFill>
                  <a:srgbClr val="141414"/>
                </a:solidFill>
                <a:latin typeface="Beeline Sans"/>
              </a:rPr>
              <a:t>Северо-восток</a:t>
            </a:r>
          </a:p>
        </p:txBody>
      </p:sp>
      <p:sp>
        <p:nvSpPr>
          <p:cNvPr id="27" name="Oval 26"/>
          <p:cNvSpPr/>
          <p:nvPr/>
        </p:nvSpPr>
        <p:spPr>
          <a:xfrm>
            <a:off x="12070080" y="7680960"/>
            <a:ext cx="292608" cy="29260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472415" y="7571231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E5E5E"/>
                </a:solidFill>
                <a:latin typeface="Beeline Sans"/>
              </a:rPr>
              <a:t>подключение</a:t>
            </a:r>
          </a:p>
        </p:txBody>
      </p:sp>
      <p:sp>
        <p:nvSpPr>
          <p:cNvPr id="29" name="Oval 28"/>
          <p:cNvSpPr/>
          <p:nvPr/>
        </p:nvSpPr>
        <p:spPr>
          <a:xfrm>
            <a:off x="14785847" y="7680960"/>
            <a:ext cx="292608" cy="292608"/>
          </a:xfrm>
          <a:prstGeom prst="ellipse">
            <a:avLst/>
          </a:prstGeom>
          <a:solidFill>
            <a:srgbClr val="A1A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188184" y="7571231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E5E5E"/>
                </a:solidFill>
                <a:latin typeface="Beeline Sans"/>
              </a:rPr>
              <a:t>ремонт</a:t>
            </a:r>
          </a:p>
        </p:txBody>
      </p:sp>
      <p:sp>
        <p:nvSpPr>
          <p:cNvPr id="31" name="Oval 30"/>
          <p:cNvSpPr/>
          <p:nvPr/>
        </p:nvSpPr>
        <p:spPr>
          <a:xfrm>
            <a:off x="16724376" y="7680960"/>
            <a:ext cx="292608" cy="292608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126712" y="7571231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E5E5E"/>
                </a:solidFill>
                <a:latin typeface="Beeline Sans"/>
              </a:rPr>
              <a:t>авария</a:t>
            </a:r>
          </a:p>
        </p:txBody>
      </p:sp>
      <p:sp>
        <p:nvSpPr>
          <p:cNvPr id="33" name="Oval 32"/>
          <p:cNvSpPr/>
          <p:nvPr/>
        </p:nvSpPr>
        <p:spPr>
          <a:xfrm>
            <a:off x="18662904" y="7680960"/>
            <a:ext cx="292608" cy="292608"/>
          </a:xfrm>
          <a:prstGeom prst="ellipse">
            <a:avLst/>
          </a:prstGeom>
          <a:solidFill>
            <a:srgbClr val="F47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065240" y="7571231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5E5E5E"/>
                </a:solidFill>
                <a:latin typeface="Beeline Sans"/>
              </a:rPr>
              <a:t>дозаказ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0" y="8321040"/>
            <a:ext cx="11631168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200" b="0" i="0">
                <a:solidFill>
                  <a:srgbClr val="141414"/>
                </a:solidFill>
                <a:latin typeface="Beeline Sans"/>
              </a:rPr>
              <a:t>адреса настоящих жилых домов из OpenStreetMap, районы по их границам в OSM</a:t>
            </a:r>
          </a:p>
          <a:p>
            <a:pPr algn="l" marL="438912" indent="-438912">
              <a:spcBef>
                <a:spcPts val="800"/>
              </a:spcBef>
              <a:buClr>
                <a:srgbClr val="141414"/>
              </a:buClr>
              <a:buFont typeface="Beeline Sans"/>
              <a:buChar char="—"/>
            </a:pPr>
            <a:r>
              <a:rPr sz="2200" b="0" i="0">
                <a:solidFill>
                  <a:srgbClr val="141414"/>
                </a:solidFill>
                <a:latin typeface="Beeline Sans"/>
              </a:rPr>
              <a:t>60–76 заявок, окна по 2 часа с теми же долями по времени дня, что у организаторов</a:t>
            </a:r>
          </a:p>
          <a:p>
            <a:pPr algn="l" marL="438912" indent="-438912">
              <a:spcBef>
                <a:spcPts val="800"/>
              </a:spcBef>
              <a:buClr>
                <a:srgbClr val="141414"/>
              </a:buClr>
              <a:buFont typeface="Beeline Sans"/>
              <a:buChar char="—"/>
            </a:pPr>
            <a:r>
              <a:rPr sz="2200" b="0" i="0">
                <a:solidFill>
                  <a:srgbClr val="141414"/>
                </a:solidFill>
                <a:latin typeface="Beeline Sans"/>
              </a:rPr>
              <a:t>типы в долях трёх участков: подключение 46%, ремонт 38%, авария 10%, дозаказ 6%; треть аварий с окном на весь день</a:t>
            </a:r>
          </a:p>
          <a:p>
            <a:pPr algn="l" marL="438912" indent="-438912">
              <a:spcBef>
                <a:spcPts val="800"/>
              </a:spcBef>
              <a:buClr>
                <a:srgbClr val="141414"/>
              </a:buClr>
              <a:buFont typeface="Beeline Sans"/>
              <a:buChar char="—"/>
            </a:pPr>
            <a:r>
              <a:rPr sz="2200" b="0" i="0">
                <a:solidFill>
                  <a:srgbClr val="141414"/>
                </a:solidFill>
                <a:latin typeface="Beeline Sans"/>
              </a:rPr>
              <a:t>по районам неравномерно, самый крупный не больше 20% заявок</a:t>
            </a:r>
          </a:p>
          <a:p>
            <a:pPr algn="l" marL="438912" indent="-438912">
              <a:spcBef>
                <a:spcPts val="800"/>
              </a:spcBef>
              <a:buClr>
                <a:srgbClr val="141414"/>
              </a:buClr>
              <a:buFont typeface="Beeline Sans"/>
              <a:buChar char="—"/>
            </a:pPr>
            <a:r>
              <a:rPr sz="2200" b="0" i="0">
                <a:solidFill>
                  <a:srgbClr val="141414"/>
                </a:solidFill>
                <a:latin typeface="Beeline Sans"/>
              </a:rPr>
              <a:t>11–12 бригад, наборы навыков с частотами контрольного дня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Задача и данные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Расстояния и время в пути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291840"/>
            <a:ext cx="5394960" cy="402336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4114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5778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Адреса и дома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7040880"/>
            <a:ext cx="52120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5E5E5E"/>
                </a:solidFill>
                <a:latin typeface="Beeline Sans"/>
              </a:rPr>
              <a:t>координаты адреса и данные дома: подъезды, этажность, лифт, год постройки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73952" y="3291840"/>
            <a:ext cx="5394960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73952" y="4114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55778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Дороги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7040880"/>
            <a:ext cx="52120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5E5E5E"/>
                </a:solidFill>
                <a:latin typeface="Beeline Sans"/>
              </a:rPr>
              <a:t>свой сервер OSRM на карте Москвы и области: машина, пешком, велосипед. К каждой поездке +5 минут на машине на парковку и поиск подъезда, 3 минуты для остальных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54496" y="4114800"/>
            <a:ext cx="0" cy="6126480"/>
          </a:xfrm>
          <a:prstGeom prst="line">
            <a:avLst/>
          </a:prstGeom>
          <a:ln w="19050">
            <a:solidFill>
              <a:srgbClr val="A1A1A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2289536" y="3291840"/>
            <a:ext cx="5394960" cy="402336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289536" y="4114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89536" y="55778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Пробки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89536" y="7040880"/>
            <a:ext cx="52120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5E5E5E"/>
                </a:solidFill>
                <a:latin typeface="Beeline Sans"/>
              </a:rPr>
              <a:t>время на машине меняется по часу дня и дню недели (профиль TomTom) и по месту: сетка HERE с ячейкой около 330 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070080" y="4114800"/>
            <a:ext cx="0" cy="6126480"/>
          </a:xfrm>
          <a:prstGeom prst="line">
            <a:avLst/>
          </a:prstGeom>
          <a:ln w="19050">
            <a:solidFill>
              <a:srgbClr val="A1A1A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8105120" y="3291840"/>
            <a:ext cx="5394960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8105120" y="41148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#4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105120" y="557784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Общественный транспорт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05120" y="7040880"/>
            <a:ext cx="521208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5E5E5E"/>
                </a:solidFill>
                <a:latin typeface="Beeline Sans"/>
              </a:rPr>
              <a:t>маршруты по расписаниям: метро, МЦК, МЦД, электрички, автобусы и трамваи, пешком до остановки по дорогам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7885664" y="4114800"/>
            <a:ext cx="0" cy="6126480"/>
          </a:xfrm>
          <a:prstGeom prst="line">
            <a:avLst/>
          </a:prstGeom>
          <a:ln w="19050">
            <a:solidFill>
              <a:srgbClr val="A1A1A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58368" y="10881360"/>
            <a:ext cx="23042880" cy="1463040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15568" y="11100816"/>
            <a:ext cx="2212848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0" i="0">
                <a:solidFill>
                  <a:srgbClr val="141414"/>
                </a:solidFill>
                <a:latin typeface="Beeline Sans"/>
              </a:rPr>
              <a:t>Для каждого вида транспорта строим матрицы времени и расстояния между всеми точками участка. Их получает оптимизатор.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Задача и данные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Архитектура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4279392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60704" y="356616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4572000"/>
            <a:ext cx="354787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заявки и бригады участка (xlsx или CSV)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отзывы клиентов и фактические выезды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нормативы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74336" y="5943600"/>
            <a:ext cx="347471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358383" y="3200400"/>
            <a:ext cx="4279392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760720" y="356616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Подготовка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572000"/>
            <a:ext cx="354787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координаты адресов и данные домов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матрицы времени: дороги, пробки, расписания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длительность каждой работы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74351" y="5943600"/>
            <a:ext cx="347473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58400" y="3200400"/>
            <a:ext cx="4279392" cy="54864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460736" y="356616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C800"/>
                </a:solidFill>
                <a:latin typeface="Beeline Sans"/>
              </a:rPr>
              <a:t>Оптимизатор C++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60736" y="4572000"/>
            <a:ext cx="354787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параллельные потоки, 3 секунды на обычный участок</a:t>
            </a:r>
          </a:p>
          <a:p>
            <a:pPr algn="l" marL="438912" indent="-438912">
              <a:spcBef>
                <a:spcPts val="1000"/>
              </a:spcBef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выполняет все заявки минимальным числом бригад с минимальным пробегом</a:t>
            </a:r>
          </a:p>
          <a:p>
            <a:pPr algn="l" marL="438912" indent="-438912">
              <a:spcBef>
                <a:spcPts val="1000"/>
              </a:spcBef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нижняя граница — отдельно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374367" y="5943600"/>
            <a:ext cx="347473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4758415" y="3200400"/>
            <a:ext cx="4279392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5160751" y="356616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Валидация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60751" y="4572000"/>
            <a:ext cx="354787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независимая проверка check_plan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все ограничения: окна, смены, обед, оборудование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время и км считает заново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074383" y="5943600"/>
            <a:ext cx="347473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9458431" y="3200400"/>
            <a:ext cx="4279392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9860768" y="3566160"/>
            <a:ext cx="35478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Интерфейс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860768" y="4572000"/>
            <a:ext cx="354787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экран диспетчера: карта, шкала, причины назначений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экран инженера на телефоне</a:t>
            </a:r>
          </a:p>
          <a:p>
            <a:pPr algn="l" marL="438912" indent="-438912">
              <a:spcBef>
                <a:spcPts val="1000"/>
              </a:spcBef>
              <a:buClr>
                <a:srgbClr val="141414"/>
              </a:buClr>
              <a:buFont typeface="Beeline Sans"/>
              <a:buChar char="—"/>
            </a:pPr>
            <a:r>
              <a:rPr sz="2300" b="0" i="0">
                <a:solidFill>
                  <a:srgbClr val="141414"/>
                </a:solidFill>
                <a:latin typeface="Beeline Sans"/>
              </a:rPr>
              <a:t>сервер пересчёта событий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9326880"/>
            <a:ext cx="23042880" cy="30175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9326880"/>
            <a:ext cx="6035040" cy="3017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События в течение дня</a:t>
            </a:r>
          </a:p>
          <a:p>
            <a:pPr algn="l">
              <a:spcBef>
                <a:spcPts val="120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авария, новая заявка, отмена, задержка, перенос окна, поломка, инженер выбыл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06640" y="10826496"/>
            <a:ext cx="1280160" cy="0"/>
          </a:xfrm>
          <a:prstGeom prst="line">
            <a:avLst/>
          </a:prstGeom>
          <a:ln w="5588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0" y="9326880"/>
            <a:ext cx="14081760" cy="3017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0" i="0">
                <a:solidFill>
                  <a:srgbClr val="141414"/>
                </a:solidFill>
                <a:latin typeface="Beeline Sans"/>
              </a:rPr>
              <a:t>При событии оптимизатор запускается заново от текущего состояния. Выполненные и начатые заявки закреплены, остальное пересчитывается по правилам перепланирования. Изменения видны на карте и в таблице.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5C13C3-1F94-10AF-8FD7-D4DCE99B2C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>
            <a:extLst>
              <a:ext uri="{FF2B5EF4-FFF2-40B4-BE49-F238E27FC236}">
                <a16:creationId xmlns:a16="http://schemas.microsoft.com/office/drawing/2014/main" id="{2D0F6E16-E2E7-C956-A9B6-63D7BCB0538D}"/>
              </a:ext>
            </a:extLst>
          </p:cNvPr>
          <p:cNvSpPr txBox="1"/>
          <p:nvPr/>
        </p:nvSpPr>
        <p:spPr>
          <a:xfrm>
            <a:off x="616227" y="-889000"/>
            <a:ext cx="14698858" cy="9828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02</a:t>
            </a:r>
            <a:endParaRPr dirty="0"/>
          </a:p>
        </p:txBody>
      </p:sp>
      <p:sp>
        <p:nvSpPr>
          <p:cNvPr id="206" name="медиа-давление и бюджет">
            <a:extLst>
              <a:ext uri="{FF2B5EF4-FFF2-40B4-BE49-F238E27FC236}">
                <a16:creationId xmlns:a16="http://schemas.microsoft.com/office/drawing/2014/main" id="{D17FC182-CFD1-F8DC-459F-9C689C3755FB}"/>
              </a:ext>
            </a:extLst>
          </p:cNvPr>
          <p:cNvSpPr txBox="1"/>
          <p:nvPr/>
        </p:nvSpPr>
        <p:spPr>
          <a:xfrm>
            <a:off x="13405764" y="5525710"/>
            <a:ext cx="10978236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wrap="none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алгоритм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Алгоритм по шагам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4389120" cy="6492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356616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01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5394960"/>
            <a:ext cx="3511296" cy="0"/>
          </a:xfrm>
          <a:prstGeom prst="line">
            <a:avLst/>
          </a:prstGeom>
          <a:ln w="19050">
            <a:solidFill>
              <a:srgbClr val="14141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56692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Начальный план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949440"/>
            <a:ext cx="362102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сначала ставим заявки с наибольшей упущенной выгодой: второй вариант вставки у них намного хуже лучшего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21807" y="3200400"/>
            <a:ext cx="4389120" cy="6492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760719" y="356616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02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60719" y="5394960"/>
            <a:ext cx="3511297" cy="0"/>
          </a:xfrm>
          <a:prstGeom prst="line">
            <a:avLst/>
          </a:prstGeom>
          <a:ln w="19050">
            <a:solidFill>
              <a:srgbClr val="14141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760719" y="56692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Меньше бригад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19" y="6949440"/>
            <a:ext cx="362102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имитация отжига и ALNS: убираем маршрут и распределяем его заявки по остальным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85248" y="3200400"/>
            <a:ext cx="4389120" cy="6492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424160" y="356616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03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424160" y="5394960"/>
            <a:ext cx="3511296" cy="0"/>
          </a:xfrm>
          <a:prstGeom prst="line">
            <a:avLst/>
          </a:prstGeom>
          <a:ln w="19050">
            <a:solidFill>
              <a:srgbClr val="14141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424160" y="56692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Меньше пробега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949440"/>
            <a:ext cx="362102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SISR: вырезаем цепочки заявок и вставляем туда, где дешевле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648688" y="3200400"/>
            <a:ext cx="4389120" cy="649224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5087600" y="356616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04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087600" y="5394960"/>
            <a:ext cx="3511296" cy="0"/>
          </a:xfrm>
          <a:prstGeom prst="line">
            <a:avLst/>
          </a:prstGeom>
          <a:ln w="19050">
            <a:solidFill>
              <a:srgbClr val="14141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5087600" y="56692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Нижняя граница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0" y="6949440"/>
            <a:ext cx="362102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генерация столбцов показывает, меньше какого числа бригад и км сделать нельзя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312127" y="3200400"/>
            <a:ext cx="4389120" cy="64922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751039" y="3566160"/>
            <a:ext cx="2560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FFC800"/>
                </a:solidFill>
                <a:latin typeface="Beeline Sans Black"/>
              </a:rPr>
              <a:t>05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751039" y="5394960"/>
            <a:ext cx="3511296" cy="0"/>
          </a:xfrm>
          <a:prstGeom prst="line">
            <a:avLst/>
          </a:prstGeom>
          <a:ln w="19050">
            <a:solidFill>
              <a:srgbClr val="FFC8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9751039" y="566928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Beeline Sans"/>
              </a:rPr>
              <a:t>Проверка плана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751039" y="6949440"/>
            <a:ext cx="362102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FFFFFF"/>
                </a:solidFill>
                <a:latin typeface="Beeline Sans"/>
              </a:rPr>
              <a:t>отдельный модуль check_plan заново считает время и км и проверяет все ограничения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10241280"/>
            <a:ext cx="23042880" cy="21031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115568" y="10460736"/>
            <a:ext cx="22128480" cy="1664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Шаги 1–3 </a:t>
            </a:r>
            <a:r>
              <a:rPr sz="2600" b="0" i="0">
                <a:solidFill>
                  <a:srgbClr val="FFFFFF"/>
                </a:solidFill>
                <a:latin typeface="Beeline Sans"/>
              </a:rPr>
              <a:t>выполняют параллельные потоки, они обмениваются лучшим решением; на обычный участок уходит 3 секунды. Шаг 4 для работы не нужен: его считаем отдельно, чтобы знать, насколько план близок к лучшему возможному. Шаг 5 проходит каждый план, в том числе после событий дня.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Шаг 1. Начальный план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11704320" cy="9144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lgo_regr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394" y="3474720"/>
            <a:ext cx="10474266" cy="8595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984480" y="3291840"/>
            <a:ext cx="10698480" cy="6035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41414"/>
                </a:solidFill>
                <a:latin typeface="Beeline Sans"/>
              </a:rPr>
              <a:t>Для каждой заявки ищем лучшее место в каждом маршруте и считаем, сколько километров добавит вставка. Если бригада не успевает в окно, вариант не подходит.</a:t>
            </a:r>
          </a:p>
          <a:p>
            <a:pPr algn="l">
              <a:spcBef>
                <a:spcPts val="2800"/>
              </a:spcBef>
            </a:pPr>
            <a:r>
              <a:rPr sz="2800" b="1" i="0">
                <a:solidFill>
                  <a:srgbClr val="141414"/>
                </a:solidFill>
                <a:latin typeface="Beeline Sans"/>
              </a:rPr>
              <a:t>Упущенная выгода</a:t>
            </a:r>
            <a:r>
              <a:rPr sz="2800" b="0" i="0">
                <a:solidFill>
                  <a:srgbClr val="141414"/>
                </a:solidFill>
                <a:latin typeface="Beeline Sans"/>
              </a:rPr>
              <a:t> — насколько второй по стоимости вариант хуже лучшего. Если она большая, удобное место у заявки одно, и другая заявка легко его займёт.</a:t>
            </a:r>
          </a:p>
          <a:p>
            <a:pPr algn="l">
              <a:spcBef>
                <a:spcPts val="2800"/>
              </a:spcBef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Первой ставим заявку с наибольшей упущенной выгодой, пересчитываем и повторяем. Аварии и заявки с редким навыком обычно попадают в начало.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984480" y="9692640"/>
            <a:ext cx="10698480" cy="2651760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441680" y="9912096"/>
            <a:ext cx="9784080" cy="2212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Базовый вариант из ТЗ идёт по заявкам в порядке файла и отдаёт каждую первому подходящему инженеру. На Востоке он использует 12 бригад и не выполняет 28 заявок из 66.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Beeline Sans"/>
              </a:rPr>
              <a:t>Параллельный поиск: 8 потоков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6858000" y="4114800"/>
            <a:ext cx="0" cy="3749040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858000" y="5212868"/>
            <a:ext cx="3362207" cy="2650972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858000" y="7863840"/>
            <a:ext cx="4754880" cy="0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7863840"/>
            <a:ext cx="3362207" cy="2650971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7863840"/>
            <a:ext cx="0" cy="3749040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495792" y="7863840"/>
            <a:ext cx="3362208" cy="2650971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103120" y="7863840"/>
            <a:ext cx="4754880" cy="0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495792" y="5212868"/>
            <a:ext cx="3362208" cy="2650972"/>
          </a:xfrm>
          <a:prstGeom prst="line">
            <a:avLst/>
          </a:prstGeom>
          <a:ln w="3048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80560" y="6858000"/>
            <a:ext cx="4754880" cy="2011680"/>
          </a:xfrm>
          <a:prstGeom prst="roundRect">
            <a:avLst>
              <a:gd name="adj" fmla="val 20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3440" y="6949440"/>
            <a:ext cx="438912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>
                <a:solidFill>
                  <a:srgbClr val="141414"/>
                </a:solidFill>
                <a:latin typeface="Beeline Sans"/>
              </a:rPr>
              <a:t>общее хранилище</a:t>
            </a:r>
          </a:p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141414"/>
                </a:solidFill>
                <a:latin typeface="Beeline Sans"/>
              </a:rPr>
              <a:t>лучшего плана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3511296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586984" y="3511296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отжиг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02887" y="4609364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49191" y="4609364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ALNS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59" y="7260336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0341863" y="7260336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SISR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2887" y="9911307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949191" y="9911307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отжиг со сменой бригад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11009376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586984" y="11009376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обмен начал маршрутов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78472" y="9911307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224776" y="9911307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копия: отжиг со сменой бригад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799" y="7260336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2103" y="7260336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копия: отжиг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78472" y="4609364"/>
            <a:ext cx="2834640" cy="1207008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224776" y="4609364"/>
            <a:ext cx="2542032" cy="12070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100" b="1" i="0">
                <a:solidFill>
                  <a:srgbClr val="141414"/>
                </a:solidFill>
                <a:latin typeface="Beeline Sans"/>
              </a:rPr>
              <a:t>копия: SISR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0" y="310896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Отжиг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0" y="365760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Beeline Sans"/>
              </a:rPr>
              <a:t>убирает маршрут и перетасовывает заявки мелкими ходами, пока все не встанут в план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0" y="457200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ALNS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0" y="512064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Beeline Sans"/>
              </a:rPr>
              <a:t>выбрасывает часть плана и собирает заново; заявки, которые часто остаются без места, дорожают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0" y="603504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SISR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0" y="6583679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Beeline Sans"/>
              </a:rPr>
              <a:t>сокращает пробег, переставляя цепочки заявок между маршрутами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0" y="749808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Отжиг со сменой бригад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0" y="80467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Beeline Sans"/>
              </a:rPr>
              <a:t>переносит конец маршрута на свободную бригаду и убирает маленький маршрут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0" y="896112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Обмен начал маршрутов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0" y="950976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Beeline Sans"/>
              </a:rPr>
              <a:t>две бригады меняются заявками до выбранного часа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0" y="1042416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Копия задачи, 3 потока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0" y="1097280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Beeline Sans"/>
              </a:rPr>
              <a:t>ищут план, где выезд бригады из своего района дороже, и отдают его основным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0" y="1197864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A1A1A1"/>
                </a:solidFill>
                <a:latin typeface="Beeline Sans"/>
              </a:rPr>
              <a:t>Так при старте бригад из дома (все демо-участки). При выезде всех из офиса: 2 отжига, 2 ALNS, SISR, смена бригад, обмен начал и подсказка по районам. Если ядер меньше 8, работает часть ролей.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14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Как потоки обмениваются планом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8328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24128" y="338328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  <a:latin typeface="Beeline Sans"/>
              </a:rPr>
              <a:t>поток 1</a:t>
            </a:r>
          </a:p>
          <a:p>
            <a:pPr algn="l">
              <a:spcBef>
                <a:spcPts val="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отжиг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480560" y="3931920"/>
            <a:ext cx="2377440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480560" y="4572000"/>
            <a:ext cx="2377440" cy="0"/>
          </a:xfrm>
          <a:prstGeom prst="line">
            <a:avLst/>
          </a:prstGeom>
          <a:ln w="3556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0" y="341985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предложить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6634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8C8C8C"/>
                </a:solidFill>
                <a:latin typeface="Beeline Sans"/>
              </a:rPr>
              <a:t>забрать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76072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576072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  <a:latin typeface="Beeline Sans"/>
              </a:rPr>
              <a:t>поток 2</a:t>
            </a:r>
          </a:p>
          <a:p>
            <a:pPr algn="l">
              <a:spcBef>
                <a:spcPts val="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ALNS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80560" y="6309360"/>
            <a:ext cx="2377440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480560" y="6949440"/>
            <a:ext cx="2377440" cy="0"/>
          </a:xfrm>
          <a:prstGeom prst="line">
            <a:avLst/>
          </a:prstGeom>
          <a:ln w="3556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813816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8138160"/>
            <a:ext cx="31089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  <a:latin typeface="Beeline Sans"/>
              </a:rPr>
              <a:t>поток 3</a:t>
            </a:r>
          </a:p>
          <a:p>
            <a:pPr algn="l">
              <a:spcBef>
                <a:spcPts val="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SISR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80560" y="8686800"/>
            <a:ext cx="2377440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480560" y="9326880"/>
            <a:ext cx="2377440" cy="0"/>
          </a:xfrm>
          <a:prstGeom prst="line">
            <a:avLst/>
          </a:prstGeom>
          <a:ln w="35560">
            <a:solidFill>
              <a:srgbClr val="8C8C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040880" y="3383280"/>
            <a:ext cx="4206240" cy="649224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51775" y="3383280"/>
            <a:ext cx="3657600" cy="649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хранилище</a:t>
            </a:r>
          </a:p>
          <a:p>
            <a:pPr algn="l">
              <a:spcBef>
                <a:spcPts val="40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лучший план</a:t>
            </a:r>
          </a:p>
          <a:p>
            <a:pPr algn="l">
              <a:spcBef>
                <a:spcPts val="40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число бригад</a:t>
            </a:r>
          </a:p>
          <a:p>
            <a:pPr algn="l">
              <a:spcBef>
                <a:spcPts val="400"/>
              </a:spcBef>
            </a:pPr>
            <a:r>
              <a:rPr sz="2400" b="0" i="0">
                <a:solidFill>
                  <a:srgbClr val="141414"/>
                </a:solidFill>
                <a:latin typeface="Beeline Sans"/>
              </a:rPr>
              <a:t>пробег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10789920"/>
            <a:ext cx="106070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План лежит под мьютексом, а число бригад и значение цели читаются атомарно, поэтому потоки почти не ждут друг друга. Скорость около 100 тыс. итераций разрушения и восстановления в секунду на поток.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978640" y="3200400"/>
            <a:ext cx="11722608" cy="204825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399264" y="3383280"/>
            <a:ext cx="14630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07440" y="3419856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Предложить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07440" y="4023360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Поток кладёт найденный план в хранилище. Хранилище принимает его, только если план допустим и строго лучше текущего.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978640" y="5522976"/>
            <a:ext cx="11722608" cy="204825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2399264" y="5705856"/>
            <a:ext cx="14630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07440" y="5742432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Подхватить меньший парк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07440" y="6345936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Потоки сокращения бригад следят за числом бригад в хранилище. Если кто-то нашёл план с меньшим числом, они продолжают от него.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978640" y="7845552"/>
            <a:ext cx="11722608" cy="204825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399264" y="8028431"/>
            <a:ext cx="14630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07440" y="8065008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Миграция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07440" y="8668512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Раз в 5% времени поток, который отстал от лучшего плана больше чем на 0,3%, забирает лучший. Потоки пробега перезапускаются, когда другой поток сократил бригаду.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978640" y="10168128"/>
            <a:ext cx="11722608" cy="204825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2399264" y="10351008"/>
            <a:ext cx="146304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807440" y="10387584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Переход к пробегу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807440" y="10991088"/>
            <a:ext cx="96012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Если число бригад дошло до оценки снизу по суммарной работе, дальше сокращать нечего, и все потоки переходят к километрам.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Нижняя граница: идея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10241280" cy="65836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lgo_colum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572" y="3383280"/>
            <a:ext cx="8928295" cy="62179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005840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1016812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Beeline Sans Black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1009376"/>
            <a:ext cx="28895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41414"/>
                </a:solidFill>
                <a:latin typeface="Beeline Sans"/>
              </a:rPr>
              <a:t>задач: план выходит на доказанный минимум бригад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1005840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07407" y="1016812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Beeline Sans Black"/>
              </a:rPr>
              <a:t>92%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7" y="11009376"/>
            <a:ext cx="28895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41414"/>
                </a:solidFill>
                <a:latin typeface="Beeline Sans"/>
              </a:rPr>
              <a:t>задач: лучший найденный план оптимален целиком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10058400"/>
            <a:ext cx="3291840" cy="2286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82128" y="1016812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Beeline Sans Black"/>
              </a:rPr>
              <a:t>+0,06%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2128" y="11009376"/>
            <a:ext cx="2889504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141414"/>
                </a:solidFill>
                <a:latin typeface="Beeline Sans"/>
              </a:rPr>
              <a:t>пробег лучшего плана к нижней границе в среднем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316382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93040" y="32004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Задача покрытия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40" y="3822191"/>
            <a:ext cx="107899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Каждый допустимый маршрут одной бригады это столбец таблицы: какие заявки он покрывает и сколько стоит. Нужно выбрать столбцы так, чтобы каждая заявка вошла ровно в один. В целых числах эта задача такая же трудная, как исходная.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1813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93040" y="621792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Линейная релаксация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93040" y="6839712"/>
            <a:ext cx="107899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Разрешаем брать маршрут частично, например на 0,5. Такое решение нельзя выполнить: полбригады не бывает. Зато его стоимость легко посчитать, и настоящий план не может быть дешевле. Это и есть нижняя граница.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919886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93040" y="92354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41414"/>
                </a:solidFill>
                <a:latin typeface="Beeline Sans"/>
              </a:rPr>
              <a:t>Что она даёт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93040" y="9857232"/>
            <a:ext cx="107899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Если найденный план совпал с границей, он теоретически оптимален: лучшего плана в этих ограничениях не существует. Если не совпал, граница показывает, сколько максимум можно выиграть.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Нижняя граница: как считаем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11338560" cy="41148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15568" y="347472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3602736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Генерация столбцов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4663440"/>
            <a:ext cx="104241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5E5E5E"/>
                </a:solidFill>
                <a:latin typeface="Beeline Sans"/>
              </a:rPr>
              <a:t>Маршрутов миллиарды, поэтому начинаем с небольшого набора и решаем задачу линейного программирования. Она даёт двойственную цену каждой заявки: на сколько км подешевело бы решение, если бы эту заявку не нужно было покрывать. Если маршрут короче суммы цен своих заявок, он покрывает их дешевле текущих маршрутов. Например, цены заявок 5, 6 и 7 км, а маршрут через них 15 км: 15 &lt; 18, маршрут добавляем.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62688" y="3200400"/>
            <a:ext cx="11338560" cy="41148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819888" y="347472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8" y="3602736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Поиск маршрута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19888" y="4663440"/>
            <a:ext cx="104241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5E5E5E"/>
                </a:solidFill>
                <a:latin typeface="Beeline Sans"/>
              </a:rPr>
              <a:t>Такой маршрут ищем динамическим программированием. Строим цепочки заявка за заявкой в порядке времени и для каждой храним время окончания, пробег и сумму цен. Цепочку, которая хуже другой по всем трём, отбрасываем. Лучший найденный маршрут добавляем в ЛП, цены пересчитываются, повторяем, пока выгодных маршрутов нет.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7680960"/>
            <a:ext cx="11338560" cy="41148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15568" y="79552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8083296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Ветвление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9144000"/>
            <a:ext cx="104241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5E5E5E"/>
                </a:solidFill>
                <a:latin typeface="Beeline Sans"/>
              </a:rPr>
              <a:t>Если в ответе ЛП остались дробные маршруты, делим задачу на две ветки (например, «эта бригада используется» и «не используется») и решаем каждую. Отсечения — дополнительные неравенства, которые запрещают дробные решения и не мешают настоящим планам.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62688" y="7680960"/>
            <a:ext cx="11338560" cy="41148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19888" y="7955280"/>
            <a:ext cx="1463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82928" y="8083296"/>
            <a:ext cx="8961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Финальная проверка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19888" y="9144000"/>
            <a:ext cx="104241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5E5E5E"/>
                </a:solidFill>
                <a:latin typeface="Beeline Sans"/>
              </a:rPr>
              <a:t>Перебираем все маршруты, которые по оценке ещё могут дать план лучше найденного (для Востока 12–35 тыс.), и решаем на них точную целочисленную задачу: HiGHS и CP-SAT наперегонки.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12252960"/>
            <a:ext cx="23042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8C8C8C"/>
                </a:solidFill>
                <a:latin typeface="Beeline Sans"/>
              </a:rPr>
              <a:t>*Граница считается отдельно от оптимизатора, для работы и интеграции она не нужна.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Проверка ограничений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1115568" y="3694176"/>
            <a:ext cx="841248" cy="84124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0" i="0">
                <a:solidFill>
                  <a:srgbClr val="141414"/>
                </a:solidFill>
                <a:latin typeface="Beeline Sans Black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365760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Навык и транспорт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04288" y="4370832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у бригады есть навык заявки и нужный транспорт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30768" y="320040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887968" y="3694176"/>
            <a:ext cx="841248" cy="84124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0" i="0">
                <a:solidFill>
                  <a:srgbClr val="141414"/>
                </a:solidFill>
                <a:latin typeface="Beeline Sans Black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6688" y="365760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Окно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76688" y="4370832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работа начинается внутри окна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630936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115568" y="6803136"/>
            <a:ext cx="841248" cy="84124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0" i="0">
                <a:solidFill>
                  <a:srgbClr val="141414"/>
                </a:solidFill>
                <a:latin typeface="Beeline Sans Black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04288" y="67665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Смена и обед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04288" y="7479792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работа внутри смены бригады, обед 45 минут в окне 13:00–16:00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630936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887968" y="6803136"/>
            <a:ext cx="841248" cy="84124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0" i="0">
                <a:solidFill>
                  <a:srgbClr val="141414"/>
                </a:solidFill>
                <a:latin typeface="Beeline Sans Black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6688" y="676656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Оборудование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6688" y="7479792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запас на маршрут не больше того, что бригада унесёт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941832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115568" y="9912096"/>
            <a:ext cx="841248" cy="84124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0" i="0">
                <a:solidFill>
                  <a:srgbClr val="141414"/>
                </a:solidFill>
                <a:latin typeface="Beeline Sans Black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98755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Событие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04288" y="10588752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выполненное и начатое к моменту события не изменилось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30768" y="941832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8887968" y="9912096"/>
            <a:ext cx="841248" cy="841248"/>
          </a:xfrm>
          <a:prstGeom prst="ellipse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000" b="0" i="0">
                <a:solidFill>
                  <a:srgbClr val="141414"/>
                </a:solidFill>
                <a:latin typeface="Beeline Sans Black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76688" y="98755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Полнота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10588752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каждая заявка назначена один раз или помечена как неназначенная с причиной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203167" y="3200400"/>
            <a:ext cx="7498079" cy="89611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6751808" y="3621024"/>
            <a:ext cx="6492240" cy="822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C800"/>
                </a:solidFill>
                <a:latin typeface="Beeline Sans"/>
              </a:rPr>
              <a:t>Независимая проверка</a:t>
            </a:r>
          </a:p>
          <a:p>
            <a:pPr algn="l">
              <a:spcBef>
                <a:spcPts val="2400"/>
              </a:spcBef>
            </a:pPr>
            <a:r>
              <a:rPr sz="2500" b="0" i="0">
                <a:solidFill>
                  <a:srgbClr val="FFFFFF"/>
                </a:solidFill>
                <a:latin typeface="Beeline Sans"/>
              </a:rPr>
              <a:t>Модуль check_plan в продукте и validate.py в исследованиях не используют код оптимизатора и заново считают время прибытия, ожидание и пробег.</a:t>
            </a:r>
          </a:p>
          <a:p>
            <a:pPr algn="l">
              <a:spcBef>
                <a:spcPts val="2400"/>
              </a:spcBef>
            </a:pPr>
            <a:r>
              <a:rPr sz="2500" b="0" i="0">
                <a:solidFill>
                  <a:srgbClr val="FFFFFF"/>
                </a:solidFill>
                <a:latin typeface="Beeline Sans"/>
              </a:rPr>
              <a:t>Через них прошли все цифры в презентации.</a:t>
            </a:r>
          </a:p>
          <a:p>
            <a:pPr algn="l">
              <a:spcBef>
                <a:spcPts val="2400"/>
              </a:spcBef>
            </a:pPr>
            <a:r>
              <a:rPr sz="2500" b="0" i="0">
                <a:solidFill>
                  <a:srgbClr val="FFFFFF"/>
                </a:solidFill>
                <a:latin typeface="Beeline Sans"/>
              </a:rPr>
              <a:t>Если заявку назначить нельзя, интерфейс пишет причину, например «нет навыка „Аварии“».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Перепланирование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13167360" cy="20116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16459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3493008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Выполненные и начатые заявки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4206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не меняем, начатую работу не прерываем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522976"/>
            <a:ext cx="13167360" cy="20116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5705856"/>
            <a:ext cx="16459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815584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Новая обычная заявка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6528816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ставим в свободный промежуток, остальной план не трогаем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7845552"/>
            <a:ext cx="13167360" cy="20116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" y="8028431"/>
            <a:ext cx="16459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81381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Авария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8851392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можно перестроить остаток дня, начать нужно в течение 2 часов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10168128"/>
            <a:ext cx="13167360" cy="20116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97280" y="10351008"/>
            <a:ext cx="164592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#4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10460736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Отмена или недоступный инженер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11173968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свободное время отдаём неназначенным заявкам, заявки ушедшего другим бригадам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374368" y="3200400"/>
            <a:ext cx="9326880" cy="89611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4923008" y="3621024"/>
            <a:ext cx="8412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41414"/>
                </a:solidFill>
                <a:latin typeface="Beeline Sans"/>
              </a:rPr>
              <a:t>Пример: Бригада 4 недоступна с 14:00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23008" y="4572000"/>
            <a:ext cx="84124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141414"/>
                </a:solidFill>
                <a:latin typeface="Beeline Sans"/>
              </a:rPr>
              <a:t>Выполненные и начатые заявки (29) не трогаем. 5 оставшихся заявок переходят к другим: 4 — Бригада 10, 1 — Бригада 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23008" y="722376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141414"/>
                </a:solidFill>
                <a:latin typeface="Beeline Sans Black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923008" y="86868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неназначенных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57648" y="722376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141414"/>
                </a:solidFill>
                <a:latin typeface="Beeline Sans Black"/>
              </a:rPr>
              <a:t>+2,8 км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757648" y="86868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пробега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92288" y="7223760"/>
            <a:ext cx="28346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141414"/>
                </a:solidFill>
                <a:latin typeface="Beeline Sans Black"/>
              </a:rPr>
              <a:t>8 → 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92288" y="8686800"/>
            <a:ext cx="2743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бригад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23008" y="10241280"/>
            <a:ext cx="8412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Изменения видны на карте и в списке «было / стало».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899562-5539-A2EC-13B6-25296BF6F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/>
          <p:cNvSpPr txBox="1"/>
          <p:nvPr/>
        </p:nvSpPr>
        <p:spPr>
          <a:xfrm>
            <a:off x="12105657" y="1474027"/>
            <a:ext cx="12278343" cy="880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03</a:t>
            </a:r>
          </a:p>
        </p:txBody>
      </p:sp>
      <p:sp>
        <p:nvSpPr>
          <p:cNvPr id="206" name="медиа-давление и бюджет"/>
          <p:cNvSpPr txBox="1"/>
          <p:nvPr/>
        </p:nvSpPr>
        <p:spPr>
          <a:xfrm>
            <a:off x="2391927" y="5144710"/>
            <a:ext cx="12923158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wrap="none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продукт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Экран диспетчера «Пульс»</a:t>
            </a:r>
          </a:p>
        </p:txBody>
      </p:sp>
      <p:pic>
        <p:nvPicPr>
          <p:cNvPr id="7" name="Picture 6" descr="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3017520"/>
            <a:ext cx="15654527" cy="978408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Oval 7"/>
          <p:cNvSpPr/>
          <p:nvPr/>
        </p:nvSpPr>
        <p:spPr>
          <a:xfrm>
            <a:off x="7342997" y="2926994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081186" y="4492447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1081186" y="7036307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12195900" y="5862218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17830800" y="3145536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36640" y="3182112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Сценарий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6640" y="3877056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что показываем: план участка, событие дня или разбор одного требования; стрелки — соседний</a:t>
            </a:r>
          </a:p>
        </p:txBody>
      </p:sp>
      <p:sp>
        <p:nvSpPr>
          <p:cNvPr id="15" name="Oval 14"/>
          <p:cNvSpPr/>
          <p:nvPr/>
        </p:nvSpPr>
        <p:spPr>
          <a:xfrm>
            <a:off x="17830800" y="5577840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36640" y="5614416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Главные цифры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36640" y="6309359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бригады, пробег, заявки рядом с базовым вариантом и минимумом; «план по нормативу» — сколько опозданий было бы, если не учитывать сложность работ</a:t>
            </a:r>
          </a:p>
        </p:txBody>
      </p:sp>
      <p:sp>
        <p:nvSpPr>
          <p:cNvPr id="18" name="Oval 17"/>
          <p:cNvSpPr/>
          <p:nvPr/>
        </p:nvSpPr>
        <p:spPr>
          <a:xfrm>
            <a:off x="17830800" y="8010144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36640" y="8046719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Карта и шкала дня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36640" y="8741664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маршруты по улицам от домов бригад; «Пуск» проигрывает день</a:t>
            </a:r>
          </a:p>
        </p:txBody>
      </p:sp>
      <p:sp>
        <p:nvSpPr>
          <p:cNvPr id="21" name="Oval 20"/>
          <p:cNvSpPr/>
          <p:nvPr/>
        </p:nvSpPr>
        <p:spPr>
          <a:xfrm>
            <a:off x="17830800" y="10442448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36640" y="1047902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Панель сценария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36640" y="11173968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то, о чём сценарий: изменения, кривая, свободные окна; клик по заявке — её карточка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17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Сценарии и подсказки</a:t>
            </a:r>
          </a:p>
        </p:txBody>
      </p:sp>
      <p:pic>
        <p:nvPicPr>
          <p:cNvPr id="7" name="Picture 6" descr="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8488392" cy="750137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1283696"/>
            <a:ext cx="848839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Список сценариев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887200"/>
            <a:ext cx="84883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Сценарии сгруппированы по требованиям второго этапа: рейтинг, сложность, старт из дома, изменения дня, сколько людей нужно; дальше — планы шести участков.</a:t>
            </a:r>
          </a:p>
        </p:txBody>
      </p:sp>
      <p:pic>
        <p:nvPicPr>
          <p:cNvPr id="10" name="Picture 9" descr="tou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0948" y="3017520"/>
            <a:ext cx="12874752" cy="804672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9695400" y="11283696"/>
            <a:ext cx="14005847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Тур по экрану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5400" y="11887200"/>
            <a:ext cx="1400584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При первом заходе открывается пошаговый тур: один элемент подсвечен, остальное затемнено. Кнопка «?» запускает его в любой момент.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Карточка заявки: почему эта бригада</a:t>
            </a:r>
          </a:p>
        </p:txBody>
      </p:sp>
      <p:pic>
        <p:nvPicPr>
          <p:cNvPr id="7" name="Picture 6" descr="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60114"/>
            <a:ext cx="16642080" cy="889889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Oval 7"/>
          <p:cNvSpPr/>
          <p:nvPr/>
        </p:nvSpPr>
        <p:spPr>
          <a:xfrm>
            <a:off x="12423038" y="5834721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12423038" y="7525511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12423038" y="9305288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3</a:t>
            </a:r>
          </a:p>
        </p:txBody>
      </p:sp>
      <p:sp>
        <p:nvSpPr>
          <p:cNvPr id="11" name="Oval 10"/>
          <p:cNvSpPr/>
          <p:nvPr/>
        </p:nvSpPr>
        <p:spPr>
          <a:xfrm>
            <a:off x="12423038" y="10907089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4</a:t>
            </a:r>
          </a:p>
        </p:txBody>
      </p:sp>
      <p:sp>
        <p:nvSpPr>
          <p:cNvPr id="12" name="Oval 11"/>
          <p:cNvSpPr/>
          <p:nvPr/>
        </p:nvSpPr>
        <p:spPr>
          <a:xfrm>
            <a:off x="17830800" y="3145536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36640" y="3182112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Работа 82 минут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6640" y="3877056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норматив 70 минут с поправками: подтип работы, этаж без лифта, год постройки дома</a:t>
            </a:r>
          </a:p>
        </p:txBody>
      </p:sp>
      <p:sp>
        <p:nvSpPr>
          <p:cNvPr id="15" name="Oval 14"/>
          <p:cNvSpPr/>
          <p:nvPr/>
        </p:nvSpPr>
        <p:spPr>
          <a:xfrm>
            <a:off x="17830800" y="5577840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36640" y="5614416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Подъезд и этаж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36640" y="6309359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точка на карте — у подъезда квартиры, номер подъезда только в карточке</a:t>
            </a:r>
          </a:p>
        </p:txBody>
      </p:sp>
      <p:sp>
        <p:nvSpPr>
          <p:cNvPr id="18" name="Oval 17"/>
          <p:cNvSpPr/>
          <p:nvPr/>
        </p:nvSpPr>
        <p:spPr>
          <a:xfrm>
            <a:off x="17830800" y="8010144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36640" y="8046719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Назначение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36640" y="8741664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когда бригада приедет и начнёт, сколько км добавляет</a:t>
            </a:r>
          </a:p>
        </p:txBody>
      </p:sp>
      <p:sp>
        <p:nvSpPr>
          <p:cNvPr id="21" name="Oval 20"/>
          <p:cNvSpPr/>
          <p:nvPr/>
        </p:nvSpPr>
        <p:spPr>
          <a:xfrm>
            <a:off x="17830800" y="10442448"/>
            <a:ext cx="768096" cy="768096"/>
          </a:xfrm>
          <a:prstGeom prst="ellipse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600" b="0" i="0">
                <a:solidFill>
                  <a:srgbClr val="FFC800"/>
                </a:solidFill>
                <a:latin typeface="Beeline Sans Black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836640" y="1047902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Почему не другие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36640" y="11173968"/>
            <a:ext cx="5029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нет навыка, не успевают к окну, лишняя бригада, больше км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Проигрывание дня</a:t>
            </a:r>
          </a:p>
        </p:txBody>
      </p:sp>
      <p:pic>
        <p:nvPicPr>
          <p:cNvPr id="7" name="Picture 6" descr="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118" y="3017520"/>
            <a:ext cx="17899379" cy="7955279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1247120"/>
            <a:ext cx="23042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5E5E5E"/>
                </a:solidFill>
                <a:latin typeface="Beeline Sans"/>
              </a:rPr>
              <a:t>Пройденная часть маршрута нарисована сплошной линией, оставшаяся пунктиром. Значки показывают, где бригада сейчас, справа видно, кто работает, кто в пути и кто ждёт окна. В сценарии с событием проигрывание останавливается в момент события: до него идёт утренний план, после него пересчитанный.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51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Бригады, заявки без исполнителя, сравнение</a:t>
            </a:r>
          </a:p>
        </p:txBody>
      </p:sp>
      <p:pic>
        <p:nvPicPr>
          <p:cNvPr id="7" name="Picture 6" descr="briga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983" y="3017520"/>
            <a:ext cx="12537649" cy="347472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6711696"/>
            <a:ext cx="230428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Бригады в работе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7315200"/>
            <a:ext cx="23042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по каждой бригаде: транспорт, навыки, что взять с собой, сколько адресов и км; отметки инженеров «приехал» и «закончил»; выгрузка фактических выездов в CSV</a:t>
            </a:r>
          </a:p>
        </p:txBody>
      </p:sp>
      <p:pic>
        <p:nvPicPr>
          <p:cNvPr id="10" name="Picture 9" descr="botto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503" y="7680960"/>
            <a:ext cx="15902608" cy="3657599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58368" y="11558016"/>
            <a:ext cx="230428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Без исполнителя и сравнение с базовым вариантом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161520"/>
            <a:ext cx="230428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заявки без исполнителя — с причиной и тем, какой бригады не хватает; сравнение с базовым вариантом из ТЗ: сколько заявок выполнено, бригад и км на заявку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899562-5539-A2EC-13B6-25296BF6F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/>
          <p:cNvSpPr txBox="1"/>
          <p:nvPr/>
        </p:nvSpPr>
        <p:spPr>
          <a:xfrm>
            <a:off x="12105657" y="1474027"/>
            <a:ext cx="12278343" cy="880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04</a:t>
            </a:r>
          </a:p>
        </p:txBody>
      </p:sp>
      <p:sp>
        <p:nvSpPr>
          <p:cNvPr id="206" name="медиа-давление и бюджет"/>
          <p:cNvSpPr txBox="1"/>
          <p:nvPr/>
        </p:nvSpPr>
        <p:spPr>
          <a:xfrm>
            <a:off x="2391927" y="5144710"/>
            <a:ext cx="12923158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wrap="none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второй этап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Что сделали по замечаниям жюри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08960"/>
            <a:ext cx="11338560" cy="914400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98448" y="34747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41414"/>
                </a:solidFill>
                <a:latin typeface="Beeline Sans"/>
              </a:rPr>
              <a:t>Требования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4572000"/>
            <a:ext cx="10058400" cy="7498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рейтинг монтажников и режим «лучшие на день»</a:t>
            </a:r>
          </a:p>
          <a:p>
            <a:pPr algn="l" marL="438912" indent="-438912">
              <a:spcBef>
                <a:spcPts val="2400"/>
              </a:spcBef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длительность работы от сложности объекта</a:t>
            </a:r>
          </a:p>
          <a:p>
            <a:pPr algn="l" marL="438912" indent="-438912">
              <a:spcBef>
                <a:spcPts val="2400"/>
              </a:spcBef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старт из дома и перепланирование, когда авария застала бригаду в пути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62688" y="3108960"/>
            <a:ext cx="11338560" cy="91440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002768" y="34747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41414"/>
                </a:solidFill>
                <a:latin typeface="Beeline Sans"/>
              </a:rPr>
              <a:t>Сверх требований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02768" y="4572000"/>
            <a:ext cx="10058400" cy="7498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обед и оборудование, смены 2/2 и 5/2</a:t>
            </a:r>
          </a:p>
          <a:p>
            <a:pPr algn="l" marL="438912" indent="-438912">
              <a:spcBef>
                <a:spcPts val="2400"/>
              </a:spcBef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общественный транспорт по расписаниям, пробки по часам и районам</a:t>
            </a:r>
          </a:p>
          <a:p>
            <a:pPr algn="l" marL="438912" indent="-438912">
              <a:spcBef>
                <a:spcPts val="2400"/>
              </a:spcBef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длительность работ и темп бригад уточняются по историческим данным о выездах</a:t>
            </a:r>
          </a:p>
          <a:p>
            <a:pPr algn="l" marL="438912" indent="-438912">
              <a:spcBef>
                <a:spcPts val="2400"/>
              </a:spcBef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сколько бригад нужно: кривая, цена правил, покрытие аварий, свободные окна</a:t>
            </a:r>
          </a:p>
          <a:p>
            <a:pPr algn="l" marL="438912" indent="-438912">
              <a:spcBef>
                <a:spcPts val="2400"/>
              </a:spcBef>
              <a:buClr>
                <a:srgbClr val="141414"/>
              </a:buClr>
              <a:buFont typeface="Beeline Sans"/>
              <a:buChar char="—"/>
            </a:pPr>
            <a:r>
              <a:rPr sz="2800" b="0" i="0">
                <a:solidFill>
                  <a:srgbClr val="141414"/>
                </a:solidFill>
                <a:latin typeface="Beeline Sans"/>
              </a:rPr>
              <a:t>экран инженера, события дня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Рейтинг монтажников и лучшие на день</a:t>
            </a:r>
          </a:p>
        </p:txBody>
      </p:sp>
      <p:pic>
        <p:nvPicPr>
          <p:cNvPr id="7" name="Picture 6" descr="rating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017520"/>
            <a:ext cx="12728447" cy="7955279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1192256"/>
            <a:ext cx="128016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Рейтинг по отзывам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795760"/>
            <a:ext cx="12801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рейтинг каждого монтажника по видам работ из отзывов клиентов. Если отзывов мало, рейтинг ближе к среднему по парку; старые отзывы весят меньше. В демо отзывы синтетические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08608" y="2962656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5E5E5E"/>
                </a:solidFill>
                <a:latin typeface="Beeline Sans"/>
              </a:rPr>
              <a:t>■ </a:t>
            </a:r>
            <a:r>
              <a:rPr sz="2100" b="0" i="0">
                <a:solidFill>
                  <a:srgbClr val="141414"/>
                </a:solidFill>
                <a:latin typeface="Beeline Sans"/>
              </a:rPr>
              <a:t>бригад в работе   </a:t>
            </a:r>
            <a:r>
              <a:rPr sz="2100" b="0" i="0">
                <a:solidFill>
                  <a:srgbClr val="FFC800"/>
                </a:solidFill>
                <a:latin typeface="Beeline Sans"/>
              </a:rPr>
              <a:t>■ </a:t>
            </a:r>
            <a:r>
              <a:rPr sz="2100" b="0" i="0">
                <a:solidFill>
                  <a:srgbClr val="141414"/>
                </a:solidFill>
                <a:latin typeface="Beeline Sans"/>
              </a:rPr>
              <a:t>км за день   </a:t>
            </a:r>
            <a:r>
              <a:rPr sz="2100" b="0" i="0">
                <a:solidFill>
                  <a:srgbClr val="141414"/>
                </a:solidFill>
                <a:latin typeface="Beeline Sans"/>
              </a:rPr>
              <a:t>● </a:t>
            </a:r>
            <a:r>
              <a:rPr sz="2100" b="0" i="0">
                <a:solidFill>
                  <a:srgbClr val="141414"/>
                </a:solidFill>
                <a:latin typeface="Beeline Sans"/>
              </a:rPr>
              <a:t>рейтинг на заявке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08608" y="3438144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8C8C8C"/>
                </a:solidFill>
                <a:latin typeface="Beeline Sans"/>
              </a:rPr>
              <a:t>высота: сначала бригады, потом км (км всегда меньше одной бригады)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238808" y="6190488"/>
            <a:ext cx="751179" cy="3867911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14238808" y="962863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4238808" y="919886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4238808" y="8769096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4238808" y="8339328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4238808" y="7909560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238808" y="747979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4238808" y="705002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4238808" y="6620256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4238808" y="5836263"/>
            <a:ext cx="751179" cy="354224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008608" y="9290304"/>
            <a:ext cx="12115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Beeline Sans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08608" y="5360775"/>
            <a:ext cx="12115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169 км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08608" y="4023360"/>
            <a:ext cx="12115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4,54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08608" y="10168128"/>
            <a:ext cx="12115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141414"/>
                </a:solidFill>
                <a:latin typeface="Beeline Sans"/>
              </a:rPr>
              <a:t>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450388" y="6190488"/>
            <a:ext cx="751179" cy="3867911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15450388" y="962863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5450388" y="919886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450388" y="8769096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5450388" y="8339328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5450388" y="7909560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5450388" y="747979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5450388" y="705002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5450388" y="6620256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5450388" y="5870950"/>
            <a:ext cx="751179" cy="319537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220188" y="9290304"/>
            <a:ext cx="12115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Beeline Sans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20188" y="5395462"/>
            <a:ext cx="12115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152 км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4614398" y="4572000"/>
            <a:ext cx="1211580" cy="77273"/>
          </a:xfrm>
          <a:prstGeom prst="line">
            <a:avLst/>
          </a:prstGeom>
          <a:ln w="444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5220188" y="4100633"/>
            <a:ext cx="12115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4,53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20188" y="10168128"/>
            <a:ext cx="12115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41414"/>
                </a:solidFill>
                <a:latin typeface="Beeline Sans"/>
              </a:rPr>
              <a:t>14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6661968" y="6620256"/>
            <a:ext cx="751179" cy="3438144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Connector 41"/>
          <p:cNvCxnSpPr/>
          <p:nvPr/>
        </p:nvCxnSpPr>
        <p:spPr>
          <a:xfrm>
            <a:off x="16661968" y="962863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6661968" y="919886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6661968" y="8769096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6661968" y="8339328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6661968" y="7909560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6661968" y="747979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6661968" y="705002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6661968" y="6210953"/>
            <a:ext cx="751179" cy="409302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6431767" y="9290304"/>
            <a:ext cx="12115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Beeline Sans"/>
              </a:rP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431767" y="5735465"/>
            <a:ext cx="12115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195 км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5825978" y="4649273"/>
            <a:ext cx="1211580" cy="227526"/>
          </a:xfrm>
          <a:prstGeom prst="line">
            <a:avLst/>
          </a:prstGeom>
          <a:ln w="444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6431767" y="4328159"/>
            <a:ext cx="12115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4,47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431767" y="10168128"/>
            <a:ext cx="12115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41414"/>
                </a:solidFill>
                <a:latin typeface="Beeline Sans"/>
              </a:rPr>
              <a:t>17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873548" y="6620256"/>
            <a:ext cx="751179" cy="3438144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6" name="Connector 55"/>
          <p:cNvCxnSpPr/>
          <p:nvPr/>
        </p:nvCxnSpPr>
        <p:spPr>
          <a:xfrm>
            <a:off x="17873548" y="962863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7873548" y="919886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7873548" y="8769096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7873548" y="8339328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7873548" y="7909560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7873548" y="747979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7873548" y="705002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7873548" y="6227350"/>
            <a:ext cx="751179" cy="392905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7643348" y="9290304"/>
            <a:ext cx="12115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Beeline Sans"/>
              </a:rPr>
              <a:t>8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643348" y="5751862"/>
            <a:ext cx="12115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187 км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7037558" y="4876799"/>
            <a:ext cx="1211580" cy="133082"/>
          </a:xfrm>
          <a:prstGeom prst="line">
            <a:avLst/>
          </a:prstGeom>
          <a:ln w="444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7643348" y="4461241"/>
            <a:ext cx="12115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4,44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643348" y="10168128"/>
            <a:ext cx="12115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41414"/>
                </a:solidFill>
                <a:latin typeface="Beeline Sans"/>
              </a:rPr>
              <a:t>20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085128" y="6620256"/>
            <a:ext cx="751179" cy="3438144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0" name="Connector 69"/>
          <p:cNvCxnSpPr/>
          <p:nvPr/>
        </p:nvCxnSpPr>
        <p:spPr>
          <a:xfrm>
            <a:off x="19085128" y="962863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9085128" y="919886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085128" y="8769096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9085128" y="8339328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9085128" y="7909560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9085128" y="747979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9085128" y="705002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19085128" y="6244798"/>
            <a:ext cx="751179" cy="375457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18854927" y="9290304"/>
            <a:ext cx="12115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Beeline Sans"/>
              </a:rPr>
              <a:t>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854927" y="5769310"/>
            <a:ext cx="12115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179 км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8249138" y="5009881"/>
            <a:ext cx="1211580" cy="90152"/>
          </a:xfrm>
          <a:prstGeom prst="line">
            <a:avLst/>
          </a:prstGeom>
          <a:ln w="444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8854927" y="4551393"/>
            <a:ext cx="12115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4,42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854927" y="10168128"/>
            <a:ext cx="12115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41414"/>
                </a:solidFill>
                <a:latin typeface="Beeline Sans"/>
              </a:rPr>
              <a:t>23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296708" y="6620256"/>
            <a:ext cx="751179" cy="3438144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4" name="Connector 83"/>
          <p:cNvCxnSpPr/>
          <p:nvPr/>
        </p:nvCxnSpPr>
        <p:spPr>
          <a:xfrm>
            <a:off x="20296708" y="962863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20296708" y="919886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20296708" y="8769096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0296708" y="8339328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20296708" y="7909560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20296708" y="747979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20296708" y="705002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20296708" y="6238702"/>
            <a:ext cx="751179" cy="381553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20066508" y="9290304"/>
            <a:ext cx="12115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Beeline Sans"/>
              </a:rPr>
              <a:t>8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0066508" y="5763214"/>
            <a:ext cx="12115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182 км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9460718" y="5100033"/>
            <a:ext cx="1211580" cy="60102"/>
          </a:xfrm>
          <a:prstGeom prst="line">
            <a:avLst/>
          </a:prstGeom>
          <a:ln w="444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20066508" y="4611495"/>
            <a:ext cx="12115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4,41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0066508" y="10168128"/>
            <a:ext cx="12115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41414"/>
                </a:solidFill>
                <a:latin typeface="Beeline Sans"/>
              </a:rPr>
              <a:t>26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1508288" y="6620256"/>
            <a:ext cx="751179" cy="3438144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8" name="Connector 97"/>
          <p:cNvCxnSpPr/>
          <p:nvPr/>
        </p:nvCxnSpPr>
        <p:spPr>
          <a:xfrm>
            <a:off x="21508288" y="962863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1508288" y="919886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21508288" y="8769096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1508288" y="8339328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21508288" y="7909560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21508288" y="747979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1508288" y="705002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ectangle 104"/>
          <p:cNvSpPr/>
          <p:nvPr/>
        </p:nvSpPr>
        <p:spPr>
          <a:xfrm>
            <a:off x="21508288" y="6235759"/>
            <a:ext cx="751179" cy="384496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21278087" y="9290304"/>
            <a:ext cx="12115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Beeline Sans"/>
              </a:rPr>
              <a:t>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1278087" y="5760271"/>
            <a:ext cx="12115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183 км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20672298" y="5160135"/>
            <a:ext cx="1211579" cy="326265"/>
          </a:xfrm>
          <a:prstGeom prst="line">
            <a:avLst/>
          </a:prstGeom>
          <a:ln w="444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21278087" y="4937760"/>
            <a:ext cx="12115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4,33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1278087" y="10168128"/>
            <a:ext cx="12115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41414"/>
                </a:solidFill>
                <a:latin typeface="Beeline Sans"/>
              </a:rPr>
              <a:t>29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2719868" y="6620256"/>
            <a:ext cx="751179" cy="3438144"/>
          </a:xfrm>
          <a:prstGeom prst="rect">
            <a:avLst/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12" name="Connector 111"/>
          <p:cNvCxnSpPr/>
          <p:nvPr/>
        </p:nvCxnSpPr>
        <p:spPr>
          <a:xfrm>
            <a:off x="22719868" y="962863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22719868" y="919886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2719868" y="8769096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2719868" y="8339328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22719868" y="7909560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22719868" y="7479792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22719868" y="7050024"/>
            <a:ext cx="751179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ectangle 118"/>
          <p:cNvSpPr/>
          <p:nvPr/>
        </p:nvSpPr>
        <p:spPr>
          <a:xfrm>
            <a:off x="22719868" y="6265190"/>
            <a:ext cx="751179" cy="355065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22489668" y="9290304"/>
            <a:ext cx="12115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Beeline Sans"/>
              </a:rPr>
              <a:t>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2489668" y="5789702"/>
            <a:ext cx="12115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169 км</a:t>
            </a:r>
          </a:p>
        </p:txBody>
      </p:sp>
      <p:cxnSp>
        <p:nvCxnSpPr>
          <p:cNvPr id="122" name="Connector 121"/>
          <p:cNvCxnSpPr/>
          <p:nvPr/>
        </p:nvCxnSpPr>
        <p:spPr>
          <a:xfrm flipV="1">
            <a:off x="21883877" y="5357611"/>
            <a:ext cx="1211581" cy="128789"/>
          </a:xfrm>
          <a:prstGeom prst="line">
            <a:avLst/>
          </a:prstGeom>
          <a:ln w="4445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22489668" y="4808971"/>
            <a:ext cx="12115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141414"/>
                </a:solidFill>
                <a:latin typeface="Beeline Sans"/>
              </a:rPr>
              <a:t>4,36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2489668" y="10168128"/>
            <a:ext cx="12115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 i="0">
                <a:solidFill>
                  <a:srgbClr val="141414"/>
                </a:solidFill>
                <a:latin typeface="Beeline Sans"/>
              </a:rPr>
              <a:t>все</a:t>
            </a:r>
          </a:p>
        </p:txBody>
      </p:sp>
      <p:sp>
        <p:nvSpPr>
          <p:cNvPr id="125" name="Oval 124"/>
          <p:cNvSpPr/>
          <p:nvPr/>
        </p:nvSpPr>
        <p:spPr>
          <a:xfrm>
            <a:off x="14495526" y="4453128"/>
            <a:ext cx="237744" cy="237744"/>
          </a:xfrm>
          <a:prstGeom prst="ellipse">
            <a:avLst/>
          </a:prstGeom>
          <a:solidFill>
            <a:srgbClr val="FFC800"/>
          </a:solidFill>
          <a:ln w="317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5707106" y="4530401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6918686" y="4757927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8130266" y="4891009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9341846" y="4981161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20553426" y="5041263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1765006" y="5367528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22976586" y="5238739"/>
            <a:ext cx="237744" cy="237744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4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14008608" y="10058400"/>
            <a:ext cx="9692640" cy="0"/>
          </a:xfrm>
          <a:prstGeom prst="line">
            <a:avLst/>
          </a:prstGeom>
          <a:ln w="19050">
            <a:solidFill>
              <a:srgbClr val="A1A1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4008608" y="1060704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 i="0">
                <a:solidFill>
                  <a:srgbClr val="5E5E5E"/>
                </a:solidFill>
                <a:latin typeface="Beeline Sans"/>
              </a:rPr>
              <a:t>лучших K из 30 по рейтингу; выбрано 11: меньше лучших не закрывают день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4008608" y="11192256"/>
            <a:ext cx="96926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Лучшие на день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4008608" y="1179576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берём лучших по рейтингу столько, чтобы хватило на все заявки. Чем шире выбор, тем меньше нужно бригад, но ниже средний рейтинг на заявке. Восток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Сколько людей нужно</a:t>
            </a:r>
          </a:p>
        </p:txBody>
      </p:sp>
      <p:pic>
        <p:nvPicPr>
          <p:cNvPr id="7" name="Picture 6" descr="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6278262" cy="5932957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9272015"/>
            <a:ext cx="627826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Бригады и пробег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9875519"/>
            <a:ext cx="627826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пробег при разном числе бригад. Меньше минимума часть заявок не закрыть; видно, сколько км даёт каждая дополнительная бригада</a:t>
            </a:r>
          </a:p>
        </p:txBody>
      </p:sp>
      <p:pic>
        <p:nvPicPr>
          <p:cNvPr id="10" name="Picture 9" descr="pri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830" y="3017520"/>
            <a:ext cx="4824411" cy="5934026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393830" y="9272015"/>
            <a:ext cx="4824411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Цена правил (Северо-восток)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3830" y="9875519"/>
            <a:ext cx="4824411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тот же день, посчитанный заново без одного правила: все умеют всё, все на машинах, без обеда, без учёта оборудования. Видно, во что обходится каждое правило</a:t>
            </a:r>
          </a:p>
        </p:txBody>
      </p:sp>
      <p:pic>
        <p:nvPicPr>
          <p:cNvPr id="13" name="Picture 12" descr="shif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5441" y="3017520"/>
            <a:ext cx="4943093" cy="5931711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2675441" y="9272015"/>
            <a:ext cx="494309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Смены 5/2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75441" y="9875519"/>
            <a:ext cx="494309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те же бригады по графику 5/2: смены с 10 до 19 и с 13 до 22 по очереди. Внизу видно, какие заявки не поместились, почему и какой бригады не хватает</a:t>
            </a:r>
          </a:p>
        </p:txBody>
      </p:sp>
      <p:pic>
        <p:nvPicPr>
          <p:cNvPr id="16" name="Picture 15" descr="lu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75735" y="3017520"/>
            <a:ext cx="5625512" cy="5934916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18075735" y="9272015"/>
            <a:ext cx="562551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Обед и оборудование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75735" y="9875519"/>
            <a:ext cx="5625512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обед 45 минут между 13:00 и 16:00, на диаграмме дня он жёлтый. В таблице: когда обедает каждая бригада и что взять утром на весь маршрут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28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Покрытие аварий и свободные окна</a:t>
            </a:r>
          </a:p>
        </p:txBody>
      </p:sp>
      <p:pic>
        <p:nvPicPr>
          <p:cNvPr id="7" name="Picture 6" descr="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15745967" cy="6998208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1100815"/>
            <a:ext cx="15745967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Покрытие аварий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704319"/>
            <a:ext cx="15745967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через сколько минут начнут аварию в каждой точке участка, если она случится в выбранный час; час выбирают ползунком</a:t>
            </a:r>
          </a:p>
        </p:txBody>
      </p:sp>
      <p:pic>
        <p:nvPicPr>
          <p:cNvPr id="10" name="Picture 9" descr="defic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25326" y="3017520"/>
            <a:ext cx="5803571" cy="786384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6952976" y="11100815"/>
            <a:ext cx="674827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Свободные окна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52976" y="11704319"/>
            <a:ext cx="6748272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сколько ещё подключений помещается в каждом районе и окне. Окна с нулём клиентам лучше не предлагать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54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Ранний старт и точное время</a:t>
            </a:r>
          </a:p>
        </p:txBody>
      </p:sp>
      <p:pic>
        <p:nvPicPr>
          <p:cNvPr id="7" name="Picture 6" descr="what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8412480" cy="8812072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692640" y="3200400"/>
            <a:ext cx="13898880" cy="8961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Ранний старт</a:t>
            </a:r>
          </a:p>
          <a:p>
            <a:pPr algn="l">
              <a:spcBef>
                <a:spcPts val="1600"/>
              </a:spcBef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Если часть клиентов согласится начать до часа раньше окна, бригад может понадобиться меньше. В плане указано, кому из клиентов и когда позвонить.</a:t>
            </a:r>
          </a:p>
          <a:p>
            <a:pPr algn="l">
              <a:spcBef>
                <a:spcPts val="1600"/>
              </a:spcBef>
            </a:pPr>
            <a:r>
              <a:rPr sz="3200" b="1" i="0">
                <a:solidFill>
                  <a:srgbClr val="141414"/>
                </a:solidFill>
                <a:latin typeface="Beeline Sans"/>
              </a:rPr>
              <a:t>Цена точного времени</a:t>
            </a:r>
          </a:p>
          <a:p>
            <a:pPr algn="l">
              <a:spcBef>
                <a:spcPts val="1600"/>
              </a:spcBef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Часовое окно вместо двухчасового у 25, 50 и 100% клиентов: сколько бригад и км это стоит; 0% — сам план.</a:t>
            </a:r>
          </a:p>
          <a:p>
            <a:pPr algn="l">
              <a:spcBef>
                <a:spcPts val="1600"/>
              </a:spcBef>
            </a:pPr>
            <a:r>
              <a:rPr sz="3200" b="1" i="0">
                <a:solidFill>
                  <a:srgbClr val="141414"/>
                </a:solidFill>
                <a:latin typeface="Beeline Sans"/>
              </a:rPr>
              <a:t>Время в пути</a:t>
            </a:r>
          </a:p>
          <a:p>
            <a:pPr algn="l">
              <a:spcBef>
                <a:spcPts val="1600"/>
              </a:spcBef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Общественный транспорт — по расписаниям: автобусы, трамваи, метро, МЦК, МЦД, электрички и автобусы области; среднее время в часы окна заявки. Машина — пробки по часам, дням недели и сетке ~330 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55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Beeline Sans"/>
              </a:rPr>
              <a:t>Планы шести участков в новой модели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017520"/>
          <a:ext cx="23042880" cy="6400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389120"/>
                <a:gridCol w="2377440"/>
                <a:gridCol w="3474720"/>
                <a:gridCol w="3291840"/>
                <a:gridCol w="3474720"/>
                <a:gridCol w="6035040"/>
              </a:tblGrid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Участок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Бригад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Минимум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Пробег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Назначено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Базовый вариант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Восток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FFC800"/>
                          </a:solidFill>
                          <a:latin typeface="Beeline Sans"/>
                        </a:rPr>
                        <a:t>8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8 доказан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187,4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66 из 66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бр., не выполнено 28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Югоцентр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FFC800"/>
                          </a:solidFill>
                          <a:latin typeface="Beeline Sans"/>
                        </a:rPr>
                        <a:t>7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7 доказан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159,8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56 из 56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бр., не выполнено 19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Юго-восток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FFC800"/>
                          </a:solidFill>
                          <a:latin typeface="Beeline Sans"/>
                        </a:rPr>
                        <a:t>12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12 доказан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747,8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81 из 83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бр., не выполнено 37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Север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FFC800"/>
                          </a:solidFill>
                          <a:latin typeface="Beeline Sans"/>
                        </a:rPr>
                        <a:t>9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9 доказан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229,3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73 из 73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бр., не выполнено 30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Запад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FFC800"/>
                          </a:solidFill>
                          <a:latin typeface="Beeline Sans"/>
                        </a:rPr>
                        <a:t>7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7 доказан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257,0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59 из 60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бр., не выполнено 15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Северо-восток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1" i="0">
                          <a:solidFill>
                            <a:srgbClr val="FFC800"/>
                          </a:solidFill>
                          <a:latin typeface="Beeline Sans"/>
                        </a:rPr>
                        <a:t>11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11 доказан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237,4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76 из 76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5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бр., не выполнено 40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9875520"/>
            <a:ext cx="2304288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A1A1A1"/>
                </a:solidFill>
                <a:latin typeface="Beeline Sans"/>
              </a:rPr>
              <a:t>*Модель второго этапа: обед, оборудование, длительность по сложности, старт из дома, общественный транспорт по расписаниям, пробки по часам и сетке. Решатель работает 3 с; для Востока взят лучший из пяти запусков по 10 с, для Юго-востока лучший из трёх запусков по 30 с и лучшего известного ответа. Нижняя граница считается генерацией столбцов.</a:t>
            </a:r>
          </a:p>
          <a:p>
            <a:pPr algn="l">
              <a:spcBef>
                <a:spcPts val="800"/>
              </a:spcBef>
            </a:pPr>
            <a:r>
              <a:rPr sz="2100" b="0" i="0">
                <a:solidFill>
                  <a:srgbClr val="A1A1A1"/>
                </a:solidFill>
                <a:latin typeface="Beeline Sans"/>
              </a:rPr>
              <a:t>«Доказан» — граница равна плану, меньше бригад нельзя.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31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5C13C3-1F94-10AF-8FD7-D4DCE99B2C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>
            <a:extLst>
              <a:ext uri="{FF2B5EF4-FFF2-40B4-BE49-F238E27FC236}">
                <a16:creationId xmlns:a16="http://schemas.microsoft.com/office/drawing/2014/main" id="{2D0F6E16-E2E7-C956-A9B6-63D7BCB0538D}"/>
              </a:ext>
            </a:extLst>
          </p:cNvPr>
          <p:cNvSpPr txBox="1"/>
          <p:nvPr/>
        </p:nvSpPr>
        <p:spPr>
          <a:xfrm>
            <a:off x="616227" y="-889000"/>
            <a:ext cx="14698858" cy="9828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05</a:t>
            </a:r>
            <a:endParaRPr dirty="0"/>
          </a:p>
        </p:txBody>
      </p:sp>
      <p:sp>
        <p:nvSpPr>
          <p:cNvPr id="206" name="медиа-давление и бюджет">
            <a:extLst>
              <a:ext uri="{FF2B5EF4-FFF2-40B4-BE49-F238E27FC236}">
                <a16:creationId xmlns:a16="http://schemas.microsoft.com/office/drawing/2014/main" id="{D17FC182-CFD1-F8DC-459F-9C689C3755FB}"/>
              </a:ext>
            </a:extLst>
          </p:cNvPr>
          <p:cNvSpPr txBox="1"/>
          <p:nvPr/>
        </p:nvSpPr>
        <p:spPr>
          <a:xfrm>
            <a:off x="13405764" y="5525710"/>
            <a:ext cx="10978236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wrap="none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результаты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Реальный день и наш план, Восток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453359" y="914400"/>
            <a:ext cx="7315200" cy="1828800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5727680" y="91440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41414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12 бригад, 130 км, 1 заявка без исполнителя: по расписаниям и с обедом общественный транспорт медленнее</a:t>
            </a:r>
          </a:p>
        </p:txBody>
      </p:sp>
      <p:pic>
        <p:nvPicPr>
          <p:cNvPr id="9" name="Picture 8" descr="map_vostok_pt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31644"/>
            <a:ext cx="11338560" cy="7835590"/>
          </a:xfrm>
          <a:prstGeom prst="roundRect">
            <a:avLst>
              <a:gd name="adj" fmla="val 3000"/>
            </a:avLst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1155680"/>
            <a:ext cx="11338560" cy="118872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1115568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  <a:latin typeface="Beeline Sans"/>
              </a:rPr>
              <a:t>Диспетчер   </a:t>
            </a:r>
            <a:r>
              <a:rPr sz="2400" b="0" i="0">
                <a:solidFill>
                  <a:srgbClr val="141414"/>
                </a:solidFill>
                <a:latin typeface="Beeline Sans"/>
              </a:rPr>
              <a:t>12 бригад, 229 км, 3 опоздания, 2 заявки без бригады (□)</a:t>
            </a:r>
          </a:p>
        </p:txBody>
      </p:sp>
      <p:pic>
        <p:nvPicPr>
          <p:cNvPr id="12" name="Picture 11" descr="map_vostok_pt_ou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2688" y="3031644"/>
            <a:ext cx="11338560" cy="7835590"/>
          </a:xfrm>
          <a:prstGeom prst="roundRect">
            <a:avLst>
              <a:gd name="adj" fmla="val 3000"/>
            </a:avLst>
          </a:prstGeom>
        </p:spPr>
      </p:pic>
      <p:sp>
        <p:nvSpPr>
          <p:cNvPr id="13" name="Rounded Rectangle 12"/>
          <p:cNvSpPr/>
          <p:nvPr/>
        </p:nvSpPr>
        <p:spPr>
          <a:xfrm>
            <a:off x="12362688" y="11155680"/>
            <a:ext cx="11338560" cy="11887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728448" y="11155680"/>
            <a:ext cx="107899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141414"/>
                </a:solidFill>
                <a:latin typeface="Beeline Sans"/>
              </a:rPr>
              <a:t>Наш план   </a:t>
            </a:r>
            <a:r>
              <a:rPr sz="2400" b="0" i="0">
                <a:solidFill>
                  <a:srgbClr val="141414"/>
                </a:solidFill>
                <a:latin typeface="Beeline Sans"/>
              </a:rPr>
              <a:t>8 бригад, 167 км, без опозданий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2618720"/>
            <a:ext cx="22860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8C8C8C"/>
                </a:solidFill>
                <a:latin typeface="Beeline Sans"/>
              </a:rPr>
              <a:t>*Общественный транспорт, навыки как в реальный день. Линии соединяют заявки в порядке объезда.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Загрузка бригад по времени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453359" y="914400"/>
            <a:ext cx="7315200" cy="1828800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5727680" y="91440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41414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Восток, смешанный транспорт — 8 бригад, 187,4 км (демо-план)</a:t>
            </a:r>
          </a:p>
        </p:txBody>
      </p:sp>
      <p:pic>
        <p:nvPicPr>
          <p:cNvPr id="9" name="Picture 8" descr="gantt_vostok_mix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04581"/>
            <a:ext cx="23042879" cy="783835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11795760"/>
            <a:ext cx="621792" cy="402336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11704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авария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3008" y="11795760"/>
            <a:ext cx="621792" cy="402336"/>
          </a:xfrm>
          <a:prstGeom prst="rect">
            <a:avLst/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297680" y="11704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подключение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11795760"/>
            <a:ext cx="621792" cy="402336"/>
          </a:xfrm>
          <a:prstGeom prst="rect">
            <a:avLst/>
          </a:prstGeom>
          <a:solidFill>
            <a:srgbClr val="A1A1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92440" y="1170432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ремонт и дозаказ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08407" y="11704320"/>
            <a:ext cx="12070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5E5E5E"/>
                </a:solidFill>
                <a:latin typeface="Beeline Sans"/>
              </a:rPr>
              <a:t>серая полоса — дорога, пунктир — ожидание окна. Восток, смешанный транспорт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Beeline Sans"/>
              </a:rPr>
              <a:t>Наш план на трёх участках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453359" y="914400"/>
            <a:ext cx="7315200" cy="1828800"/>
          </a:xfrm>
          <a:prstGeom prst="roundRect">
            <a:avLst>
              <a:gd name="adj" fmla="val 5000"/>
            </a:avLst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5727680" y="91440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FFFFFF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FFC800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FFFFFF"/>
                </a:solidFill>
                <a:latin typeface="Beeline Sans"/>
              </a:rPr>
              <a:t>на общественном транспорте 12, 11 и 12 бригад; на смешанном — 8, 7 и 12</a:t>
            </a:r>
          </a:p>
        </p:txBody>
      </p:sp>
      <p:pic>
        <p:nvPicPr>
          <p:cNvPr id="9" name="Picture 8" descr="map3_vostok_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95" y="3017520"/>
            <a:ext cx="7148945" cy="7863840"/>
          </a:xfrm>
          <a:prstGeom prst="roundRect">
            <a:avLst>
              <a:gd name="adj" fmla="val 3000"/>
            </a:avLst>
          </a:prstGeom>
        </p:spPr>
      </p:pic>
      <p:sp>
        <p:nvSpPr>
          <p:cNvPr id="10" name="TextBox 9"/>
          <p:cNvSpPr txBox="1"/>
          <p:nvPr/>
        </p:nvSpPr>
        <p:spPr>
          <a:xfrm>
            <a:off x="658368" y="111556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C800"/>
                </a:solidFill>
                <a:latin typeface="Beeline Sans"/>
              </a:rPr>
              <a:t>Восток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1832336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  <a:latin typeface="Beeline Sans"/>
              </a:rPr>
              <a:t>8 бригад вместо 12, 167 км</a:t>
            </a:r>
          </a:p>
        </p:txBody>
      </p:sp>
      <p:pic>
        <p:nvPicPr>
          <p:cNvPr id="12" name="Picture 11" descr="map3_yugocentr_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895" y="3017520"/>
            <a:ext cx="7148945" cy="7863840"/>
          </a:xfrm>
          <a:prstGeom prst="roundRect">
            <a:avLst>
              <a:gd name="adj" fmla="val 3000"/>
            </a:avLst>
          </a:prstGeom>
        </p:spPr>
      </p:pic>
      <p:sp>
        <p:nvSpPr>
          <p:cNvPr id="13" name="TextBox 12"/>
          <p:cNvSpPr txBox="1"/>
          <p:nvPr/>
        </p:nvSpPr>
        <p:spPr>
          <a:xfrm>
            <a:off x="8430768" y="111556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C800"/>
                </a:solidFill>
                <a:latin typeface="Beeline Sans"/>
              </a:rPr>
              <a:t>Югоцентр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11832336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  <a:latin typeface="Beeline Sans"/>
              </a:rPr>
              <a:t>6 бригад вместо 11, 198 км</a:t>
            </a:r>
          </a:p>
        </p:txBody>
      </p:sp>
      <p:pic>
        <p:nvPicPr>
          <p:cNvPr id="15" name="Picture 14" descr="map3_yugovostok_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86295" y="3017520"/>
            <a:ext cx="7148945" cy="7863840"/>
          </a:xfrm>
          <a:prstGeom prst="roundRect">
            <a:avLst>
              <a:gd name="adj" fmla="val 3000"/>
            </a:avLst>
          </a:prstGeom>
        </p:spPr>
      </p:pic>
      <p:sp>
        <p:nvSpPr>
          <p:cNvPr id="16" name="TextBox 15"/>
          <p:cNvSpPr txBox="1"/>
          <p:nvPr/>
        </p:nvSpPr>
        <p:spPr>
          <a:xfrm>
            <a:off x="16203167" y="1115568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C800"/>
                </a:solidFill>
                <a:latin typeface="Beeline Sans"/>
              </a:rPr>
              <a:t>Юго-восток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3167" y="11832336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0" i="0">
                <a:solidFill>
                  <a:srgbClr val="FFFFFF"/>
                </a:solidFill>
                <a:latin typeface="Beeline Sans"/>
              </a:rPr>
              <a:t>11 бригад вместо 12, 413 км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03167" y="1252728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*На карте Юго-востока только московская часть. Три бригады стартуют из Каширы, Ступино и Домодедово.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56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Число бригад на реальном дне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453359" y="914400"/>
            <a:ext cx="7315200" cy="1828800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5727680" y="91440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41414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машина — 8, 7 и 10 бригад; общественный транспорт — 12, 11 и 12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8" y="3017520"/>
          <a:ext cx="15544800" cy="9418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6642080" y="3017520"/>
            <a:ext cx="7059168" cy="292608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7099280" y="3200400"/>
            <a:ext cx="6217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0" y="4700016"/>
            <a:ext cx="6217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опозданий и невыполненных заявок в нашем плане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642080" y="6217920"/>
            <a:ext cx="7059168" cy="29260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7099280" y="6400800"/>
            <a:ext cx="6217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10–35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0" y="7900416"/>
            <a:ext cx="6217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заявок не выполняет базовый вариант, хотя использует все бригады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642080" y="9418320"/>
            <a:ext cx="7059168" cy="29260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7099280" y="9601200"/>
            <a:ext cx="6217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0" i="0">
                <a:solidFill>
                  <a:srgbClr val="141414"/>
                </a:solidFill>
                <a:latin typeface="Beeline Sans Black"/>
              </a:rPr>
              <a:t>2–35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0" y="11100816"/>
            <a:ext cx="6217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опозданий в реальном плане, если считать по нормативам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Beeline Sans"/>
              </a:rPr>
              <a:t>Все варианты реального дня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453359" y="914400"/>
            <a:ext cx="7315200" cy="1828800"/>
          </a:xfrm>
          <a:prstGeom prst="roundRect">
            <a:avLst>
              <a:gd name="adj" fmla="val 5000"/>
            </a:avLst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5727680" y="91440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FFFFFF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FFC800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FFFFFF"/>
                </a:solidFill>
                <a:latin typeface="Beeline Sans"/>
              </a:rPr>
              <a:t>колонка «Текущая модель»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3017520"/>
          <a:ext cx="23042880" cy="804672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029200"/>
                <a:gridCol w="4206240"/>
                <a:gridCol w="3383280"/>
                <a:gridCol w="3017520"/>
                <a:gridCol w="3200400"/>
                <a:gridCol w="4206240"/>
              </a:tblGrid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141414"/>
                          </a:solidFill>
                          <a:latin typeface="Beeline Sans"/>
                        </a:rPr>
                        <a:t>Участок, транспорт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41414"/>
                          </a:solidFill>
                          <a:latin typeface="Beeline Sans"/>
                        </a:rPr>
                        <a:t>Реальный день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41414"/>
                          </a:solidFill>
                          <a:latin typeface="Beeline Sans"/>
                        </a:rPr>
                        <a:t>Базовый ТЗ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41414"/>
                          </a:solidFill>
                          <a:latin typeface="Beeline Sans"/>
                        </a:rPr>
                        <a:t>Наш план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41414"/>
                          </a:solidFill>
                          <a:latin typeface="Beeline Sans"/>
                        </a:rPr>
                        <a:t>Оптимальность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41414"/>
                          </a:solidFill>
                          <a:latin typeface="Beeline Sans"/>
                        </a:rPr>
                        <a:t>Текущая модель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C800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Восток, общ. транспорт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229 км, 3 опозд.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25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8 бр, 167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1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Восток, машина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252 км, 2 опозд.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19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7 бр, 190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8 бр, 180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Восток, смешанный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/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21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7 бр, 186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8 бр, 187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Югоцентр, общ. транспорт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бр, 228 км, 4 опозд.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бр, 14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6 бр, 198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бр, 3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Югоцентр, машина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бр, 228 км, 2 опозд.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бр, 10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6 бр, 164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7 бр, 130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Югоцентр, смешанный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/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11 бр, 13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6 бр, 161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7 бр, 157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Юго-восток, общ. транспорт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367 км, 35 опозд.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35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11 бр, 413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5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Юго-восток, машина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380 км, 24 опозд.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29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9 бр, 436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10 бр, 417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262626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/>
                      <a:r>
                        <a:rPr sz="2300" b="1" i="0">
                          <a:solidFill>
                            <a:srgbClr val="FFFFFF"/>
                          </a:solidFill>
                          <a:latin typeface="Beeline Sans"/>
                        </a:rPr>
                        <a:t>Юго-восток, смешанный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/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36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FFC800"/>
                          </a:solidFill>
                          <a:latin typeface="Beeline Sans"/>
                        </a:rPr>
                        <a:t>11 бр, 524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доказана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300" b="0" i="0">
                          <a:solidFill>
                            <a:srgbClr val="FFFFFF"/>
                          </a:solidFill>
                          <a:latin typeface="Beeline Sans"/>
                        </a:rPr>
                        <a:t>12 бр, 2 не вып.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11338560"/>
            <a:ext cx="230428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A1A1A1"/>
                </a:solidFill>
                <a:latin typeface="Beeline Sans"/>
              </a:rPr>
              <a:t>*«Доказана»: план оптимален и по числу бригад, и по пробегу, лучшего плана в этих ограничениях нет (нижняя граница совпала с планом).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A1A1A1"/>
                </a:solidFill>
                <a:latin typeface="Beeline Sans"/>
              </a:rPr>
              <a:t>В ячейках: бригад, км, опоздания или невыполненные заявки. Навыки как в реальный день, смешанный транспорт задали мы. Текущая модель — те же заявки с обедом, оборудованием, сложностью работ, домами бригад, расписаниями и пробками (research/deck_report_v2.md).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57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Сравнение с OR-Tools, PyVRP и VROOM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453359" y="914400"/>
            <a:ext cx="7315200" cy="1828800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5727680" y="91440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141414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сравнение с библиотеками не повторяли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8" y="3017520"/>
          <a:ext cx="14081760" cy="8412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5288767" y="3017520"/>
            <a:ext cx="8412480" cy="94183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5800832" y="3474720"/>
            <a:ext cx="7406640" cy="8778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C800"/>
                </a:solidFill>
                <a:latin typeface="Beeline Sans"/>
              </a:rPr>
              <a:t>Все заявки выполнены</a:t>
            </a:r>
          </a:p>
          <a:p>
            <a:pPr algn="l">
              <a:spcBef>
                <a:spcPts val="1800"/>
              </a:spcBef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у нас и у PyVRP в 84 задачах из 88, у VROOM в 79, у OR-Tools в 78. В 4 задачах выполнить все заявки нельзя.</a:t>
            </a:r>
          </a:p>
          <a:p>
            <a:pPr algn="l">
              <a:spcBef>
                <a:spcPts val="1800"/>
              </a:spcBef>
            </a:pPr>
            <a:r>
              <a:rPr sz="3000" b="1" i="0">
                <a:solidFill>
                  <a:srgbClr val="FFC800"/>
                </a:solidFill>
                <a:latin typeface="Beeline Sans"/>
              </a:rPr>
              <a:t>На контрольном дне</a:t>
            </a:r>
          </a:p>
          <a:p>
            <a:pPr algn="l">
              <a:spcBef>
                <a:spcPts val="1800"/>
              </a:spcBef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в 24 задачах PyVRP использует 198 бригад, наш оптимизатор 188 при доказанном минимуме 187.</a:t>
            </a:r>
          </a:p>
          <a:p>
            <a:pPr algn="l">
              <a:spcBef>
                <a:spcPts val="1800"/>
              </a:spcBef>
            </a:pPr>
            <a:r>
              <a:rPr sz="3000" b="1" i="0">
                <a:solidFill>
                  <a:srgbClr val="FFC800"/>
                </a:solidFill>
                <a:latin typeface="Beeline Sans"/>
              </a:rPr>
              <a:t>Почему свой оптимизатор</a:t>
            </a:r>
          </a:p>
          <a:p>
            <a:pPr algn="l">
              <a:spcBef>
                <a:spcPts val="1800"/>
              </a:spcBef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библиотеки учитывают число бригад как слагаемое общей стоимости. Мы сокращаем парк отдельной фазой.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Beeline Sans"/>
              </a:rPr>
              <a:t>Доказанная оптимальность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453359" y="914400"/>
            <a:ext cx="7315200" cy="1828800"/>
          </a:xfrm>
          <a:prstGeom prst="roundRect">
            <a:avLst>
              <a:gd name="adj" fmla="val 5000"/>
            </a:avLst>
          </a:prstGeom>
          <a:solidFill>
            <a:srgbClr val="5E5E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5727680" y="91440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FFFFFF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  <a:p>
            <a:pPr algn="l">
              <a:spcBef>
                <a:spcPts val="400"/>
              </a:spcBef>
            </a:pPr>
            <a:r>
              <a:rPr sz="1800" b="1" i="0">
                <a:solidFill>
                  <a:srgbClr val="FFC800"/>
                </a:solidFill>
                <a:latin typeface="Beeline Sans"/>
              </a:rPr>
              <a:t>в текущей модели: </a:t>
            </a:r>
            <a:r>
              <a:rPr sz="1800" b="0" i="0">
                <a:solidFill>
                  <a:srgbClr val="FFFFFF"/>
                </a:solidFill>
                <a:latin typeface="Beeline Sans"/>
              </a:rPr>
              <a:t>минимум бригад доказан в 70 из 88 задач (16 из 24, 33 из 40, 21 из 24), с запусками по 30 с — в 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200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07007" y="356616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Контрольный день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7" y="4572000"/>
            <a:ext cx="2962656" cy="365760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26464" y="4791456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24/24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6400800"/>
            <a:ext cx="2651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задач: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доказан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минимум бригад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4791456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24/24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640080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задач: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весь план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теоретически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оптимален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30768" y="3200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79408" y="356616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Реальные дни 28–29.09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79408" y="4572000"/>
            <a:ext cx="2962656" cy="365760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98864" y="4791456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40/40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6400800"/>
            <a:ext cx="2651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задач: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доказан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минимум бригад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07824" y="4791456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36/40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07824" y="640080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задач: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весь план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теоретически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оптимален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203167" y="3200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6751808" y="356616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Сгенерированные участки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751808" y="4572000"/>
            <a:ext cx="2962656" cy="365760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6971264" y="4791456"/>
            <a:ext cx="2651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24/24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71264" y="6400800"/>
            <a:ext cx="2651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задач: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доказан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минимум бригад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080224" y="4791456"/>
            <a:ext cx="3200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21/24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80224" y="6400800"/>
            <a:ext cx="3200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задач: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весь план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теоретически</a:t>
            </a:r>
          </a:p>
          <a:p>
            <a:pPr algn="l">
              <a:spcBef>
                <a:spcPts val="0"/>
              </a:spcBef>
            </a:pPr>
            <a:r>
              <a:rPr sz="2100" b="0" i="0">
                <a:solidFill>
                  <a:srgbClr val="141414"/>
                </a:solidFill>
                <a:latin typeface="Beeline Sans"/>
              </a:rPr>
              <a:t>оптимален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9418320"/>
            <a:ext cx="230428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Нижняя граница </a:t>
            </a:r>
            <a:r>
              <a:rPr sz="2600" b="0" i="0">
                <a:solidFill>
                  <a:srgbClr val="FFFFFF"/>
                </a:solidFill>
                <a:latin typeface="Beeline Sans"/>
              </a:rPr>
              <a:t>нужна только для доказательства: она показывает, что выбранный подход близок к теоретическому пределу. Для работы оптимизатора и интеграции её считать не нужно. Граница считается 1–3 минуты, полное доказательство — от минуты до часа.</a:t>
            </a:r>
          </a:p>
          <a:p>
            <a:pPr algn="l">
              <a:spcBef>
                <a:spcPts val="2000"/>
              </a:spcBef>
            </a:pPr>
            <a:r>
              <a:rPr sz="2600" b="1" i="0">
                <a:solidFill>
                  <a:srgbClr val="FFC800"/>
                </a:solidFill>
                <a:latin typeface="Beeline Sans"/>
              </a:rPr>
              <a:t>До оптимума </a:t>
            </a:r>
            <a:r>
              <a:rPr sz="2600" b="0" i="0">
                <a:solidFill>
                  <a:srgbClr val="FFFFFF"/>
                </a:solidFill>
                <a:latin typeface="Beeline Sans"/>
              </a:rPr>
              <a:t>в 81 задаче из 88 лучший план совпал с теоретической нижней границей. В остальных 7 он отстаёт от нижней границы по км в среднем на 0,8% (не больше 3,3%), по всем 88 задачам в пределах 0,06%.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1A1A1"/>
                </a:solidFill>
                <a:latin typeface="Beeline Sans"/>
              </a:rPr>
              <a:t>36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Скорость работы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453359" y="914400"/>
            <a:ext cx="7315200" cy="1133856"/>
          </a:xfrm>
          <a:prstGeom prst="roundRect">
            <a:avLst>
              <a:gd name="adj" fmla="val 5000"/>
            </a:avLst>
          </a:prstGeom>
          <a:solidFill>
            <a:srgbClr val="FFF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5727680" y="914400"/>
            <a:ext cx="6858000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41414"/>
                </a:solidFill>
                <a:latin typeface="Beeline Sans"/>
              </a:rPr>
              <a:t>модель первого этапа: </a:t>
            </a:r>
            <a:r>
              <a:rPr sz="1800" b="0" i="0">
                <a:solidFill>
                  <a:srgbClr val="141414"/>
                </a:solidFill>
                <a:latin typeface="Beeline Sans"/>
              </a:rPr>
              <a:t>смена 10–22 без обеда, транспорт по средней скорости, пробки одним коэффициентом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58368" y="3017520"/>
          <a:ext cx="13167360" cy="8321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" y="11521440"/>
            <a:ext cx="1316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8C8C8C"/>
                </a:solidFill>
                <a:latin typeface="Beeline Sans"/>
              </a:rPr>
              <a:t>*Доля запусков по 3 с (8 потоков, сиды 1–3): 88 задач, 264 запуска.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447520" y="3017520"/>
            <a:ext cx="9253728" cy="2871216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904720" y="3236976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40" y="3383279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контрольный день: все 24 плана оптимальны целиком — и по бригадам, и по км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447520" y="6163056"/>
            <a:ext cx="9253728" cy="287121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4904720" y="6382512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40" y="6528816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задач (81 из 88): план оптимален целиком; по всем 88 — в пределах 0,06% от нижней границы по км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447520" y="9308592"/>
            <a:ext cx="9253728" cy="2871216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4904720" y="9528048"/>
            <a:ext cx="2926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0" i="0">
                <a:solidFill>
                  <a:srgbClr val="141414"/>
                </a:solidFill>
                <a:latin typeface="Beeline Sans Black"/>
              </a:rPr>
              <a:t>&lt; 1 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40" y="9674352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0" i="0">
                <a:solidFill>
                  <a:srgbClr val="141414"/>
                </a:solidFill>
                <a:latin typeface="Beeline Sans"/>
              </a:rPr>
              <a:t>время решателя на 1000 участков на одном ноутбуке при 3 секундах на участок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Что пробовали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017520"/>
          <a:ext cx="23042880" cy="90708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0"/>
                <a:gridCol w="8412480"/>
              </a:tblGrid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Подход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FFFFFF"/>
                          </a:solidFill>
                          <a:latin typeface="Beeline Sans"/>
                        </a:rPr>
                        <a:t>Результат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Жадные: сортировка по окну, ближайший сосед, заметание, экономия Кларка–Райта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много бригад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Графовые: покрытие путями, поток, венгерский по слотам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слабее; венгерский оставили для назначения бригад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Табу-поиск, лучевой поиск, облегчённый HGS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хуже отжига и ALNS за 1 секунду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OR-Tools, PyVRP, VROOM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в среднем на 0,5–0,7 бригады больше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Собрать план из лучших маршрутов разных запусков (точный подбор CP-SAT)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почти без выигрыша: короче лишь в 4 задачах из 30, максимум на 3,4 км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Подсказки по видам транспорта, план по кластерам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0" i="0">
                          <a:solidFill>
                            <a:srgbClr val="141414"/>
                          </a:solidFill>
                          <a:latin typeface="Beeline Sans"/>
                        </a:rPr>
                        <a:t>в среднем без выигрыша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</a:tr>
              <a:tr h="1133856"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Отжиг, ALNS, SISR в 8 параллельных потоках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2500" b="1" i="0">
                          <a:solidFill>
                            <a:srgbClr val="141414"/>
                          </a:solidFill>
                          <a:latin typeface="Beeline Sans"/>
                        </a:rPr>
                        <a:t>используем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38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Эффект и ограничения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017520"/>
            <a:ext cx="7315200" cy="30175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7" y="3200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35 →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48463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бригад на трёх участках организаторов, новая модель, смешанный транспорт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0768" y="3017520"/>
            <a:ext cx="7315200" cy="30175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79408" y="3200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6 из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48463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участков: меньше бригад нельзя, доказано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03167" y="3017520"/>
            <a:ext cx="7315200" cy="30175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6751808" y="3200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0" i="0">
                <a:solidFill>
                  <a:srgbClr val="141414"/>
                </a:solidFill>
                <a:latin typeface="Beeline Sans Black"/>
              </a:rPr>
              <a:t>203 из 205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51808" y="484632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141414"/>
                </a:solidFill>
                <a:latin typeface="Beeline Sans"/>
              </a:rPr>
              <a:t>заявок на трёх участках организаторов; базовый вариант — 121 на всех бригадах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6309360"/>
            <a:ext cx="23042880" cy="128016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6400800"/>
            <a:ext cx="223113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FFC800"/>
                </a:solidFill>
                <a:latin typeface="Beeline Sans"/>
              </a:rPr>
              <a:t>В модели первого этапа </a:t>
            </a:r>
            <a:r>
              <a:rPr sz="2600" b="0" i="0">
                <a:solidFill>
                  <a:srgbClr val="FFFFFF"/>
                </a:solidFill>
                <a:latin typeface="Beeline Sans"/>
              </a:rPr>
              <a:t>(смена 10–22 без обеда) теоретический оптимум по бригадам — во всех 88 тестовых задачах, по км — в 81 из 88.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7863840"/>
            <a:ext cx="11338560" cy="44805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07007" y="813816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Ограничения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905256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цифры с пометкой «модель первого этапа» — смена 10–22 без обеда</a:t>
            </a:r>
          </a:p>
          <a:p>
            <a:pPr algn="l" marL="438912" indent="-438912">
              <a:spcBef>
                <a:spcPts val="16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в новой модели минимум бригад доказан на всех шести участках, оптимум по км не доказываем</a:t>
            </a:r>
          </a:p>
          <a:p>
            <a:pPr algn="l" marL="438912" indent="-438912">
              <a:spcBef>
                <a:spcPts val="16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аварии из файла с окном на весь день: ожидание штрафуем, но не запрещаем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62688" y="7863840"/>
            <a:ext cx="11338560" cy="448056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911328" y="813816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Что дальше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11328" y="905256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стоимость бригады в км как настройка диспетчера</a:t>
            </a:r>
          </a:p>
          <a:p>
            <a:pPr algn="l" marL="438912" indent="-438912">
              <a:spcBef>
                <a:spcPts val="16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планирование на несколько дней, пополнение оборудования днём</a:t>
            </a:r>
          </a:p>
          <a:p>
            <a:pPr algn="l" marL="438912" indent="-438912">
              <a:spcBef>
                <a:spcPts val="1600"/>
              </a:spcBef>
              <a:buClr>
                <a:srgbClr val="141414"/>
              </a:buClr>
              <a:buFont typeface="Beeline Sans"/>
              <a:buChar char="—"/>
            </a:pPr>
            <a:r>
              <a:rPr sz="2500" b="0" i="0">
                <a:solidFill>
                  <a:srgbClr val="141414"/>
                </a:solidFill>
                <a:latin typeface="Beeline Sans"/>
              </a:rPr>
              <a:t>точное время общественного транспорта на момент выезда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39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Результаты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Технологии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01752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7" y="3419856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Оптимизатор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4151376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C++17, свои эвристики, 8 потоков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30768" y="301752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79408" y="3419856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Оценка нижней границы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4151376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Python, HiGHS, CP-SAT: генерация столбцов и точные задачи; нужна только для оценки качества плана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203167" y="3017520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6751808" y="3419856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Дороги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51808" y="4151376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OSRM в Docker, OpenStreetMap Москвы и области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6126479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07007" y="6528816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Тесты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7260336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около 390 модульных, сквозных и браузерных тестов (pytest, Playwright)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30768" y="6126479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979408" y="6528816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Интерфейс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7260336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экран диспетчера по сценариям, экран инженера на телефоне, сервер пересчёта событий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203167" y="6126479"/>
            <a:ext cx="7315200" cy="27432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6751808" y="6528816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Данные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51808" y="7260336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на входе заявки и бригады в xlsx или CSV, на выходе plan.xlsx и plan.json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9601200"/>
            <a:ext cx="23042880" cy="274320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9966960"/>
            <a:ext cx="21945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C800"/>
                </a:solidFill>
                <a:latin typeface="Beeline Sans"/>
              </a:rPr>
              <a:t>Запуск: одна команда на участок</a:t>
            </a:r>
          </a:p>
          <a:p>
            <a:pPr algn="l">
              <a:spcBef>
                <a:spcPts val="800"/>
              </a:spcBef>
            </a:pPr>
            <a:r>
              <a:rPr sz="2500" b="0" i="0">
                <a:solidFill>
                  <a:srgbClr val="FFFFFF"/>
                </a:solidFill>
                <a:latin typeface="Beeline Sans"/>
              </a:rPr>
              <a:t>python -m dispatch plan "Восток заявки.xlsx" -b "Восток бригады.xlsx" -o out/Восток</a:t>
            </a:r>
          </a:p>
          <a:p>
            <a:pPr algn="l">
              <a:spcBef>
                <a:spcPts val="800"/>
              </a:spcBef>
            </a:pPr>
            <a:r>
              <a:rPr sz="2500" b="0" i="0">
                <a:solidFill>
                  <a:srgbClr val="A1A1A1"/>
                </a:solidFill>
                <a:latin typeface="Beeline Sans"/>
              </a:rPr>
              <a:t>в папке результата план, метрики, причины неназначения и объяснения; демо целиком — docker compose 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40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1" name="спасибо">
            <a:extLst>
              <a:ext uri="{FF2B5EF4-FFF2-40B4-BE49-F238E27FC236}">
                <a16:creationId xmlns:a16="http://schemas.microsoft.com/office/drawing/2014/main" id="{956FE607-2AAF-233D-56EB-85446070CA4B}"/>
              </a:ext>
            </a:extLst>
          </p:cNvPr>
          <p:cNvSpPr txBox="1"/>
          <p:nvPr/>
        </p:nvSpPr>
        <p:spPr>
          <a:xfrm>
            <a:off x="807330" y="9998690"/>
            <a:ext cx="21578977" cy="302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l">
              <a:lnSpc>
                <a:spcPct val="90000"/>
              </a:lnSpc>
              <a:defRPr sz="21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 err="1"/>
              <a:t>спасибо</a:t>
            </a:r>
            <a:endParaRPr dirty="0"/>
          </a:p>
        </p:txBody>
      </p:sp>
      <p:pic>
        <p:nvPicPr>
          <p:cNvPr id="603" name="Изображение" descr="Изображение">
            <a:extLst>
              <a:ext uri="{FF2B5EF4-FFF2-40B4-BE49-F238E27FC236}">
                <a16:creationId xmlns:a16="http://schemas.microsoft.com/office/drawing/2014/main" id="{B60C4DF0-D2EC-FCAA-6E47-DB9D6B777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30" y="971501"/>
            <a:ext cx="4779520" cy="899856"/>
          </a:xfrm>
          <a:prstGeom prst="rect">
            <a:avLst/>
          </a:prstGeom>
          <a:ln w="12700">
            <a:miter lim="400000"/>
          </a:ln>
        </p:spPr>
      </p:pic>
      <p:sp>
        <p:nvSpPr>
          <p:cNvPr id="604" name="TextBox 603"/>
          <p:cNvSpPr txBox="1"/>
          <p:nvPr/>
        </p:nvSpPr>
        <p:spPr>
          <a:xfrm>
            <a:off x="804672" y="420624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Beeline Sans"/>
              </a:rPr>
              <a:t>Никита Подгузов</a:t>
            </a:r>
          </a:p>
        </p:txBody>
      </p:sp>
      <p:sp>
        <p:nvSpPr>
          <p:cNvPr id="605" name="TextBox 604"/>
          <p:cNvSpPr txBox="1"/>
          <p:nvPr/>
        </p:nvSpPr>
        <p:spPr>
          <a:xfrm>
            <a:off x="804672" y="51206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A1A1A1"/>
                </a:solidFill>
                <a:latin typeface="Beeline Sans"/>
              </a:rPr>
              <a:t>капитан, бекенд-разработчик</a:t>
            </a:r>
          </a:p>
        </p:txBody>
      </p:sp>
      <p:sp>
        <p:nvSpPr>
          <p:cNvPr id="606" name="TextBox 605"/>
          <p:cNvSpPr txBox="1"/>
          <p:nvPr/>
        </p:nvSpPr>
        <p:spPr>
          <a:xfrm>
            <a:off x="804672" y="58521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C800"/>
                </a:solidFill>
                <a:latin typeface="Beeline Sans"/>
              </a:rPr>
              <a:t>@Nikitosh</a:t>
            </a:r>
          </a:p>
        </p:txBody>
      </p:sp>
      <p:sp>
        <p:nvSpPr>
          <p:cNvPr id="607" name="TextBox 606"/>
          <p:cNvSpPr txBox="1"/>
          <p:nvPr/>
        </p:nvSpPr>
        <p:spPr>
          <a:xfrm>
            <a:off x="8668512" y="420624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Beeline Sans"/>
              </a:rPr>
              <a:t>Ксения Шор</a:t>
            </a:r>
          </a:p>
        </p:txBody>
      </p:sp>
      <p:sp>
        <p:nvSpPr>
          <p:cNvPr id="608" name="TextBox 607"/>
          <p:cNvSpPr txBox="1"/>
          <p:nvPr/>
        </p:nvSpPr>
        <p:spPr>
          <a:xfrm>
            <a:off x="8668512" y="51206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A1A1A1"/>
                </a:solidFill>
                <a:latin typeface="Beeline Sans"/>
              </a:rPr>
              <a:t>дизайнер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8668512" y="585216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C800"/>
                </a:solidFill>
                <a:latin typeface="Beeline Sans"/>
              </a:rPr>
              <a:t>@KseniiaShor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804672" y="2468880"/>
            <a:ext cx="1463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FFC800"/>
                </a:solidFill>
                <a:latin typeface="Beeline Sans Black"/>
              </a:rPr>
              <a:t>Команда Trdelnik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Нижняя граница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10241280" cy="6492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lgo_colum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221" y="3383280"/>
            <a:ext cx="8796996" cy="6126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987552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8C8C8C"/>
                </a:solidFill>
                <a:latin typeface="Beeline Sans"/>
              </a:rPr>
              <a:t>модель первого этапа, 88 задач (в текущей модели минимум доказан в 70 из 88):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0460736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1053388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Beeline Sans Black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1338560"/>
            <a:ext cx="288950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1414"/>
                </a:solidFill>
                <a:latin typeface="Beeline Sans"/>
              </a:rPr>
              <a:t>задач: план выходит на доказанный минимум бригад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7" y="10460736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07407" y="1053388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Beeline Sans Black"/>
              </a:rPr>
              <a:t>92%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7" y="11338560"/>
            <a:ext cx="288950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1414"/>
                </a:solidFill>
                <a:latin typeface="Beeline Sans"/>
              </a:rPr>
              <a:t>задач: лучший найденный план оптимален целиком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7808" y="10460736"/>
            <a:ext cx="3291840" cy="192024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82128" y="10533888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0" i="0">
                <a:solidFill>
                  <a:srgbClr val="141414"/>
                </a:solidFill>
                <a:latin typeface="Beeline Sans Black"/>
              </a:rPr>
              <a:t>+0,06%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8" y="11338560"/>
            <a:ext cx="288950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141414"/>
                </a:solidFill>
                <a:latin typeface="Beeline Sans"/>
              </a:rPr>
              <a:t>пробег лучшего плана к нижней границе в среднем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325526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0" y="329184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Задача покрытия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0" y="402336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Каждый допустимый маршрут одной бригады — столбец таблицы: какие заявки он покрывает и сколько стоит. Выбираем столбцы так, чтобы каждая заявка вошла ровно в один.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18134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0" y="621792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Линейная релаксация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0" y="694944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Разрешаем брать маршрут частично, например на 0,5. Такой план не выполнить, полбригады не бывает. Но настоящий план не может быть дешевле, поэтому его стоимость и есть граница.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9107424"/>
            <a:ext cx="1371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141414"/>
                </a:solidFill>
                <a:latin typeface="Beeline Sans Black"/>
              </a:rPr>
              <a:t>#3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0" y="914400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Что она даёт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0" y="987552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Если найденный план совпал с границей, лучшего плана в этих ограничениях не существует. Если не совпал, граница показывает, сколько максимум можно выиграть.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Изменения в течение дня</a:t>
            </a:r>
          </a:p>
        </p:txBody>
      </p:sp>
      <p:pic>
        <p:nvPicPr>
          <p:cNvPr id="7" name="Picture 6" descr="ev_ur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08960"/>
            <a:ext cx="5538321" cy="438912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653889" y="3200400"/>
            <a:ext cx="516015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Новая заявка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3889" y="3931920"/>
            <a:ext cx="516015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её берёт бригада, у которой есть свободный промежуток; остальные заявки остаются у своих бригад</a:t>
            </a:r>
          </a:p>
        </p:txBody>
      </p:sp>
      <p:pic>
        <p:nvPicPr>
          <p:cNvPr id="10" name="Picture 9" descr="ev_fini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2688" y="3108960"/>
            <a:ext cx="5931243" cy="438912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8751131" y="3200400"/>
            <a:ext cx="47672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Закончили позже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51131" y="3931920"/>
            <a:ext cx="4767236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бригада задержалась на адресе; следующих клиентов, к которым она не успевает, берут другие бригады</a:t>
            </a:r>
          </a:p>
        </p:txBody>
      </p:sp>
      <p:pic>
        <p:nvPicPr>
          <p:cNvPr id="13" name="Picture 12" descr="ev_break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7863840"/>
            <a:ext cx="4324256" cy="438912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5439824" y="7955279"/>
            <a:ext cx="6374223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Сломалась машина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9824" y="8686800"/>
            <a:ext cx="6374223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бригада продолжает день на общественном транспорте; заявки, к которым она теперь не успевает, берут другие</a:t>
            </a:r>
          </a:p>
        </p:txBody>
      </p:sp>
      <p:pic>
        <p:nvPicPr>
          <p:cNvPr id="16" name="Picture 15" descr="ev_unavaila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2688" y="7863840"/>
            <a:ext cx="3257231" cy="4389120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16077119" y="7955279"/>
            <a:ext cx="744124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Инженер выбыл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77119" y="8686800"/>
            <a:ext cx="7441248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начатую заявку он доделывает, остальные его заявки распределяются между бригадами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19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Продукт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Остальные события дня</a:t>
            </a:r>
          </a:p>
        </p:txBody>
      </p:sp>
      <p:pic>
        <p:nvPicPr>
          <p:cNvPr id="7" name="Picture 6" descr="ev_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7315200" cy="5797296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1100815"/>
            <a:ext cx="73152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Клиент перенёс окно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704319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если бригада успевает в новое окно, меняется только время визита</a:t>
            </a:r>
          </a:p>
        </p:txBody>
      </p:sp>
      <p:pic>
        <p:nvPicPr>
          <p:cNvPr id="10" name="Picture 9" descr="ev_canc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3017520"/>
            <a:ext cx="7315200" cy="5413248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522208" y="11100815"/>
            <a:ext cx="73152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Отмена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11704319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у бригады освобождается время, остальные заявки не меняются</a:t>
            </a:r>
          </a:p>
        </p:txBody>
      </p:sp>
      <p:pic>
        <p:nvPicPr>
          <p:cNvPr id="13" name="Picture 12" descr="ev_accid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86048" y="3017520"/>
            <a:ext cx="7315200" cy="5797296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6386048" y="11100815"/>
            <a:ext cx="73152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Авария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386048" y="11704319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начнётся в пределах двух часов; выполненное и начатое не меняется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52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Экран инженера и маршрутный лист</a:t>
            </a:r>
          </a:p>
        </p:txBody>
      </p:sp>
      <p:pic>
        <p:nvPicPr>
          <p:cNvPr id="7" name="Picture 6" descr="eng_phon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38" y="2651760"/>
            <a:ext cx="4602780" cy="8321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10698480"/>
            <a:ext cx="36576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День бригады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338560"/>
            <a:ext cx="3657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адреса по порядку, смена и пробег; внизу следующий адрес и кнопка «Приехал»</a:t>
            </a:r>
          </a:p>
        </p:txBody>
      </p:sp>
      <p:pic>
        <p:nvPicPr>
          <p:cNvPr id="10" name="Picture 9" descr="eng_pho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2290" y="2651760"/>
            <a:ext cx="4602780" cy="83210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0" y="10698480"/>
            <a:ext cx="36576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На адресе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1338560"/>
            <a:ext cx="3657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подъезд, этаж, кому позвонить; кнопка «Закончил» на карточке и внизу</a:t>
            </a:r>
          </a:p>
        </p:txBody>
      </p:sp>
      <p:pic>
        <p:nvPicPr>
          <p:cNvPr id="13" name="Picture 12" descr="eng_pho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242" y="2651760"/>
            <a:ext cx="4602780" cy="8321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34272" y="10698480"/>
            <a:ext cx="36576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Отметки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11338560"/>
            <a:ext cx="3657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опоздание сразу видят инженер и диспетчер</a:t>
            </a:r>
          </a:p>
        </p:txBody>
      </p:sp>
      <p:pic>
        <p:nvPicPr>
          <p:cNvPr id="16" name="Picture 15" descr="eng_sheet_paper_t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7359" y="3200400"/>
            <a:ext cx="10881360" cy="6825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624560" y="10698480"/>
            <a:ext cx="96926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Маршрутный лист А4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24560" y="11338560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оборудование на маршрут, обзвон накануне, адреса по порядку, обед, подпись клиента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Старт из дома и авария в пути</a:t>
            </a:r>
          </a:p>
        </p:txBody>
      </p:sp>
      <p:pic>
        <p:nvPicPr>
          <p:cNvPr id="7" name="Picture 6" descr="home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17520"/>
            <a:ext cx="11247119" cy="7029449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58368" y="10369296"/>
            <a:ext cx="1124711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Старт из дома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972800"/>
            <a:ext cx="1124711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каждая бригада начинает день из дома — значки на карте. Справа — откуда выезжает бригада и сколько ехать до первого адреса</a:t>
            </a:r>
          </a:p>
        </p:txBody>
      </p:sp>
      <p:pic>
        <p:nvPicPr>
          <p:cNvPr id="10" name="Picture 9" descr="tu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4128" y="3017520"/>
            <a:ext cx="11247119" cy="7029449"/>
          </a:xfrm>
          <a:prstGeom prst="roundRect">
            <a:avLst>
              <a:gd name="adj" fmla="val 2000"/>
            </a:avLst>
          </a:prstGeom>
          <a:ln w="19050">
            <a:solidFill>
              <a:srgbClr val="F1F1F1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12454128" y="10369296"/>
            <a:ext cx="11247119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Авария застала бригаду в пути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54128" y="10972800"/>
            <a:ext cx="1124711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бригада ехала к клиенту, рядом случилась авария. План пересчитан от места, где бригада сейчас: она сворачивает к аварии, брошенный переезд — красным пунктиром, её следующие заявки берут другие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27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Алгоритм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Шаги 2–3. Меньше бригад, меньше пробега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200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lgo_fle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296335"/>
            <a:ext cx="3200399" cy="3294529"/>
          </a:xfrm>
          <a:prstGeom prst="rect">
            <a:avLst/>
          </a:prstGeom>
        </p:spPr>
      </p:pic>
      <p:pic>
        <p:nvPicPr>
          <p:cNvPr id="9" name="Picture 8" descr="algo_flee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4296335"/>
            <a:ext cx="3200399" cy="3294529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4059936" y="5943600"/>
            <a:ext cx="512064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905256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Меньше бригад: отжиг и ALNS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9875520"/>
            <a:ext cx="7315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Убираем маршрут целиком, его заявки уходят в пул. Отжиг перетасовывает их мелкими ходами, ALNS выбрасывает часть плана и собирает заново; штраф за заявки, которые долго остаются без места, растёт. Когда пул пуст, бригад стало на одну меньше.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3200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algo_sisr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4296335"/>
            <a:ext cx="3200399" cy="3294529"/>
          </a:xfrm>
          <a:prstGeom prst="rect">
            <a:avLst/>
          </a:prstGeom>
        </p:spPr>
      </p:pic>
      <p:pic>
        <p:nvPicPr>
          <p:cNvPr id="15" name="Picture 14" descr="algo_sisr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62688" y="4296335"/>
            <a:ext cx="3200399" cy="3294529"/>
          </a:xfrm>
          <a:prstGeom prst="rect">
            <a:avLst/>
          </a:prstGeom>
        </p:spPr>
      </p:pic>
      <p:cxnSp>
        <p:nvCxnSpPr>
          <p:cNvPr id="16" name="Connector 15"/>
          <p:cNvCxnSpPr/>
          <p:nvPr/>
        </p:nvCxnSpPr>
        <p:spPr>
          <a:xfrm>
            <a:off x="11832336" y="5943600"/>
            <a:ext cx="512064" cy="0"/>
          </a:xfrm>
          <a:prstGeom prst="line">
            <a:avLst/>
          </a:prstGeom>
          <a:ln w="5080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30768" y="905256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Меньше пробега: SISR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9875520"/>
            <a:ext cx="7315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Когда число бригад уже минимально, вырезаем цепочки соседних заявок из нескольких маршрутов и вставляем туда, где дешевле. Новый план принимаем по правилу отжига, иногда даже чуть худший: так поиск выходит из локальных минимумов.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203167" y="3200400"/>
            <a:ext cx="7315200" cy="548640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algo_sw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22623" y="3947258"/>
            <a:ext cx="6876288" cy="399268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203167" y="905256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41414"/>
                </a:solidFill>
                <a:latin typeface="Beeline Sans"/>
              </a:rPr>
              <a:t>Обмен начал маршрутов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03167" y="9875520"/>
            <a:ext cx="73152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5E5E5E"/>
                </a:solidFill>
                <a:latin typeface="Beeline Sans"/>
              </a:rPr>
              <a:t>До выбранного часа две бригады меняются заявками, после — оставляют свои; не поместившиеся заявки вставляются заново. За один ход перестраиваются утренние участки двух бригад. Так поиск выбирается из плохих минимумов на Юго-востоке, где бригады живут в Кашире, Ступино и Домодедово.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13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Рейтинг: байесовское среднее с затуханием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08960"/>
            <a:ext cx="11521440" cy="92354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8" y="347472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C800"/>
                </a:solidFill>
                <a:latin typeface="Beeline Sans"/>
              </a:rPr>
              <a:t>Рейтинг по виду работ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438912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 i="0">
                <a:solidFill>
                  <a:srgbClr val="FFFFFF"/>
                </a:solidFill>
                <a:latin typeface="Beeline Sans Black"/>
              </a:rPr>
              <a:t>R = (10·μ + Σ wᵢ·rᵢ) / (10 + Σ wᵢ)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576072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Beeline Sans"/>
              </a:rPr>
              <a:t>wᵢ = 0,5 ^ (возраст отзыва / 60 дней)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7040880"/>
            <a:ext cx="1060704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μ — средняя оценка по участку с весом 10 отзывов. Поэтому новичок с одной пятёркой не обгоняет опытного, а одна случайная двойка почти не снижает рейтинг хорошего монтажника</a:t>
            </a:r>
          </a:p>
          <a:p>
            <a:pPr algn="l" marL="438912" indent="-438912">
              <a:spcBef>
                <a:spcPts val="1200"/>
              </a:spcBef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вес отзыва падает вдвое за 60 дней, поэтому свежие оценки весят больше старых</a:t>
            </a:r>
          </a:p>
          <a:p>
            <a:pPr algn="l" marL="438912" indent="-438912">
              <a:spcBef>
                <a:spcPts val="1200"/>
              </a:spcBef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считаем только «качество работы» и только того, кто выполнил заявку; опоздание по вине плана в его пунктуальность не идёт</a:t>
            </a:r>
          </a:p>
          <a:p>
            <a:pPr algn="l" marL="438912" indent="-438912">
              <a:spcBef>
                <a:spcPts val="1200"/>
              </a:spcBef>
              <a:buClr>
                <a:srgbClr val="FFC800"/>
              </a:buClr>
              <a:buFont typeface="Beeline Sans"/>
              <a:buChar char="—"/>
            </a:pPr>
            <a:r>
              <a:rPr sz="2300" b="0" i="0">
                <a:solidFill>
                  <a:srgbClr val="FFFFFF"/>
                </a:solidFill>
                <a:latin typeface="Beeline Sans"/>
              </a:rPr>
              <a:t>отдельно ремонт, подключение и аварии; меньше 8 отзывов — «мало данных»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12710160" y="3017520"/>
          <a:ext cx="10972800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2893040" y="7498079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5E5E5E"/>
                </a:solidFill>
                <a:latin typeface="Beeline Sans"/>
              </a:rPr>
              <a:t>вес отзыва по возрасту, дней: через 60 — половина, через 120 — четверть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2710160" y="8138160"/>
          <a:ext cx="10972800" cy="3749039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2893040" y="118872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5E5E5E"/>
                </a:solidFill>
                <a:latin typeface="Beeline Sans"/>
              </a:rPr>
              <a:t>рейтинг по числу отзывов при среднем по участку 4,2: одна пятёрка — 4,27, тридцать — 4,80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Дом по адресу: этаж, лифт, подъезд, пропуск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1752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Откуда берём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840480"/>
            <a:ext cx="7132320" cy="1792224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24128" y="3986784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Кадастровая оценка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4608576"/>
            <a:ext cx="6583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41414"/>
                </a:solidFill>
                <a:latin typeface="Beeline Sans"/>
              </a:rPr>
              <a:t>этаж и подъезд каждой квартиры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5888736"/>
            <a:ext cx="7132320" cy="1792224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603504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Реформа ЖКХ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6656832"/>
            <a:ext cx="6583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этажность, лифты, год постройки, материал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7936992"/>
            <a:ext cx="7132320" cy="1792224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8083296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41414"/>
                </a:solidFill>
                <a:latin typeface="Beeline Sans"/>
              </a:rPr>
              <a:t>OpenStreetMap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8705088"/>
            <a:ext cx="6583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5E5E5E"/>
                </a:solidFill>
                <a:latin typeface="Beeline Sans"/>
              </a:rPr>
              <a:t>подъезды с координатами и номерами квартир, офисы, шлагбаумы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79" y="6492240"/>
            <a:ext cx="731521" cy="0"/>
          </a:xfrm>
          <a:prstGeom prst="line">
            <a:avLst/>
          </a:prstGeom>
          <a:ln w="5588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869680" y="3017520"/>
            <a:ext cx="6583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Что знаем о заявке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3840480"/>
            <a:ext cx="6583680" cy="5888736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90304" y="4114800"/>
            <a:ext cx="585216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подъезд и этаж квартиры — точка на карте у нужного подъезда</a:t>
            </a:r>
          </a:p>
          <a:p>
            <a:pPr algn="l" marL="438912" indent="-438912">
              <a:spcBef>
                <a:spcPts val="1400"/>
              </a:spcBef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есть ли лифт</a:t>
            </a:r>
          </a:p>
          <a:p>
            <a:pPr algn="l" marL="438912" indent="-438912">
              <a:spcBef>
                <a:spcPts val="1400"/>
              </a:spcBef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год постройки: старый дом или новый</a:t>
            </a:r>
          </a:p>
          <a:p>
            <a:pPr algn="l" marL="438912" indent="-438912">
              <a:spcBef>
                <a:spcPts val="1400"/>
              </a:spcBef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пропуск в офисное здание</a:t>
            </a:r>
          </a:p>
          <a:p>
            <a:pPr algn="l" marL="438912" indent="-438912">
              <a:spcBef>
                <a:spcPts val="1400"/>
              </a:spcBef>
              <a:buClr>
                <a:srgbClr val="FFC800"/>
              </a:buClr>
              <a:buFont typeface="Beeline Sans"/>
              <a:buChar char="—"/>
            </a:pPr>
            <a:r>
              <a:rPr sz="2400" b="0" i="0">
                <a:solidFill>
                  <a:srgbClr val="FFFFFF"/>
                </a:solidFill>
                <a:latin typeface="Beeline Sans"/>
              </a:rPr>
              <a:t>шлагбаум или закрытый двор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636240" y="6492240"/>
            <a:ext cx="731519" cy="0"/>
          </a:xfrm>
          <a:prstGeom prst="line">
            <a:avLst/>
          </a:prstGeom>
          <a:ln w="55880">
            <a:solidFill>
              <a:srgbClr val="1414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550640" y="3017520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41414"/>
                </a:solidFill>
                <a:latin typeface="Beeline Sans"/>
              </a:rPr>
              <a:t>Как меняется длительность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16550640" y="3840480"/>
          <a:ext cx="7132320" cy="588873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57600"/>
                <a:gridCol w="3474720"/>
              </a:tblGrid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1" i="0">
                          <a:solidFill>
                            <a:srgbClr val="FFFFFF"/>
                          </a:solidFill>
                          <a:latin typeface="Beeline Sans"/>
                        </a:rPr>
                        <a:t>Поправка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Beeline Sans"/>
                        </a:rPr>
                        <a:t>Сколько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141414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подъём без лифта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0,5 мин × этаж × проходы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дом до 1960 года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×1,15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дом с 2015 года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×0,90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гигабит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+10 мин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пропуск в офис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+5 мин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шлагбаум (машина)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2100" b="0" i="0">
                          <a:solidFill>
                            <a:srgbClr val="141414"/>
                          </a:solidFill>
                          <a:latin typeface="Beeline Sans"/>
                        </a:rPr>
                        <a:t>+3 мин к дороге</a:t>
                      </a:r>
                    </a:p>
                  </a:txBody>
                  <a:tcPr marL="182880" marR="182880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24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Сложность работ и уточнение по историческим данным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08960"/>
            <a:ext cx="11521440" cy="923544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07008" y="3438144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C800"/>
                </a:solidFill>
                <a:latin typeface="Beeline Sans"/>
              </a:rPr>
              <a:t>Длительность работы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4169663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Beeline Sans Black"/>
              </a:rPr>
              <a:t>t = (норматив × k работы × k дома + минуты) × темп бригады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502920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A1A1A1"/>
                </a:solidFill>
                <a:latin typeface="Beeline Sans"/>
              </a:rPr>
              <a:t>k работы: подтип (гигабит, пакет услуг, нет связи). k дома: старый или новый. Минуты: этаж без лифта, пропуск, гигабит. В карточке заявки видно, из чего сложилось время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630936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C800"/>
                </a:solidFill>
                <a:latin typeface="Beeline Sans"/>
              </a:rPr>
              <a:t>Каждый выезд: r = факт / прогноз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704088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Beeline Sans Black"/>
              </a:rPr>
              <a:t>k ← k × exp( Σ ln r / (n + 8)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8503920"/>
            <a:ext cx="106070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438912" indent="-438912">
              <a:buClr>
                <a:srgbClr val="FFC800"/>
              </a:buClr>
              <a:buFont typeface="Beeline Sans"/>
              <a:buChar char="—"/>
            </a:pPr>
            <a:r>
              <a:rPr sz="2500" b="0" i="0">
                <a:solidFill>
                  <a:srgbClr val="FFFFFF"/>
                </a:solidFill>
                <a:latin typeface="Beeline Sans"/>
              </a:rPr>
              <a:t>8 условных выездов «как сейчас»: пока фактов мало, k почти не меняется</a:t>
            </a:r>
          </a:p>
          <a:p>
            <a:pPr algn="l" marL="438912" indent="-438912">
              <a:spcBef>
                <a:spcPts val="1400"/>
              </a:spcBef>
              <a:buClr>
                <a:srgbClr val="FFC800"/>
              </a:buClr>
              <a:buFont typeface="Beeline Sans"/>
              <a:buChar char="—"/>
            </a:pPr>
            <a:r>
              <a:rPr sz="2500" b="0" i="0">
                <a:solidFill>
                  <a:srgbClr val="FFFFFF"/>
                </a:solidFill>
                <a:latin typeface="Beeline Sans"/>
              </a:rPr>
              <a:t>по шагам: подтип работы, затем тип дома, затем темп каждой бригады</a:t>
            </a:r>
          </a:p>
          <a:p>
            <a:pPr algn="l" marL="438912" indent="-438912">
              <a:spcBef>
                <a:spcPts val="1400"/>
              </a:spcBef>
              <a:buClr>
                <a:srgbClr val="FFC800"/>
              </a:buClr>
              <a:buFont typeface="Beeline Sans"/>
              <a:buChar char="—"/>
            </a:pPr>
            <a:r>
              <a:rPr sz="2500" b="0" i="0">
                <a:solidFill>
                  <a:srgbClr val="FFFFFF"/>
                </a:solidFill>
                <a:latin typeface="Beeline Sans"/>
              </a:rPr>
              <a:t>минуты не уточняем: по длительности всей работы их не отделить</a:t>
            </a:r>
          </a:p>
          <a:p>
            <a:pPr algn="l" marL="438912" indent="-438912">
              <a:spcBef>
                <a:spcPts val="1400"/>
              </a:spcBef>
              <a:buClr>
                <a:srgbClr val="FFC800"/>
              </a:buClr>
              <a:buFont typeface="Beeline Sans"/>
              <a:buChar char="—"/>
            </a:pPr>
            <a:r>
              <a:rPr sz="2500" b="0" i="0">
                <a:solidFill>
                  <a:srgbClr val="FFFFFF"/>
                </a:solidFill>
                <a:latin typeface="Beeline Sans"/>
              </a:rPr>
              <a:t>факты: история выездов и отметки «Приехал / Закончил» с экрана инженера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12710160" y="3017520"/>
          <a:ext cx="10972800" cy="6035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2893040" y="905256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5E5E5E"/>
                </a:solidFill>
                <a:latin typeface="Beeline Sans"/>
              </a:rPr>
              <a:t>проверка: синтетическая история, 30 дней; учим на 24, проверяем на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710160" y="97840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3075920" y="9912096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11,4 → 9,6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075920" y="10936224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мин — ошибка прогноза длительности на отложенных днях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0" y="978408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8653760" y="9912096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141414"/>
                </a:solidFill>
                <a:latin typeface="Beeline Sans Black"/>
              </a:rPr>
              <a:t>9 бригад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653760" y="10936224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41414"/>
                </a:solidFill>
                <a:latin typeface="Beeline Sans"/>
              </a:rPr>
              <a:t>на Востоке по 3600 выездам: работы дольше норматива, и план это учитывает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4864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Второй этап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A6096C-FC1D-1CE6-4D9A-E42A4FC25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44260" y="531262"/>
            <a:ext cx="660947" cy="6609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1133856"/>
            <a:ext cx="21762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41414"/>
                </a:solidFill>
                <a:latin typeface="Beeline Sans"/>
              </a:rPr>
              <a:t>Старт из дома: дорога до первого адреса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3017520"/>
          <a:ext cx="14630400" cy="8412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11521440"/>
            <a:ext cx="1463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8C8C8C"/>
                </a:solidFill>
                <a:latin typeface="Beeline Sans"/>
              </a:rPr>
              <a:t>минут в среднем до первого адреса бригады — те же адреса плана; «из офиса» — если бы бригады выезжали из офиса участка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19120" y="3108960"/>
            <a:ext cx="7863840" cy="2468880"/>
          </a:xfrm>
          <a:prstGeom prst="roundRect">
            <a:avLst>
              <a:gd name="adj" fmla="val 5000"/>
            </a:avLst>
          </a:prstGeom>
          <a:solidFill>
            <a:srgbClr val="FFC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6276320" y="3291840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18 мин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0" y="4425696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41414"/>
                </a:solidFill>
                <a:latin typeface="Beeline Sans"/>
              </a:rPr>
              <a:t>в среднем до первого адреса из дома; из офиса было бы 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819120" y="5852160"/>
            <a:ext cx="7863840" cy="24688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6276320" y="6035040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−62%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0" y="7168896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41414"/>
                </a:solidFill>
                <a:latin typeface="Beeline Sans"/>
              </a:rPr>
              <a:t>утреннего пробега: 217 км вместо 574 по шести участкам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819120" y="8595360"/>
            <a:ext cx="7863840" cy="2468880"/>
          </a:xfrm>
          <a:prstGeom prst="roundRect">
            <a:avLst>
              <a:gd name="adj" fmla="val 50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276320" y="8778240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200" b="0" i="0">
                <a:solidFill>
                  <a:srgbClr val="141414"/>
                </a:solidFill>
                <a:latin typeface="Beeline Sans Black"/>
              </a:rPr>
              <a:t>с места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0" y="9912096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41414"/>
                </a:solidFill>
                <a:latin typeface="Beeline Sans"/>
              </a:rPr>
              <a:t>перепланирование — от того, где бригада сейчас: дома, в пути или у клиента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294790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8C8C8C"/>
                </a:solidFill>
                <a:latin typeface="Beeline Sans"/>
              </a:rPr>
              <a:t>26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C899562-5539-A2EC-13B6-25296BF6F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0" y="-2401"/>
            <a:ext cx="24379736" cy="13718401"/>
          </a:xfrm>
          <a:prstGeom prst="rect">
            <a:avLst/>
          </a:prstGeom>
        </p:spPr>
      </p:pic>
      <p:sp>
        <p:nvSpPr>
          <p:cNvPr id="205" name="01"/>
          <p:cNvSpPr txBox="1"/>
          <p:nvPr/>
        </p:nvSpPr>
        <p:spPr>
          <a:xfrm>
            <a:off x="12105657" y="1474027"/>
            <a:ext cx="12278343" cy="880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algn="l">
              <a:defRPr sz="632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dirty="0"/>
              <a:t>П</a:t>
            </a:r>
          </a:p>
        </p:txBody>
      </p:sp>
      <p:sp>
        <p:nvSpPr>
          <p:cNvPr id="206" name="медиа-давление и бюджет"/>
          <p:cNvSpPr txBox="1"/>
          <p:nvPr/>
        </p:nvSpPr>
        <p:spPr>
          <a:xfrm>
            <a:off x="2391927" y="5144710"/>
            <a:ext cx="12923158" cy="3426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wrap="none">
            <a:spAutoFit/>
          </a:bodyPr>
          <a:lstStyle>
            <a:lvl1pPr algn="l">
              <a:lnSpc>
                <a:spcPct val="90000"/>
              </a:lnSpc>
              <a:defRPr sz="12000" b="1">
                <a:solidFill>
                  <a:srgbClr val="FFFFFF"/>
                </a:solidFill>
                <a:latin typeface="Beeline Sans"/>
                <a:ea typeface="Beeline Sans"/>
                <a:cs typeface="Beeline Sans"/>
                <a:sym typeface="Beeline Sans"/>
              </a:defRPr>
            </a:lvl1pPr>
          </a:lstStyle>
          <a:p>
            <a:r>
              <a:rPr lang="ru-RU" dirty="0"/>
              <a:t>приложение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beetech">
      <a:dk1>
        <a:srgbClr val="1E1E1E"/>
      </a:dk1>
      <a:lt1>
        <a:srgbClr val="FFFFFF"/>
      </a:lt1>
      <a:dk2>
        <a:srgbClr val="141414"/>
      </a:dk2>
      <a:lt2>
        <a:srgbClr val="F8F8F8"/>
      </a:lt2>
      <a:accent1>
        <a:srgbClr val="FFC800"/>
      </a:accent1>
      <a:accent2>
        <a:srgbClr val="F59B19"/>
      </a:accent2>
      <a:accent3>
        <a:srgbClr val="F47300"/>
      </a:accent3>
      <a:accent4>
        <a:srgbClr val="00C2AB"/>
      </a:accent4>
      <a:accent5>
        <a:srgbClr val="EC008C"/>
      </a:accent5>
      <a:accent6>
        <a:srgbClr val="6332C8"/>
      </a:accent6>
      <a:hlink>
        <a:srgbClr val="F07300"/>
      </a:hlink>
      <a:folHlink>
        <a:srgbClr val="E5093B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7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j-lt"/>
            <a:ea typeface="+mj-ea"/>
            <a:cs typeface="+mj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6DC749F4E63E2499755345AD71F676C" ma:contentTypeVersion="1" ma:contentTypeDescription="Создание документа." ma:contentTypeScope="" ma:versionID="befad51a7d1e2057edc29d085254fa4b">
  <xsd:schema xmlns:xsd="http://www.w3.org/2001/XMLSchema" xmlns:xs="http://www.w3.org/2001/XMLSchema" xmlns:p="http://schemas.microsoft.com/office/2006/metadata/properties" xmlns:ns2="b0d1da1b-b766-4d02-a7fe-ca5e63ac8b47" targetNamespace="http://schemas.microsoft.com/office/2006/metadata/properties" ma:root="true" ma:fieldsID="60ff9718db658d84870affcbadea4cab" ns2:_="">
    <xsd:import namespace="b0d1da1b-b766-4d02-a7fe-ca5e63ac8b47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d1da1b-b766-4d02-a7fe-ca5e63ac8b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Общий доступ с использованием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770616-B9A9-4136-8EF0-5FD8000A08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d1da1b-b766-4d02-a7fe-ca5e63ac8b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F782C7-19C9-468F-A881-26AE90F9B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D8C896-CF3A-4CE8-9C0B-CB9A407D053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1781</Words>
  <Application>Microsoft Macintosh PowerPoint</Application>
  <PresentationFormat>Произвольный</PresentationFormat>
  <Paragraphs>172</Paragraphs>
  <Slides>23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Arial</vt:lpstr>
      <vt:lpstr>Beeline Sans</vt:lpstr>
      <vt:lpstr>Beeline Sans Black</vt:lpstr>
      <vt:lpstr>Beeline Sans Medium</vt:lpstr>
      <vt:lpstr>Helvetica Neue</vt:lpstr>
      <vt:lpstr>Helvetica Neue Medium</vt:lpstr>
      <vt:lpstr>21_BasicWhite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Миллер Марина Игоревна</cp:lastModifiedBy>
  <cp:revision>20</cp:revision>
  <dcterms:modified xsi:type="dcterms:W3CDTF">2026-05-12T07:54:46Z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0x010100C6DC749F4E63E2499755345AD71F676C</vt:lpwstr>
  </property>
</Properties>
</file>