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media/image2.tif" ContentType="image/tif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4"/>
  </p:sldMasterIdLst>
  <p:notesMasterIdLst>
    <p:notesMasterId r:id="rId28"/>
  </p:notesMasterIdLst>
  <p:sldIdLst>
    <p:sldId id="366" r:id="rId61"/>
    <p:sldId id="367" r:id="rId60"/>
    <p:sldId id="368" r:id="rId59"/>
    <p:sldId id="369" r:id="rId58"/>
    <p:sldId id="370" r:id="rId66"/>
    <p:sldId id="303" r:id="rId33"/>
    <p:sldId id="304" r:id="rId34"/>
    <p:sldId id="307" r:id="rId37"/>
    <p:sldId id="308" r:id="rId38"/>
    <p:sldId id="309" r:id="rId39"/>
    <p:sldId id="310" r:id="rId40"/>
    <p:sldId id="311" r:id="rId41"/>
    <p:sldId id="360" r:id="rId90"/>
    <p:sldId id="314" r:id="rId44"/>
    <p:sldId id="355" r:id="rId85"/>
    <p:sldId id="321" r:id="rId51"/>
    <p:sldId id="322" r:id="rId52"/>
    <p:sldId id="324" r:id="rId54"/>
    <p:sldId id="356" r:id="rId86"/>
    <p:sldId id="333" r:id="rId63"/>
    <p:sldId id="334" r:id="rId64"/>
    <p:sldId id="361" r:id="rId91"/>
    <p:sldId id="335" r:id="rId65"/>
    <p:sldId id="362" r:id="rId92"/>
    <p:sldId id="363" r:id="rId93"/>
    <p:sldId id="364" r:id="rId94"/>
    <p:sldId id="359" r:id="rId89"/>
    <p:sldId id="338" r:id="rId68"/>
    <p:sldId id="358" r:id="rId88"/>
    <p:sldId id="342" r:id="rId72"/>
    <p:sldId id="341" r:id="rId71"/>
    <p:sldId id="346" r:id="rId76"/>
    <p:sldId id="343" r:id="rId73"/>
    <p:sldId id="344" r:id="rId74"/>
    <p:sldId id="348" r:id="rId78"/>
    <p:sldId id="349" r:id="rId79"/>
    <p:sldId id="350" r:id="rId80"/>
    <p:sldId id="351" r:id="rId81"/>
    <p:sldId id="352" r:id="rId82"/>
    <p:sldId id="353" r:id="rId83"/>
    <p:sldId id="354" r:id="rId84"/>
    <p:sldId id="365" r:id="rId95"/>
    <p:sldId id="305" r:id="rId35"/>
    <p:sldId id="306" r:id="rId36"/>
    <p:sldId id="315" r:id="rId45"/>
    <p:sldId id="317" r:id="rId47"/>
    <p:sldId id="318" r:id="rId48"/>
    <p:sldId id="319" r:id="rId49"/>
    <p:sldId id="320" r:id="rId50"/>
    <p:sldId id="323" r:id="rId53"/>
    <p:sldId id="325" r:id="rId55"/>
    <p:sldId id="357" r:id="rId87"/>
    <p:sldId id="332" r:id="rId62"/>
    <p:sldId id="339" r:id="rId69"/>
    <p:sldId id="340" r:id="rId70"/>
    <p:sldId id="345" r:id="rId75"/>
    <p:sldId id="347" r:id="rId77"/>
  </p:sldIdLst>
  <p:sldSz cx="24384000" cy="13716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</a:defRPr>
    </a:defPPr>
    <a:lvl1pPr marL="0" marR="0" indent="0" algn="ctr" defTabSz="2438337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2400" b="0" i="0" u="none" strike="noStrike" cap="none" spc="0" normalizeH="0" baseline="0">
        <a:ln>
          <a:noFill/>
        </a:ln>
        <a:solidFill>
          <a:srgbClr val="5E5E5E"/>
        </a:solidFill>
        <a:effectLst/>
        <a:uFillTx/>
        <a:latin typeface="+mj-lt"/>
        <a:ea typeface="+mj-ea"/>
        <a:cs typeface="+mj-cs"/>
        <a:sym typeface="Helvetica Neue"/>
      </a:defRPr>
    </a:lvl1pPr>
    <a:lvl2pPr marL="0" marR="0" indent="0" algn="ctr" defTabSz="2438337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2400" b="0" i="0" u="none" strike="noStrike" cap="none" spc="0" normalizeH="0" baseline="0">
        <a:ln>
          <a:noFill/>
        </a:ln>
        <a:solidFill>
          <a:srgbClr val="5E5E5E"/>
        </a:solidFill>
        <a:effectLst/>
        <a:uFillTx/>
        <a:latin typeface="+mj-lt"/>
        <a:ea typeface="+mj-ea"/>
        <a:cs typeface="+mj-cs"/>
        <a:sym typeface="Helvetica Neue"/>
      </a:defRPr>
    </a:lvl2pPr>
    <a:lvl3pPr marL="0" marR="0" indent="0" algn="ctr" defTabSz="2438337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2400" b="0" i="0" u="none" strike="noStrike" cap="none" spc="0" normalizeH="0" baseline="0">
        <a:ln>
          <a:noFill/>
        </a:ln>
        <a:solidFill>
          <a:srgbClr val="5E5E5E"/>
        </a:solidFill>
        <a:effectLst/>
        <a:uFillTx/>
        <a:latin typeface="+mj-lt"/>
        <a:ea typeface="+mj-ea"/>
        <a:cs typeface="+mj-cs"/>
        <a:sym typeface="Helvetica Neue"/>
      </a:defRPr>
    </a:lvl3pPr>
    <a:lvl4pPr marL="0" marR="0" indent="0" algn="ctr" defTabSz="2438337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2400" b="0" i="0" u="none" strike="noStrike" cap="none" spc="0" normalizeH="0" baseline="0">
        <a:ln>
          <a:noFill/>
        </a:ln>
        <a:solidFill>
          <a:srgbClr val="5E5E5E"/>
        </a:solidFill>
        <a:effectLst/>
        <a:uFillTx/>
        <a:latin typeface="+mj-lt"/>
        <a:ea typeface="+mj-ea"/>
        <a:cs typeface="+mj-cs"/>
        <a:sym typeface="Helvetica Neue"/>
      </a:defRPr>
    </a:lvl4pPr>
    <a:lvl5pPr marL="0" marR="0" indent="0" algn="ctr" defTabSz="2438337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2400" b="0" i="0" u="none" strike="noStrike" cap="none" spc="0" normalizeH="0" baseline="0">
        <a:ln>
          <a:noFill/>
        </a:ln>
        <a:solidFill>
          <a:srgbClr val="5E5E5E"/>
        </a:solidFill>
        <a:effectLst/>
        <a:uFillTx/>
        <a:latin typeface="+mj-lt"/>
        <a:ea typeface="+mj-ea"/>
        <a:cs typeface="+mj-cs"/>
        <a:sym typeface="Helvetica Neue"/>
      </a:defRPr>
    </a:lvl5pPr>
    <a:lvl6pPr marL="0" marR="0" indent="0" algn="ctr" defTabSz="2438337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2400" b="0" i="0" u="none" strike="noStrike" cap="none" spc="0" normalizeH="0" baseline="0">
        <a:ln>
          <a:noFill/>
        </a:ln>
        <a:solidFill>
          <a:srgbClr val="5E5E5E"/>
        </a:solidFill>
        <a:effectLst/>
        <a:uFillTx/>
        <a:latin typeface="+mj-lt"/>
        <a:ea typeface="+mj-ea"/>
        <a:cs typeface="+mj-cs"/>
        <a:sym typeface="Helvetica Neue"/>
      </a:defRPr>
    </a:lvl6pPr>
    <a:lvl7pPr marL="0" marR="0" indent="0" algn="ctr" defTabSz="2438337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2400" b="0" i="0" u="none" strike="noStrike" cap="none" spc="0" normalizeH="0" baseline="0">
        <a:ln>
          <a:noFill/>
        </a:ln>
        <a:solidFill>
          <a:srgbClr val="5E5E5E"/>
        </a:solidFill>
        <a:effectLst/>
        <a:uFillTx/>
        <a:latin typeface="+mj-lt"/>
        <a:ea typeface="+mj-ea"/>
        <a:cs typeface="+mj-cs"/>
        <a:sym typeface="Helvetica Neue"/>
      </a:defRPr>
    </a:lvl7pPr>
    <a:lvl8pPr marL="0" marR="0" indent="0" algn="ctr" defTabSz="2438337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2400" b="0" i="0" u="none" strike="noStrike" cap="none" spc="0" normalizeH="0" baseline="0">
        <a:ln>
          <a:noFill/>
        </a:ln>
        <a:solidFill>
          <a:srgbClr val="5E5E5E"/>
        </a:solidFill>
        <a:effectLst/>
        <a:uFillTx/>
        <a:latin typeface="+mj-lt"/>
        <a:ea typeface="+mj-ea"/>
        <a:cs typeface="+mj-cs"/>
        <a:sym typeface="Helvetica Neue"/>
      </a:defRPr>
    </a:lvl8pPr>
    <a:lvl9pPr marL="0" marR="0" indent="0" algn="ctr" defTabSz="2438337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2400" b="0" i="0" u="none" strike="noStrike" cap="none" spc="0" normalizeH="0" baseline="0">
        <a:ln>
          <a:noFill/>
        </a:ln>
        <a:solidFill>
          <a:srgbClr val="5E5E5E"/>
        </a:solidFill>
        <a:effectLst/>
        <a:uFillTx/>
        <a:latin typeface="+mj-lt"/>
        <a:ea typeface="+mj-ea"/>
        <a:cs typeface="+mj-cs"/>
        <a:sym typeface="Helvetica Neue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6CB4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940675A-B579-460E-94D1-54222C63F5DA}">
  <a:tblStyle styleId="{4C3C2611-4C71-4FC5-86AE-919BDF0F9419}" styleName="">
    <a:tblBg/>
    <a:wholeTbl>
      <a:tcTxStyle b="off" i="off">
        <a:fontRef idx="major">
          <a:srgbClr val="5E5E5E"/>
        </a:fontRef>
        <a:srgbClr val="5E5E5E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DFFF"/>
          </a:solidFill>
        </a:fill>
      </a:tcStyle>
    </a:wholeTbl>
    <a:band2H>
      <a:tcTxStyle/>
      <a:tcStyle>
        <a:tcBdr/>
        <a:fill>
          <a:solidFill>
            <a:srgbClr val="E6F0FF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Ref idx="major">
          <a:srgbClr val="5E5E5E"/>
        </a:fontRef>
        <a:srgbClr val="5E5E5E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1F0CC"/>
          </a:solidFill>
        </a:fill>
      </a:tcStyle>
    </a:wholeTbl>
    <a:band2H>
      <a:tcTxStyle/>
      <a:tcStyle>
        <a:tcBdr/>
        <a:fill>
          <a:solidFill>
            <a:srgbClr val="EAF8E7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EEE7283C-3CF3-47DC-8721-378D4A62B228}" styleName="">
    <a:tblBg/>
    <a:wholeTbl>
      <a:tcTxStyle b="off" i="off">
        <a:fontRef idx="major">
          <a:srgbClr val="5E5E5E"/>
        </a:fontRef>
        <a:srgbClr val="5E5E5E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FFCDDF"/>
          </a:solidFill>
        </a:fill>
      </a:tcStyle>
    </a:wholeTbl>
    <a:band2H>
      <a:tcTxStyle/>
      <a:tcStyle>
        <a:tcBdr/>
        <a:fill>
          <a:solidFill>
            <a:srgbClr val="FFE8F0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CF821DB8-F4EB-4A41-A1BA-3FCAFE7338EE}" styleName="">
    <a:tblBg/>
    <a:wholeTbl>
      <a:tcTxStyle b="off" i="off">
        <a:fontRef idx="major">
          <a:srgbClr val="5E5E5E"/>
        </a:fontRef>
        <a:srgbClr val="5E5E5E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9E9E9"/>
          </a:solidFill>
        </a:fill>
      </a:tcStyle>
    </a:wholeTbl>
    <a:band2H>
      <a:tcTxStyle/>
      <a:tcStyle>
        <a:tcBdr/>
        <a:fill>
          <a:solidFill>
            <a:srgbClr val="FFFFFF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ajor">
          <a:srgbClr val="5E5E5E"/>
        </a:fontRef>
        <a:srgbClr val="5E5E5E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5E5E5E"/>
              </a:solidFill>
              <a:prstDash val="solid"/>
              <a:round/>
            </a:ln>
          </a:top>
          <a:bottom>
            <a:ln w="25400" cap="flat">
              <a:solidFill>
                <a:srgbClr val="5E5E5E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5E5E5E"/>
              </a:solidFill>
              <a:prstDash val="solid"/>
              <a:round/>
            </a:ln>
          </a:top>
          <a:bottom>
            <a:ln w="25400" cap="flat">
              <a:solidFill>
                <a:srgbClr val="5E5E5E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33BA23B1-9221-436E-865A-0063620EA4FD}" styleName="">
    <a:tblBg/>
    <a:wholeTbl>
      <a:tcTxStyle b="off" i="off">
        <a:fontRef idx="major">
          <a:srgbClr val="5E5E5E"/>
        </a:fontRef>
        <a:srgbClr val="5E5E5E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1D1D1"/>
          </a:solidFill>
        </a:fill>
      </a:tcStyle>
    </a:wholeTbl>
    <a:band2H>
      <a:tcTxStyle/>
      <a:tcStyle>
        <a:tcBdr/>
        <a:fill>
          <a:solidFill>
            <a:srgbClr val="E9E9E9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5E5E5E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5E5E5E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5E5E5E"/>
          </a:solidFill>
        </a:fill>
      </a:tcStyle>
    </a:firstRow>
  </a:tblStyle>
  <a:tblStyle styleId="{2708684C-4D16-4618-839F-0558EEFCDFE6}" styleName="">
    <a:tblBg/>
    <a:wholeTbl>
      <a:tcTxStyle b="off" i="off">
        <a:fontRef idx="major">
          <a:srgbClr val="5E5E5E"/>
        </a:fontRef>
        <a:srgbClr val="5E5E5E"/>
      </a:tcTxStyle>
      <a:tcStyle>
        <a:tcBdr>
          <a:left>
            <a:ln w="12700" cap="flat">
              <a:solidFill>
                <a:srgbClr val="5E5E5E"/>
              </a:solidFill>
              <a:prstDash val="solid"/>
              <a:round/>
            </a:ln>
          </a:left>
          <a:right>
            <a:ln w="12700" cap="flat">
              <a:solidFill>
                <a:srgbClr val="5E5E5E"/>
              </a:solidFill>
              <a:prstDash val="solid"/>
              <a:round/>
            </a:ln>
          </a:right>
          <a:top>
            <a:ln w="12700" cap="flat">
              <a:solidFill>
                <a:srgbClr val="5E5E5E"/>
              </a:solidFill>
              <a:prstDash val="solid"/>
              <a:round/>
            </a:ln>
          </a:top>
          <a:bottom>
            <a:ln w="12700" cap="flat">
              <a:solidFill>
                <a:srgbClr val="5E5E5E"/>
              </a:solidFill>
              <a:prstDash val="solid"/>
              <a:round/>
            </a:ln>
          </a:bottom>
          <a:insideH>
            <a:ln w="12700" cap="flat">
              <a:solidFill>
                <a:srgbClr val="5E5E5E"/>
              </a:solidFill>
              <a:prstDash val="solid"/>
              <a:round/>
            </a:ln>
          </a:insideH>
          <a:insideV>
            <a:ln w="12700" cap="flat">
              <a:solidFill>
                <a:srgbClr val="5E5E5E"/>
              </a:solidFill>
              <a:prstDash val="solid"/>
              <a:round/>
            </a:ln>
          </a:insideV>
        </a:tcBdr>
        <a:fill>
          <a:solidFill>
            <a:srgbClr val="5E5E5E">
              <a:alpha val="20000"/>
            </a:srgbClr>
          </a:solidFill>
        </a:fill>
      </a:tcStyle>
    </a:wholeTbl>
    <a:band2H>
      <a:tcTxStyle/>
      <a:tcStyle>
        <a:tcBdr/>
        <a:fill>
          <a:solidFill>
            <a:srgbClr val="FFFFFF"/>
          </a:solidFill>
        </a:fill>
      </a:tcStyle>
    </a:band2H>
    <a:firstCol>
      <a:tcTxStyle b="on" i="off">
        <a:fontRef idx="major">
          <a:srgbClr val="5E5E5E"/>
        </a:fontRef>
        <a:srgbClr val="5E5E5E"/>
      </a:tcTxStyle>
      <a:tcStyle>
        <a:tcBdr>
          <a:left>
            <a:ln w="12700" cap="flat">
              <a:solidFill>
                <a:srgbClr val="5E5E5E"/>
              </a:solidFill>
              <a:prstDash val="solid"/>
              <a:round/>
            </a:ln>
          </a:left>
          <a:right>
            <a:ln w="12700" cap="flat">
              <a:solidFill>
                <a:srgbClr val="5E5E5E"/>
              </a:solidFill>
              <a:prstDash val="solid"/>
              <a:round/>
            </a:ln>
          </a:right>
          <a:top>
            <a:ln w="12700" cap="flat">
              <a:solidFill>
                <a:srgbClr val="5E5E5E"/>
              </a:solidFill>
              <a:prstDash val="solid"/>
              <a:round/>
            </a:ln>
          </a:top>
          <a:bottom>
            <a:ln w="12700" cap="flat">
              <a:solidFill>
                <a:srgbClr val="5E5E5E"/>
              </a:solidFill>
              <a:prstDash val="solid"/>
              <a:round/>
            </a:ln>
          </a:bottom>
          <a:insideH>
            <a:ln w="12700" cap="flat">
              <a:solidFill>
                <a:srgbClr val="5E5E5E"/>
              </a:solidFill>
              <a:prstDash val="solid"/>
              <a:round/>
            </a:ln>
          </a:insideH>
          <a:insideV>
            <a:ln w="12700" cap="flat">
              <a:solidFill>
                <a:srgbClr val="5E5E5E"/>
              </a:solidFill>
              <a:prstDash val="solid"/>
              <a:round/>
            </a:ln>
          </a:insideV>
        </a:tcBdr>
        <a:fill>
          <a:solidFill>
            <a:srgbClr val="5E5E5E">
              <a:alpha val="20000"/>
            </a:srgbClr>
          </a:solidFill>
        </a:fill>
      </a:tcStyle>
    </a:firstCol>
    <a:lastRow>
      <a:tcTxStyle b="on" i="off">
        <a:fontRef idx="major">
          <a:srgbClr val="5E5E5E"/>
        </a:fontRef>
        <a:srgbClr val="5E5E5E"/>
      </a:tcTxStyle>
      <a:tcStyle>
        <a:tcBdr>
          <a:left>
            <a:ln w="12700" cap="flat">
              <a:solidFill>
                <a:srgbClr val="5E5E5E"/>
              </a:solidFill>
              <a:prstDash val="solid"/>
              <a:round/>
            </a:ln>
          </a:left>
          <a:right>
            <a:ln w="12700" cap="flat">
              <a:solidFill>
                <a:srgbClr val="5E5E5E"/>
              </a:solidFill>
              <a:prstDash val="solid"/>
              <a:round/>
            </a:ln>
          </a:right>
          <a:top>
            <a:ln w="50800" cap="flat">
              <a:solidFill>
                <a:srgbClr val="5E5E5E"/>
              </a:solidFill>
              <a:prstDash val="solid"/>
              <a:round/>
            </a:ln>
          </a:top>
          <a:bottom>
            <a:ln w="12700" cap="flat">
              <a:solidFill>
                <a:srgbClr val="5E5E5E"/>
              </a:solidFill>
              <a:prstDash val="solid"/>
              <a:round/>
            </a:ln>
          </a:bottom>
          <a:insideH>
            <a:ln w="12700" cap="flat">
              <a:solidFill>
                <a:srgbClr val="5E5E5E"/>
              </a:solidFill>
              <a:prstDash val="solid"/>
              <a:round/>
            </a:ln>
          </a:insideH>
          <a:insideV>
            <a:ln w="12700" cap="flat">
              <a:solidFill>
                <a:srgbClr val="5E5E5E"/>
              </a:solidFill>
              <a:prstDash val="solid"/>
              <a:round/>
            </a:ln>
          </a:insideV>
        </a:tcBdr>
        <a:fill>
          <a:noFill/>
        </a:fill>
      </a:tcStyle>
    </a:lastRow>
    <a:firstRow>
      <a:tcTxStyle b="on" i="off">
        <a:fontRef idx="major">
          <a:srgbClr val="5E5E5E"/>
        </a:fontRef>
        <a:srgbClr val="5E5E5E"/>
      </a:tcTxStyle>
      <a:tcStyle>
        <a:tcBdr>
          <a:left>
            <a:ln w="12700" cap="flat">
              <a:solidFill>
                <a:srgbClr val="5E5E5E"/>
              </a:solidFill>
              <a:prstDash val="solid"/>
              <a:round/>
            </a:ln>
          </a:left>
          <a:right>
            <a:ln w="12700" cap="flat">
              <a:solidFill>
                <a:srgbClr val="5E5E5E"/>
              </a:solidFill>
              <a:prstDash val="solid"/>
              <a:round/>
            </a:ln>
          </a:right>
          <a:top>
            <a:ln w="12700" cap="flat">
              <a:solidFill>
                <a:srgbClr val="5E5E5E"/>
              </a:solidFill>
              <a:prstDash val="solid"/>
              <a:round/>
            </a:ln>
          </a:top>
          <a:bottom>
            <a:ln w="25400" cap="flat">
              <a:solidFill>
                <a:srgbClr val="5E5E5E"/>
              </a:solidFill>
              <a:prstDash val="solid"/>
              <a:round/>
            </a:ln>
          </a:bottom>
          <a:insideH>
            <a:ln w="12700" cap="flat">
              <a:solidFill>
                <a:srgbClr val="5E5E5E"/>
              </a:solidFill>
              <a:prstDash val="solid"/>
              <a:round/>
            </a:ln>
          </a:insideH>
          <a:insideV>
            <a:ln w="12700" cap="flat">
              <a:solidFill>
                <a:srgbClr val="5E5E5E"/>
              </a:solidFill>
              <a:prstDash val="solid"/>
              <a:round/>
            </a:ln>
          </a:insideV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248"/>
    <p:restoredTop sz="94626"/>
  </p:normalViewPr>
  <p:slideViewPr>
    <p:cSldViewPr snapToGrid="0">
      <p:cViewPr varScale="1">
        <p:scale>
          <a:sx n="58" d="100"/>
          <a:sy n="58" d="100"/>
        </p:scale>
        <p:origin x="-1568" y="-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Relationship Id="rId33" Type="http://schemas.openxmlformats.org/officeDocument/2006/relationships/slide" Target="slides/slide1.xml"/><Relationship Id="rId34" Type="http://schemas.openxmlformats.org/officeDocument/2006/relationships/slide" Target="slides/slide2.xml"/><Relationship Id="rId35" Type="http://schemas.openxmlformats.org/officeDocument/2006/relationships/slide" Target="slides/slide38.xml"/><Relationship Id="rId36" Type="http://schemas.openxmlformats.org/officeDocument/2006/relationships/slide" Target="slides/slide39.xml"/><Relationship Id="rId37" Type="http://schemas.openxmlformats.org/officeDocument/2006/relationships/slide" Target="slides/slide3.xml"/><Relationship Id="rId38" Type="http://schemas.openxmlformats.org/officeDocument/2006/relationships/slide" Target="slides/slide4.xml"/><Relationship Id="rId39" Type="http://schemas.openxmlformats.org/officeDocument/2006/relationships/slide" Target="slides/slide5.xml"/><Relationship Id="rId40" Type="http://schemas.openxmlformats.org/officeDocument/2006/relationships/slide" Target="slides/slide6.xml"/><Relationship Id="rId41" Type="http://schemas.openxmlformats.org/officeDocument/2006/relationships/slide" Target="slides/slide7.xml"/><Relationship Id="rId44" Type="http://schemas.openxmlformats.org/officeDocument/2006/relationships/slide" Target="slides/slide9.xml"/><Relationship Id="rId45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11.xml"/><Relationship Id="rId52" Type="http://schemas.openxmlformats.org/officeDocument/2006/relationships/slide" Target="slides/slide12.xml"/><Relationship Id="rId53" Type="http://schemas.openxmlformats.org/officeDocument/2006/relationships/slide" Target="slides/slide45.xml"/><Relationship Id="rId54" Type="http://schemas.openxmlformats.org/officeDocument/2006/relationships/slide" Target="slides/slide13.xml"/><Relationship Id="rId55" Type="http://schemas.openxmlformats.org/officeDocument/2006/relationships/slide" Target="slides/slide46.xml"/><Relationship Id="rId58" Type="http://schemas.openxmlformats.org/officeDocument/2006/relationships/slide" Target="slides/slide56.xml"/><Relationship Id="rId59" Type="http://schemas.openxmlformats.org/officeDocument/2006/relationships/slide" Target="slides/slide55.xml"/><Relationship Id="rId60" Type="http://schemas.openxmlformats.org/officeDocument/2006/relationships/slide" Target="slides/slide54.xml"/><Relationship Id="rId61" Type="http://schemas.openxmlformats.org/officeDocument/2006/relationships/slide" Target="slides/slide53.xml"/><Relationship Id="rId62" Type="http://schemas.openxmlformats.org/officeDocument/2006/relationships/slide" Target="slides/slide48.xml"/><Relationship Id="rId63" Type="http://schemas.openxmlformats.org/officeDocument/2006/relationships/slide" Target="slides/slide15.xml"/><Relationship Id="rId64" Type="http://schemas.openxmlformats.org/officeDocument/2006/relationships/slide" Target="slides/slide16.xml"/><Relationship Id="rId65" Type="http://schemas.openxmlformats.org/officeDocument/2006/relationships/slide" Target="slides/slide18.xml"/><Relationship Id="rId66" Type="http://schemas.openxmlformats.org/officeDocument/2006/relationships/slide" Target="slides/slide57.xml"/><Relationship Id="rId68" Type="http://schemas.openxmlformats.org/officeDocument/2006/relationships/slide" Target="slides/slide23.xml"/><Relationship Id="rId69" Type="http://schemas.openxmlformats.org/officeDocument/2006/relationships/slide" Target="slides/slide49.xml"/><Relationship Id="rId70" Type="http://schemas.openxmlformats.org/officeDocument/2006/relationships/slide" Target="slides/slide50.xml"/><Relationship Id="rId71" Type="http://schemas.openxmlformats.org/officeDocument/2006/relationships/slide" Target="slides/slide26.xml"/><Relationship Id="rId72" Type="http://schemas.openxmlformats.org/officeDocument/2006/relationships/slide" Target="slides/slide25.xml"/><Relationship Id="rId73" Type="http://schemas.openxmlformats.org/officeDocument/2006/relationships/slide" Target="slides/slide28.xml"/><Relationship Id="rId74" Type="http://schemas.openxmlformats.org/officeDocument/2006/relationships/slide" Target="slides/slide29.xml"/><Relationship Id="rId75" Type="http://schemas.openxmlformats.org/officeDocument/2006/relationships/slide" Target="slides/slide51.xml"/><Relationship Id="rId76" Type="http://schemas.openxmlformats.org/officeDocument/2006/relationships/slide" Target="slides/slide27.xml"/><Relationship Id="rId77" Type="http://schemas.openxmlformats.org/officeDocument/2006/relationships/slide" Target="slides/slide52.xml"/><Relationship Id="rId78" Type="http://schemas.openxmlformats.org/officeDocument/2006/relationships/slide" Target="slides/slide30.xml"/><Relationship Id="rId79" Type="http://schemas.openxmlformats.org/officeDocument/2006/relationships/slide" Target="slides/slide31.xml"/><Relationship Id="rId80" Type="http://schemas.openxmlformats.org/officeDocument/2006/relationships/slide" Target="slides/slide32.xml"/><Relationship Id="rId81" Type="http://schemas.openxmlformats.org/officeDocument/2006/relationships/slide" Target="slides/slide33.xml"/><Relationship Id="rId82" Type="http://schemas.openxmlformats.org/officeDocument/2006/relationships/slide" Target="slides/slide34.xml"/><Relationship Id="rId83" Type="http://schemas.openxmlformats.org/officeDocument/2006/relationships/slide" Target="slides/slide35.xml"/><Relationship Id="rId84" Type="http://schemas.openxmlformats.org/officeDocument/2006/relationships/slide" Target="slides/slide36.xml"/><Relationship Id="rId85" Type="http://schemas.openxmlformats.org/officeDocument/2006/relationships/slide" Target="slides/slide10.xml"/><Relationship Id="rId86" Type="http://schemas.openxmlformats.org/officeDocument/2006/relationships/slide" Target="slides/slide14.xml"/><Relationship Id="rId87" Type="http://schemas.openxmlformats.org/officeDocument/2006/relationships/slide" Target="slides/slide47.xml"/><Relationship Id="rId88" Type="http://schemas.openxmlformats.org/officeDocument/2006/relationships/slide" Target="slides/slide24.xml"/><Relationship Id="rId89" Type="http://schemas.openxmlformats.org/officeDocument/2006/relationships/slide" Target="slides/slide22.xml"/><Relationship Id="rId90" Type="http://schemas.openxmlformats.org/officeDocument/2006/relationships/slide" Target="slides/slide8.xml"/><Relationship Id="rId91" Type="http://schemas.openxmlformats.org/officeDocument/2006/relationships/slide" Target="slides/slide17.xml"/><Relationship Id="rId92" Type="http://schemas.openxmlformats.org/officeDocument/2006/relationships/slide" Target="slides/slide19.xml"/><Relationship Id="rId93" Type="http://schemas.openxmlformats.org/officeDocument/2006/relationships/slide" Target="slides/slide20.xml"/><Relationship Id="rId94" Type="http://schemas.openxmlformats.org/officeDocument/2006/relationships/slide" Target="slides/slide21.xml"/><Relationship Id="rId95" Type="http://schemas.openxmlformats.org/officeDocument/2006/relationships/slide" Target="slides/slide37.xml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1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1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1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1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1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1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Реальный день</c:v>
                </c:pt>
              </c:strCache>
            </c:strRef>
          </c:tx>
          <c:spPr>
            <a:solidFill>
              <a:srgbClr val="A1A1A1"/>
            </a:solidFill>
          </c:spPr>
          <c:dLbls>
            <c:txPr>
              <a:bodyPr/>
              <a:lstStyle/>
              <a:p>
                <a:pPr>
                  <a:defRPr sz="2400" b="1"/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Sheet1!$A$2:$A$7</c:f>
              <c:strCache>
                <c:ptCount val="6"/>
                <c:pt idx="0">
                  <c:v>Восток
общ. тр.</c:v>
                </c:pt>
                <c:pt idx="1">
                  <c:v>Восток
машина</c:v>
                </c:pt>
                <c:pt idx="2">
                  <c:v>Югоцентр
общ. тр.</c:v>
                </c:pt>
                <c:pt idx="3">
                  <c:v>Югоцентр
машина</c:v>
                </c:pt>
                <c:pt idx="4">
                  <c:v>Юго-восток
общ. тр.</c:v>
                </c:pt>
                <c:pt idx="5">
                  <c:v>Юго-восток
машина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12</c:v>
                </c:pt>
                <c:pt idx="1">
                  <c:v>12</c:v>
                </c:pt>
                <c:pt idx="2">
                  <c:v>11</c:v>
                </c:pt>
                <c:pt idx="3">
                  <c:v>11</c:v>
                </c:pt>
                <c:pt idx="4">
                  <c:v>12</c:v>
                </c:pt>
                <c:pt idx="5">
                  <c:v>12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Базовый вариант ТЗ</c:v>
                </c:pt>
              </c:strCache>
            </c:strRef>
          </c:tx>
          <c:spPr>
            <a:solidFill>
              <a:srgbClr val="141414"/>
            </a:solidFill>
          </c:spPr>
          <c:dLbls>
            <c:txPr>
              <a:bodyPr/>
              <a:lstStyle/>
              <a:p>
                <a:pPr>
                  <a:defRPr sz="2400" b="1"/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Sheet1!$A$2:$A$7</c:f>
              <c:strCache>
                <c:ptCount val="6"/>
                <c:pt idx="0">
                  <c:v>Восток
общ. тр.</c:v>
                </c:pt>
                <c:pt idx="1">
                  <c:v>Восток
машина</c:v>
                </c:pt>
                <c:pt idx="2">
                  <c:v>Югоцентр
общ. тр.</c:v>
                </c:pt>
                <c:pt idx="3">
                  <c:v>Югоцентр
машина</c:v>
                </c:pt>
                <c:pt idx="4">
                  <c:v>Юго-восток
общ. тр.</c:v>
                </c:pt>
                <c:pt idx="5">
                  <c:v>Юго-восток
машина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12</c:v>
                </c:pt>
                <c:pt idx="1">
                  <c:v>12</c:v>
                </c:pt>
                <c:pt idx="2">
                  <c:v>11</c:v>
                </c:pt>
                <c:pt idx="3">
                  <c:v>11</c:v>
                </c:pt>
                <c:pt idx="4">
                  <c:v>12</c:v>
                </c:pt>
                <c:pt idx="5">
                  <c:v>12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Наш план</c:v>
                </c:pt>
              </c:strCache>
            </c:strRef>
          </c:tx>
          <c:spPr>
            <a:solidFill>
              <a:srgbClr val="FFC800"/>
            </a:solidFill>
          </c:spPr>
          <c:dLbls>
            <c:txPr>
              <a:bodyPr/>
              <a:lstStyle/>
              <a:p>
                <a:pPr>
                  <a:defRPr sz="2400" b="1"/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Sheet1!$A$2:$A$7</c:f>
              <c:strCache>
                <c:ptCount val="6"/>
                <c:pt idx="0">
                  <c:v>Восток
общ. тр.</c:v>
                </c:pt>
                <c:pt idx="1">
                  <c:v>Восток
машина</c:v>
                </c:pt>
                <c:pt idx="2">
                  <c:v>Югоцентр
общ. тр.</c:v>
                </c:pt>
                <c:pt idx="3">
                  <c:v>Югоцентр
машина</c:v>
                </c:pt>
                <c:pt idx="4">
                  <c:v>Юго-восток
общ. тр.</c:v>
                </c:pt>
                <c:pt idx="5">
                  <c:v>Юго-восток
машина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8</c:v>
                </c:pt>
                <c:pt idx="1">
                  <c:v>7</c:v>
                </c:pt>
                <c:pt idx="2">
                  <c:v>6</c:v>
                </c:pt>
                <c:pt idx="3">
                  <c:v>6</c:v>
                </c:pt>
                <c:pt idx="4">
                  <c:v>11</c:v>
                </c:pt>
                <c:pt idx="5">
                  <c:v>9</c:v>
                </c:pt>
              </c:numCache>
            </c:numRef>
          </c:val>
        </c:ser>
        <c:gapWidth val="6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A1A1A1"/>
            </a:solidFill>
          </a:ln>
        </c:spPr>
        <c:txPr>
          <a:bodyPr/>
          <a:lstStyle/>
          <a:p>
            <a:pPr>
              <a:defRPr sz="2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4.0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2400"/>
          </a:pPr>
        </a:p>
      </c:txPr>
    </c:legend>
    <c:dispBlanksAs val="gap"/>
  </c:chart>
  <c:txPr>
    <a:bodyPr/>
    <a:lstStyle/>
    <a:p>
      <a:pPr>
        <a:defRPr sz="2200">
          <a:solidFill>
            <a:srgbClr val="141414"/>
          </a:solidFill>
          <a:latin typeface="Beeline Sans"/>
        </a:defRPr>
      </a:pPr>
      <a:endParaRPr lang="en-US"/>
    </a:p>
  </c:tx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Бригад в среднем</c:v>
                </c:pt>
              </c:strCache>
            </c:strRef>
          </c:tx>
          <c:spPr>
            <a:solidFill>
              <a:srgbClr val="A1A1A1"/>
            </a:solidFill>
          </c:spPr>
          <c:dPt>
            <c:idx val="4"/>
            <c:spPr>
              <a:solidFill>
                <a:srgbClr val="FFC800"/>
              </a:solidFill>
            </c:spPr>
          </c:dPt>
          <c:dPt>
            <c:idx val="0"/>
            <c:spPr>
              <a:solidFill>
                <a:srgbClr val="141414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sz="2600" b="1"/>
                      <a:t>11,55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2600" b="1"/>
                      <a:t>8,78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2600" b="1"/>
                      <a:t>8,83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r>
                      <a:rPr sz="2600" b="1"/>
                      <a:t>8,64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>
                <c:rich>
                  <a:bodyPr/>
                  <a:lstStyle/>
                  <a:p>
                    <a:r>
                      <a:rPr sz="2600" b="1"/>
                      <a:t>8,17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0.00" sourceLinked="0"/>
            <c:txPr>
              <a:bodyPr/>
              <a:lstStyle/>
              <a:p>
                <a:pPr>
                  <a:defRPr sz="2600" b="1"/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Базовый ТЗ</c:v>
                </c:pt>
                <c:pt idx="1">
                  <c:v>OR-Tools</c:v>
                </c:pt>
                <c:pt idx="2">
                  <c:v>VROOM</c:v>
                </c:pt>
                <c:pt idx="3">
                  <c:v>PyVRP</c:v>
                </c:pt>
                <c:pt idx="4">
                  <c:v>Наш оптимизатор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11.55</c:v>
                </c:pt>
                <c:pt idx="1">
                  <c:v>8.78</c:v>
                </c:pt>
                <c:pt idx="2">
                  <c:v>8.83</c:v>
                </c:pt>
                <c:pt idx="3">
                  <c:v>8.64</c:v>
                </c:pt>
                <c:pt idx="4">
                  <c:v>8.17</c:v>
                </c:pt>
              </c:numCache>
            </c:numRef>
          </c:val>
        </c:ser>
        <c:gapWidth val="4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A1A1A1"/>
            </a:solidFill>
          </a:ln>
        </c:spPr>
        <c:txPr>
          <a:bodyPr/>
          <a:lstStyle/>
          <a:p>
            <a:pPr>
              <a:defRPr sz="26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3.0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2200">
          <a:solidFill>
            <a:srgbClr val="141414"/>
          </a:solidFill>
          <a:latin typeface="Beeline Sans"/>
        </a:defRPr>
      </a:pPr>
      <a:endParaRPr lang="en-US"/>
    </a:p>
  </c:tx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2800" b="1"/>
              <a:t>План за 3 с на доказанном минимуме бригад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План за 3 с на доказанном минимуме бригад</c:v>
                </c:pt>
              </c:strCache>
            </c:strRef>
          </c:tx>
          <c:spPr>
            <a:solidFill>
              <a:srgbClr val="FFC800"/>
            </a:solidFill>
          </c:spPr>
          <c:dLbls>
            <c:numFmt formatCode="0&quot;%&quot;" sourceLinked="0"/>
            <c:txPr>
              <a:bodyPr/>
              <a:lstStyle/>
              <a:p>
                <a:pPr>
                  <a:defRPr sz="2600" b="1"/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Контрольный день</c:v>
                </c:pt>
                <c:pt idx="1">
                  <c:v>Реальные дни</c:v>
                </c:pt>
                <c:pt idx="2">
                  <c:v>Новые участки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97</c:v>
                </c:pt>
                <c:pt idx="1">
                  <c:v>100</c:v>
                </c:pt>
                <c:pt idx="2">
                  <c:v>99</c:v>
                </c:pt>
              </c:numCache>
            </c:numRef>
          </c:val>
        </c:ser>
        <c:gapWidth val="7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A1A1A1"/>
            </a:solidFill>
          </a:ln>
        </c:spPr>
        <c:txPr>
          <a:bodyPr/>
          <a:lstStyle/>
          <a:p>
            <a:pPr>
              <a:defRPr sz="26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12.0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2200">
          <a:solidFill>
            <a:srgbClr val="141414"/>
          </a:solidFill>
          <a:latin typeface="Beeline Sans"/>
        </a:defRPr>
      </a:pPr>
      <a:endParaRPr lang="en-US"/>
    </a:p>
  </c:tx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вес отзыва</c:v>
                </c:pt>
              </c:strCache>
            </c:strRef>
          </c:tx>
          <c:spPr>
            <a:ln w="69850">
              <a:solidFill>
                <a:srgbClr val="FFC800"/>
              </a:solidFill>
            </a:ln>
          </c:spPr>
          <c:marker/>
          <c:cat>
            <c:strRef>
              <c:f>Sheet1!$A$2:$A$8</c:f>
              <c:strCache>
                <c:ptCount val="7"/>
                <c:pt idx="0">
                  <c:v>0</c:v>
                </c:pt>
                <c:pt idx="1">
                  <c:v>30</c:v>
                </c:pt>
                <c:pt idx="2">
                  <c:v>60</c:v>
                </c:pt>
                <c:pt idx="3">
                  <c:v>90</c:v>
                </c:pt>
                <c:pt idx="4">
                  <c:v>120</c:v>
                </c:pt>
                <c:pt idx="5">
                  <c:v>150</c:v>
                </c:pt>
                <c:pt idx="6">
                  <c:v>180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1.0</c:v>
                </c:pt>
                <c:pt idx="1">
                  <c:v>0.707</c:v>
                </c:pt>
                <c:pt idx="2">
                  <c:v>0.5</c:v>
                </c:pt>
                <c:pt idx="3">
                  <c:v>0.354</c:v>
                </c:pt>
                <c:pt idx="4">
                  <c:v>0.25</c:v>
                </c:pt>
                <c:pt idx="5">
                  <c:v>0.177</c:v>
                </c:pt>
                <c:pt idx="6">
                  <c:v>0.125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A1A1A1"/>
            </a:solidFill>
          </a:ln>
        </c:spPr>
        <c:txPr>
          <a:bodyPr/>
          <a:lstStyle/>
          <a:p>
            <a:pPr>
              <a:defRPr sz="20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.0"/>
          <c:min val="0.0"/>
        </c:scaling>
        <c:delete val="0"/>
        <c:axPos val="l"/>
        <c:numFmt formatCode="0.0" sourceLinked="0"/>
        <c:majorTickMark val="out"/>
        <c:minorTickMark val="none"/>
        <c:tickLblPos val="nextTo"/>
        <c:spPr>
          <a:ln>
            <a:solidFill>
              <a:srgbClr val="F1F1F1"/>
            </a:solidFill>
          </a:ln>
        </c:spPr>
        <c:txPr>
          <a:bodyPr/>
          <a:lstStyle/>
          <a:p>
            <a:pPr>
              <a:defRPr sz="2000"/>
            </a:pPr>
          </a:p>
        </c:tx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2200">
          <a:solidFill>
            <a:srgbClr val="141414"/>
          </a:solidFill>
          <a:latin typeface="Beeline Sans"/>
        </a:defRPr>
      </a:pPr>
      <a:endParaRPr lang="en-US"/>
    </a:p>
  </c:tx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все пятёрки</c:v>
                </c:pt>
              </c:strCache>
            </c:strRef>
          </c:tx>
          <c:spPr>
            <a:ln w="69850">
              <a:solidFill>
                <a:srgbClr val="141414"/>
              </a:solidFill>
            </a:ln>
          </c:spPr>
          <c:marker/>
          <c:cat>
            <c:strRef>
              <c:f>Sheet1!$A$2:$A$8</c:f>
              <c:strCache>
                <c:ptCount val="7"/>
                <c:pt idx="0">
                  <c:v>1</c:v>
                </c:pt>
                <c:pt idx="1">
                  <c:v>2</c:v>
                </c:pt>
                <c:pt idx="2">
                  <c:v>4</c:v>
                </c:pt>
                <c:pt idx="3">
                  <c:v>8</c:v>
                </c:pt>
                <c:pt idx="4">
                  <c:v>15</c:v>
                </c:pt>
                <c:pt idx="5">
                  <c:v>30</c:v>
                </c:pt>
                <c:pt idx="6">
                  <c:v>60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4.27</c:v>
                </c:pt>
                <c:pt idx="1">
                  <c:v>4.33</c:v>
                </c:pt>
                <c:pt idx="2">
                  <c:v>4.43</c:v>
                </c:pt>
                <c:pt idx="3">
                  <c:v>4.56</c:v>
                </c:pt>
                <c:pt idx="4">
                  <c:v>4.68</c:v>
                </c:pt>
                <c:pt idx="5">
                  <c:v>4.8</c:v>
                </c:pt>
                <c:pt idx="6">
                  <c:v>4.89</c:v>
                </c:pt>
              </c:numCache>
            </c:numRef>
          </c:val>
          <c:smooth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все четвёрки</c:v>
                </c:pt>
              </c:strCache>
            </c:strRef>
          </c:tx>
          <c:spPr>
            <a:ln w="69850">
              <a:solidFill>
                <a:srgbClr val="A1A1A1"/>
              </a:solidFill>
            </a:ln>
          </c:spPr>
          <c:marker/>
          <c:cat>
            <c:strRef>
              <c:f>Sheet1!$A$2:$A$8</c:f>
              <c:strCache>
                <c:ptCount val="7"/>
                <c:pt idx="0">
                  <c:v>1</c:v>
                </c:pt>
                <c:pt idx="1">
                  <c:v>2</c:v>
                </c:pt>
                <c:pt idx="2">
                  <c:v>4</c:v>
                </c:pt>
                <c:pt idx="3">
                  <c:v>8</c:v>
                </c:pt>
                <c:pt idx="4">
                  <c:v>15</c:v>
                </c:pt>
                <c:pt idx="5">
                  <c:v>30</c:v>
                </c:pt>
                <c:pt idx="6">
                  <c:v>60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4.18</c:v>
                </c:pt>
                <c:pt idx="1">
                  <c:v>4.17</c:v>
                </c:pt>
                <c:pt idx="2">
                  <c:v>4.14</c:v>
                </c:pt>
                <c:pt idx="3">
                  <c:v>4.11</c:v>
                </c:pt>
                <c:pt idx="4">
                  <c:v>4.08</c:v>
                </c:pt>
                <c:pt idx="5">
                  <c:v>4.05</c:v>
                </c:pt>
                <c:pt idx="6">
                  <c:v>4.03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A1A1A1"/>
            </a:solidFill>
          </a:ln>
        </c:spPr>
        <c:txPr>
          <a:bodyPr/>
          <a:lstStyle/>
          <a:p>
            <a:pPr>
              <a:defRPr sz="20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5.0"/>
          <c:min val="3.9"/>
        </c:scaling>
        <c:delete val="0"/>
        <c:axPos val="l"/>
        <c:numFmt formatCode="0.0" sourceLinked="0"/>
        <c:majorTickMark val="out"/>
        <c:minorTickMark val="none"/>
        <c:tickLblPos val="nextTo"/>
        <c:spPr>
          <a:ln>
            <a:solidFill>
              <a:srgbClr val="F1F1F1"/>
            </a:solidFill>
          </a:ln>
        </c:spPr>
        <c:txPr>
          <a:bodyPr/>
          <a:lstStyle/>
          <a:p>
            <a:pPr>
              <a:defRPr sz="2000"/>
            </a:pPr>
          </a:p>
        </c:txPr>
        <c:crossAx val="2118791784"/>
        <c:crosses val="autoZero"/>
      </c:valAx>
    </c:plotArea>
    <c:legend>
      <c:legendPos val="t"/>
      <c:layout/>
      <c:overlay val="0"/>
      <c:txPr>
        <a:bodyPr/>
        <a:lstStyle/>
        <a:p>
          <a:pPr>
            <a:defRPr sz="2100"/>
          </a:pPr>
        </a:p>
      </c:txPr>
    </c:legend>
    <c:plotVisOnly val="1"/>
    <c:dispBlanksAs val="gap"/>
    <c:showDLblsOverMax val="0"/>
  </c:chart>
  <c:txPr>
    <a:bodyPr/>
    <a:lstStyle/>
    <a:p>
      <a:pPr>
        <a:defRPr sz="2200">
          <a:solidFill>
            <a:srgbClr val="141414"/>
          </a:solidFill>
          <a:latin typeface="Beeline Sans"/>
        </a:defRPr>
      </a:pPr>
      <a:endParaRPr lang="en-US"/>
    </a:p>
  </c:tx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было</c:v>
                </c:pt>
              </c:strCache>
            </c:strRef>
          </c:tx>
          <c:spPr>
            <a:solidFill>
              <a:srgbClr val="F1F1F1"/>
            </a:solidFill>
          </c:spPr>
          <c:dLbls>
            <c:numFmt formatCode="0.00" sourceLinked="0"/>
            <c:txPr>
              <a:bodyPr/>
              <a:lstStyle/>
              <a:p>
                <a:pPr>
                  <a:defRPr sz="2000"/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Пакет услуг</c:v>
                </c:pt>
                <c:pt idx="1">
                  <c:v>Гигабит</c:v>
                </c:pt>
                <c:pt idx="2">
                  <c:v>Нет связи</c:v>
                </c:pt>
                <c:pt idx="3">
                  <c:v>Старый дом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1.1</c:v>
                </c:pt>
                <c:pt idx="1">
                  <c:v>1.2</c:v>
                </c:pt>
                <c:pt idx="2">
                  <c:v>1.3</c:v>
                </c:pt>
                <c:pt idx="3">
                  <c:v>1.15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выучено</c:v>
                </c:pt>
              </c:strCache>
            </c:strRef>
          </c:tx>
          <c:spPr>
            <a:solidFill>
              <a:srgbClr val="FFC800"/>
            </a:solidFill>
          </c:spPr>
          <c:dLbls>
            <c:numFmt formatCode="0.00" sourceLinked="0"/>
            <c:txPr>
              <a:bodyPr/>
              <a:lstStyle/>
              <a:p>
                <a:pPr>
                  <a:defRPr sz="2000"/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Пакет услуг</c:v>
                </c:pt>
                <c:pt idx="1">
                  <c:v>Гигабит</c:v>
                </c:pt>
                <c:pt idx="2">
                  <c:v>Нет связи</c:v>
                </c:pt>
                <c:pt idx="3">
                  <c:v>Старый дом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1.26</c:v>
                </c:pt>
                <c:pt idx="1">
                  <c:v>1.41</c:v>
                </c:pt>
                <c:pt idx="2">
                  <c:v>1.13</c:v>
                </c:pt>
                <c:pt idx="3">
                  <c:v>1.22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истина</c:v>
                </c:pt>
              </c:strCache>
            </c:strRef>
          </c:tx>
          <c:spPr>
            <a:solidFill>
              <a:srgbClr val="141414"/>
            </a:solidFill>
          </c:spPr>
          <c:dLbls>
            <c:numFmt formatCode="0.00" sourceLinked="0"/>
            <c:txPr>
              <a:bodyPr/>
              <a:lstStyle/>
              <a:p>
                <a:pPr>
                  <a:defRPr sz="2000"/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Пакет услуг</c:v>
                </c:pt>
                <c:pt idx="1">
                  <c:v>Гигабит</c:v>
                </c:pt>
                <c:pt idx="2">
                  <c:v>Нет связи</c:v>
                </c:pt>
                <c:pt idx="3">
                  <c:v>Старый дом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1.25</c:v>
                </c:pt>
                <c:pt idx="1">
                  <c:v>1.45</c:v>
                </c:pt>
                <c:pt idx="2">
                  <c:v>1.15</c:v>
                </c:pt>
                <c:pt idx="3">
                  <c:v>1.25</c:v>
                </c:pt>
              </c:numCache>
            </c:numRef>
          </c:val>
        </c:ser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2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.6"/>
          <c:min val="0.8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2200"/>
          </a:pPr>
        </a:p>
      </c:txPr>
    </c:legend>
    <c:dispBlanksAs val="gap"/>
  </c:chart>
  <c:txPr>
    <a:bodyPr/>
    <a:lstStyle/>
    <a:p>
      <a:pPr>
        <a:defRPr sz="2200">
          <a:solidFill>
            <a:srgbClr val="141414"/>
          </a:solidFill>
          <a:latin typeface="Beeline Sans"/>
        </a:defRPr>
      </a:pPr>
      <a:endParaRPr lang="en-US"/>
    </a:p>
  </c:tx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из офиса</c:v>
                </c:pt>
              </c:strCache>
            </c:strRef>
          </c:tx>
          <c:spPr>
            <a:solidFill>
              <a:srgbClr val="A1A1A1"/>
            </a:solidFill>
          </c:spPr>
          <c:dLbls>
            <c:txPr>
              <a:bodyPr/>
              <a:lstStyle/>
              <a:p>
                <a:pPr>
                  <a:defRPr sz="2400" b="1"/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Sheet1!$A$2:$A$7</c:f>
              <c:strCache>
                <c:ptCount val="6"/>
                <c:pt idx="0">
                  <c:v>Восток</c:v>
                </c:pt>
                <c:pt idx="1">
                  <c:v>Югоцентр</c:v>
                </c:pt>
                <c:pt idx="2">
                  <c:v>Юго-
восток</c:v>
                </c:pt>
                <c:pt idx="3">
                  <c:v>Север</c:v>
                </c:pt>
                <c:pt idx="4">
                  <c:v>Запад</c:v>
                </c:pt>
                <c:pt idx="5">
                  <c:v>Северо-
восток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23</c:v>
                </c:pt>
                <c:pt idx="1">
                  <c:v>25</c:v>
                </c:pt>
                <c:pt idx="2">
                  <c:v>50</c:v>
                </c:pt>
                <c:pt idx="3">
                  <c:v>23</c:v>
                </c:pt>
                <c:pt idx="4">
                  <c:v>27</c:v>
                </c:pt>
                <c:pt idx="5">
                  <c:v>33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из дома</c:v>
                </c:pt>
              </c:strCache>
            </c:strRef>
          </c:tx>
          <c:spPr>
            <a:solidFill>
              <a:srgbClr val="FFC800"/>
            </a:solidFill>
          </c:spPr>
          <c:dLbls>
            <c:txPr>
              <a:bodyPr/>
              <a:lstStyle/>
              <a:p>
                <a:pPr>
                  <a:defRPr sz="2400" b="1"/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Sheet1!$A$2:$A$7</c:f>
              <c:strCache>
                <c:ptCount val="6"/>
                <c:pt idx="0">
                  <c:v>Восток</c:v>
                </c:pt>
                <c:pt idx="1">
                  <c:v>Югоцентр</c:v>
                </c:pt>
                <c:pt idx="2">
                  <c:v>Юго-
восток</c:v>
                </c:pt>
                <c:pt idx="3">
                  <c:v>Север</c:v>
                </c:pt>
                <c:pt idx="4">
                  <c:v>Запад</c:v>
                </c:pt>
                <c:pt idx="5">
                  <c:v>Северо-
восток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15</c:v>
                </c:pt>
                <c:pt idx="1">
                  <c:v>17</c:v>
                </c:pt>
                <c:pt idx="2">
                  <c:v>24</c:v>
                </c:pt>
                <c:pt idx="3">
                  <c:v>18</c:v>
                </c:pt>
                <c:pt idx="4">
                  <c:v>17</c:v>
                </c:pt>
                <c:pt idx="5">
                  <c:v>16</c:v>
                </c:pt>
              </c:numCache>
            </c:numRef>
          </c:val>
        </c:ser>
        <c:gapWidth val="70"/>
        <c:overlap val="-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23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2400"/>
          </a:pPr>
        </a:p>
      </c:txPr>
    </c:legend>
    <c:dispBlanksAs val="gap"/>
  </c:chart>
  <c:txPr>
    <a:bodyPr/>
    <a:lstStyle/>
    <a:p>
      <a:pPr>
        <a:defRPr sz="2200">
          <a:solidFill>
            <a:srgbClr val="141414"/>
          </a:solidFill>
          <a:latin typeface="Beeline Sans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Shape 193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194" name="Shape 194"/>
          <p:cNvSpPr>
            <a:spLocks noGrp="1"/>
          </p:cNvSpPr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defTabSz="457200" latinLnBrk="0">
      <a:lnSpc>
        <a:spcPct val="117999"/>
      </a:lnSpc>
      <a:defRPr sz="2200">
        <a:latin typeface="+mj-lt"/>
        <a:ea typeface="+mj-ea"/>
        <a:cs typeface="+mj-cs"/>
        <a:sym typeface="Helvetica Neue"/>
      </a:defRPr>
    </a:lvl1pPr>
    <a:lvl2pPr indent="228600" defTabSz="457200" latinLnBrk="0">
      <a:lnSpc>
        <a:spcPct val="117999"/>
      </a:lnSpc>
      <a:defRPr sz="2200">
        <a:latin typeface="+mj-lt"/>
        <a:ea typeface="+mj-ea"/>
        <a:cs typeface="+mj-cs"/>
        <a:sym typeface="Helvetica Neue"/>
      </a:defRPr>
    </a:lvl2pPr>
    <a:lvl3pPr indent="457200" defTabSz="457200" latinLnBrk="0">
      <a:lnSpc>
        <a:spcPct val="117999"/>
      </a:lnSpc>
      <a:defRPr sz="2200">
        <a:latin typeface="+mj-lt"/>
        <a:ea typeface="+mj-ea"/>
        <a:cs typeface="+mj-cs"/>
        <a:sym typeface="Helvetica Neue"/>
      </a:defRPr>
    </a:lvl3pPr>
    <a:lvl4pPr indent="685800" defTabSz="457200" latinLnBrk="0">
      <a:lnSpc>
        <a:spcPct val="117999"/>
      </a:lnSpc>
      <a:defRPr sz="2200">
        <a:latin typeface="+mj-lt"/>
        <a:ea typeface="+mj-ea"/>
        <a:cs typeface="+mj-cs"/>
        <a:sym typeface="Helvetica Neue"/>
      </a:defRPr>
    </a:lvl4pPr>
    <a:lvl5pPr indent="914400" defTabSz="457200" latinLnBrk="0">
      <a:lnSpc>
        <a:spcPct val="117999"/>
      </a:lnSpc>
      <a:defRPr sz="2200">
        <a:latin typeface="+mj-lt"/>
        <a:ea typeface="+mj-ea"/>
        <a:cs typeface="+mj-cs"/>
        <a:sym typeface="Helvetica Neue"/>
      </a:defRPr>
    </a:lvl5pPr>
    <a:lvl6pPr indent="1143000" defTabSz="457200" latinLnBrk="0">
      <a:lnSpc>
        <a:spcPct val="117999"/>
      </a:lnSpc>
      <a:defRPr sz="2200">
        <a:latin typeface="+mj-lt"/>
        <a:ea typeface="+mj-ea"/>
        <a:cs typeface="+mj-cs"/>
        <a:sym typeface="Helvetica Neue"/>
      </a:defRPr>
    </a:lvl6pPr>
    <a:lvl7pPr indent="1371600" defTabSz="457200" latinLnBrk="0">
      <a:lnSpc>
        <a:spcPct val="117999"/>
      </a:lnSpc>
      <a:defRPr sz="2200">
        <a:latin typeface="+mj-lt"/>
        <a:ea typeface="+mj-ea"/>
        <a:cs typeface="+mj-cs"/>
        <a:sym typeface="Helvetica Neue"/>
      </a:defRPr>
    </a:lvl7pPr>
    <a:lvl8pPr indent="1600200" defTabSz="457200" latinLnBrk="0">
      <a:lnSpc>
        <a:spcPct val="117999"/>
      </a:lnSpc>
      <a:defRPr sz="2200">
        <a:latin typeface="+mj-lt"/>
        <a:ea typeface="+mj-ea"/>
        <a:cs typeface="+mj-cs"/>
        <a:sym typeface="Helvetica Neue"/>
      </a:defRPr>
    </a:lvl8pPr>
    <a:lvl9pPr indent="1828800" defTabSz="457200" latinLnBrk="0">
      <a:lnSpc>
        <a:spcPct val="117999"/>
      </a:lnSpc>
      <a:defRPr sz="2200">
        <a:latin typeface="+mj-lt"/>
        <a:ea typeface="+mj-ea"/>
        <a:cs typeface="+mj-cs"/>
        <a:sym typeface="Helvetica Neue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tif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Уровень текста 1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1201340" y="11859862"/>
            <a:ext cx="21971005" cy="636981"/>
          </a:xfrm>
          <a:prstGeom prst="rect">
            <a:avLst/>
          </a:prstGeom>
        </p:spPr>
        <p:txBody>
          <a:bodyPr lIns="45718" tIns="45718" rIns="45718" bIns="45718" numCol="1" spcCol="38100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sz="3600" b="1"/>
            </a:lvl1pPr>
            <a:lvl2pPr marL="1066800" indent="-457200" defTabSz="825500">
              <a:lnSpc>
                <a:spcPct val="100000"/>
              </a:lnSpc>
              <a:spcBef>
                <a:spcPts val="0"/>
              </a:spcBef>
              <a:defRPr sz="3600" b="1"/>
            </a:lvl2pPr>
            <a:lvl3pPr marL="1676400" indent="-457200" defTabSz="825500">
              <a:lnSpc>
                <a:spcPct val="100000"/>
              </a:lnSpc>
              <a:spcBef>
                <a:spcPts val="0"/>
              </a:spcBef>
              <a:defRPr sz="3600" b="1"/>
            </a:lvl3pPr>
            <a:lvl4pPr marL="2286000" indent="-457200" defTabSz="825500">
              <a:lnSpc>
                <a:spcPct val="100000"/>
              </a:lnSpc>
              <a:spcBef>
                <a:spcPts val="0"/>
              </a:spcBef>
              <a:defRPr sz="3600" b="1"/>
            </a:lvl4pPr>
            <a:lvl5pPr marL="2895600" indent="-457200" defTabSz="825500">
              <a:lnSpc>
                <a:spcPct val="100000"/>
              </a:lnSpc>
              <a:spcBef>
                <a:spcPts val="0"/>
              </a:spcBef>
              <a:defRPr sz="3600" b="1"/>
            </a:lvl5pPr>
          </a:lstStyle>
          <a:p>
            <a:r>
              <a:t>Автор и дата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12" name="Заголовок презентации"/>
          <p:cNvSpPr txBox="1">
            <a:spLocks noGrp="1"/>
          </p:cNvSpPr>
          <p:nvPr>
            <p:ph type="title" hasCustomPrompt="1"/>
          </p:nvPr>
        </p:nvSpPr>
        <p:spPr>
          <a:xfrm>
            <a:off x="1206496" y="2574991"/>
            <a:ext cx="21971005" cy="4648203"/>
          </a:xfrm>
          <a:prstGeom prst="rect">
            <a:avLst/>
          </a:prstGeom>
        </p:spPr>
        <p:txBody>
          <a:bodyPr anchor="b"/>
          <a:lstStyle>
            <a:lvl1pPr>
              <a:defRPr sz="11600" spc="-232"/>
            </a:lvl1pPr>
          </a:lstStyle>
          <a:p>
            <a:r>
              <a:t>Заголовок презентации</a:t>
            </a:r>
          </a:p>
        </p:txBody>
      </p:sp>
      <p:sp>
        <p:nvSpPr>
          <p:cNvPr id="13" name="Уровень текста 1…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1201342" y="7223190"/>
            <a:ext cx="21971002" cy="1905003"/>
          </a:xfrm>
          <a:prstGeom prst="rect">
            <a:avLst/>
          </a:prstGeom>
        </p:spPr>
        <p:txBody>
          <a:bodyPr numCol="1" spcCol="38100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500" b="1"/>
            </a:lvl1pPr>
          </a:lstStyle>
          <a:p>
            <a:r>
              <a:t>Подзаголовок презентации</a:t>
            </a:r>
          </a:p>
        </p:txBody>
      </p:sp>
      <p:sp>
        <p:nvSpPr>
          <p:cNvPr id="14" name="Номер слайда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Заголовок и фото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Авокадо и лаймы"/>
          <p:cNvSpPr>
            <a:spLocks noGrp="1"/>
          </p:cNvSpPr>
          <p:nvPr>
            <p:ph type="pic" idx="21"/>
          </p:nvPr>
        </p:nvSpPr>
        <p:spPr>
          <a:xfrm>
            <a:off x="-1155700" y="-1295400"/>
            <a:ext cx="26746200" cy="16018933"/>
          </a:xfrm>
          <a:prstGeom prst="rect">
            <a:avLst/>
          </a:prstGeom>
        </p:spPr>
        <p:txBody>
          <a:bodyPr lIns="91439" tIns="45719" rIns="91439" bIns="45719" numCol="1" spcCol="38100">
            <a:noAutofit/>
          </a:bodyPr>
          <a:lstStyle/>
          <a:p>
            <a:endParaRPr/>
          </a:p>
        </p:txBody>
      </p:sp>
      <p:sp>
        <p:nvSpPr>
          <p:cNvPr id="22" name="Заголовок презентации"/>
          <p:cNvSpPr txBox="1">
            <a:spLocks noGrp="1"/>
          </p:cNvSpPr>
          <p:nvPr>
            <p:ph type="title" hasCustomPrompt="1"/>
          </p:nvPr>
        </p:nvSpPr>
        <p:spPr>
          <a:xfrm>
            <a:off x="1206500" y="7124700"/>
            <a:ext cx="21971000" cy="4648200"/>
          </a:xfrm>
          <a:prstGeom prst="rect">
            <a:avLst/>
          </a:prstGeom>
        </p:spPr>
        <p:txBody>
          <a:bodyPr anchor="b"/>
          <a:lstStyle>
            <a:lvl1pPr>
              <a:defRPr sz="11600" spc="-232"/>
            </a:lvl1pPr>
          </a:lstStyle>
          <a:p>
            <a:r>
              <a:t>Заголовок презентации</a:t>
            </a:r>
          </a:p>
        </p:txBody>
      </p:sp>
      <p:sp>
        <p:nvSpPr>
          <p:cNvPr id="23" name="Уровень текста 1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1207690" y="1106137"/>
            <a:ext cx="21968621" cy="636981"/>
          </a:xfrm>
          <a:prstGeom prst="rect">
            <a:avLst/>
          </a:prstGeom>
        </p:spPr>
        <p:txBody>
          <a:bodyPr lIns="45718" tIns="45718" rIns="45718" bIns="45718" numCol="1" spcCol="38100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sz="3600" b="1"/>
            </a:lvl1pPr>
            <a:lvl2pPr marL="1066800" indent="-457200" defTabSz="825500">
              <a:lnSpc>
                <a:spcPct val="100000"/>
              </a:lnSpc>
              <a:spcBef>
                <a:spcPts val="0"/>
              </a:spcBef>
              <a:defRPr sz="3600" b="1"/>
            </a:lvl2pPr>
            <a:lvl3pPr marL="1676400" indent="-457200" defTabSz="825500">
              <a:lnSpc>
                <a:spcPct val="100000"/>
              </a:lnSpc>
              <a:spcBef>
                <a:spcPts val="0"/>
              </a:spcBef>
              <a:defRPr sz="3600" b="1"/>
            </a:lvl3pPr>
            <a:lvl4pPr marL="2286000" indent="-457200" defTabSz="825500">
              <a:lnSpc>
                <a:spcPct val="100000"/>
              </a:lnSpc>
              <a:spcBef>
                <a:spcPts val="0"/>
              </a:spcBef>
              <a:defRPr sz="3600" b="1"/>
            </a:lvl4pPr>
            <a:lvl5pPr marL="2895600" indent="-457200" defTabSz="825500">
              <a:lnSpc>
                <a:spcPct val="100000"/>
              </a:lnSpc>
              <a:spcBef>
                <a:spcPts val="0"/>
              </a:spcBef>
              <a:defRPr sz="3600" b="1"/>
            </a:lvl5pPr>
          </a:lstStyle>
          <a:p>
            <a:r>
              <a:t>Автор и дата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24" name="Уровень текста 1…"/>
          <p:cNvSpPr txBox="1">
            <a:spLocks noGrp="1"/>
          </p:cNvSpPr>
          <p:nvPr>
            <p:ph type="body" sz="quarter" idx="22" hasCustomPrompt="1"/>
          </p:nvPr>
        </p:nvSpPr>
        <p:spPr>
          <a:xfrm>
            <a:off x="1206500" y="11609909"/>
            <a:ext cx="21971000" cy="1116954"/>
          </a:xfrm>
          <a:prstGeom prst="rect">
            <a:avLst/>
          </a:prstGeom>
        </p:spPr>
        <p:txBody>
          <a:bodyPr numCol="1" spcCol="38100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500" b="1"/>
            </a:lvl1pPr>
          </a:lstStyle>
          <a:p>
            <a:r>
              <a:t>Подзаголовок презентации</a:t>
            </a:r>
          </a:p>
        </p:txBody>
      </p:sp>
      <p:sp>
        <p:nvSpPr>
          <p:cNvPr id="25" name="Номер слайда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Заголовок и фото (вариант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Тарелка с рублеными котлетами из лосося, салатом и хумусом"/>
          <p:cNvSpPr>
            <a:spLocks noGrp="1"/>
          </p:cNvSpPr>
          <p:nvPr>
            <p:ph type="pic" idx="21"/>
          </p:nvPr>
        </p:nvSpPr>
        <p:spPr>
          <a:xfrm>
            <a:off x="10972800" y="-203200"/>
            <a:ext cx="12144837" cy="14135100"/>
          </a:xfrm>
          <a:prstGeom prst="rect">
            <a:avLst/>
          </a:prstGeom>
        </p:spPr>
        <p:txBody>
          <a:bodyPr lIns="91439" tIns="45719" rIns="91439" bIns="45719" numCol="1" spcCol="38100">
            <a:noAutofit/>
          </a:bodyPr>
          <a:lstStyle/>
          <a:p>
            <a:endParaRPr/>
          </a:p>
        </p:txBody>
      </p:sp>
      <p:sp>
        <p:nvSpPr>
          <p:cNvPr id="33" name="Заголовок слайда"/>
          <p:cNvSpPr txBox="1">
            <a:spLocks noGrp="1"/>
          </p:cNvSpPr>
          <p:nvPr>
            <p:ph type="title" hasCustomPrompt="1"/>
          </p:nvPr>
        </p:nvSpPr>
        <p:spPr>
          <a:xfrm>
            <a:off x="1206500" y="1270000"/>
            <a:ext cx="9779000" cy="5882274"/>
          </a:xfrm>
          <a:prstGeom prst="rect">
            <a:avLst/>
          </a:prstGeom>
        </p:spPr>
        <p:txBody>
          <a:bodyPr anchor="b"/>
          <a:lstStyle/>
          <a:p>
            <a:r>
              <a:t>Заголовок слайда</a:t>
            </a:r>
          </a:p>
        </p:txBody>
      </p:sp>
      <p:sp>
        <p:nvSpPr>
          <p:cNvPr id="34" name="Уровень текста 1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1206500" y="7060576"/>
            <a:ext cx="9779000" cy="5385424"/>
          </a:xfrm>
          <a:prstGeom prst="rect">
            <a:avLst/>
          </a:prstGeom>
        </p:spPr>
        <p:txBody>
          <a:bodyPr numCol="1" spcCol="38100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500" b="1"/>
            </a:lvl1pPr>
            <a:lvl2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500" b="1"/>
            </a:lvl2pPr>
            <a:lvl3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500" b="1"/>
            </a:lvl3pPr>
            <a:lvl4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500" b="1"/>
            </a:lvl4pPr>
            <a:lvl5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500" b="1"/>
            </a:lvl5pPr>
          </a:lstStyle>
          <a:p>
            <a:r>
              <a:t>Подзаголовок слайда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35" name="Номер слайда"/>
          <p:cNvSpPr txBox="1">
            <a:spLocks noGrp="1"/>
          </p:cNvSpPr>
          <p:nvPr>
            <p:ph type="sldNum" sz="quarter" idx="2"/>
          </p:nvPr>
        </p:nvSpPr>
        <p:spPr>
          <a:xfrm>
            <a:off x="12001500" y="13085233"/>
            <a:ext cx="368504" cy="374600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Заголовок и пункт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Заголовок слайда"/>
          <p:cNvSpPr txBox="1">
            <a:spLocks noGrp="1"/>
          </p:cNvSpPr>
          <p:nvPr>
            <p:ph type="title" hasCustomPrompt="1"/>
          </p:nvPr>
        </p:nvSpPr>
        <p:spPr>
          <a:xfrm>
            <a:off x="1206500" y="1079500"/>
            <a:ext cx="21971000" cy="1433164"/>
          </a:xfrm>
          <a:prstGeom prst="rect">
            <a:avLst/>
          </a:prstGeom>
        </p:spPr>
        <p:txBody>
          <a:bodyPr/>
          <a:lstStyle/>
          <a:p>
            <a:r>
              <a:t>Заголовок слайда</a:t>
            </a:r>
          </a:p>
        </p:txBody>
      </p:sp>
      <p:sp>
        <p:nvSpPr>
          <p:cNvPr id="43" name="Уровень текста 1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1206500" y="2372960"/>
            <a:ext cx="21971000" cy="934782"/>
          </a:xfrm>
          <a:prstGeom prst="rect">
            <a:avLst/>
          </a:prstGeom>
        </p:spPr>
        <p:txBody>
          <a:bodyPr lIns="45718" tIns="45718" rIns="45718" bIns="45718" numCol="1" spcCol="38100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500" b="1"/>
            </a:lvl1pPr>
            <a:lvl2pPr marL="1308100" indent="-698500" defTabSz="825500">
              <a:lnSpc>
                <a:spcPct val="100000"/>
              </a:lnSpc>
              <a:spcBef>
                <a:spcPts val="0"/>
              </a:spcBef>
              <a:defRPr sz="5500" b="1"/>
            </a:lvl2pPr>
            <a:lvl3pPr marL="1917700" indent="-698500" defTabSz="825500">
              <a:lnSpc>
                <a:spcPct val="100000"/>
              </a:lnSpc>
              <a:spcBef>
                <a:spcPts val="0"/>
              </a:spcBef>
              <a:defRPr sz="5500" b="1"/>
            </a:lvl3pPr>
            <a:lvl4pPr marL="2527300" indent="-698500" defTabSz="825500">
              <a:lnSpc>
                <a:spcPct val="100000"/>
              </a:lnSpc>
              <a:spcBef>
                <a:spcPts val="0"/>
              </a:spcBef>
              <a:defRPr sz="5500" b="1"/>
            </a:lvl4pPr>
            <a:lvl5pPr marL="3136900" indent="-698500" defTabSz="825500">
              <a:lnSpc>
                <a:spcPct val="100000"/>
              </a:lnSpc>
              <a:spcBef>
                <a:spcPts val="0"/>
              </a:spcBef>
              <a:defRPr sz="5500" b="1"/>
            </a:lvl5pPr>
          </a:lstStyle>
          <a:p>
            <a:r>
              <a:t>Подзаголовок слайда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44" name="Уровень текста 1…"/>
          <p:cNvSpPr txBox="1">
            <a:spLocks noGrp="1"/>
          </p:cNvSpPr>
          <p:nvPr>
            <p:ph type="body" idx="21" hasCustomPrompt="1"/>
          </p:nvPr>
        </p:nvSpPr>
        <p:spPr>
          <a:xfrm>
            <a:off x="1206500" y="4248503"/>
            <a:ext cx="21971000" cy="8256015"/>
          </a:xfrm>
          <a:prstGeom prst="rect">
            <a:avLst/>
          </a:prstGeom>
        </p:spPr>
        <p:txBody>
          <a:bodyPr numCol="1" spcCol="38100"/>
          <a:lstStyle/>
          <a:p>
            <a:r>
              <a:t>Текст пункта на слайде</a:t>
            </a:r>
          </a:p>
        </p:txBody>
      </p:sp>
      <p:sp>
        <p:nvSpPr>
          <p:cNvPr id="45" name="Номер слайда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Пункт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Уровень текста 1…"/>
          <p:cNvSpPr txBox="1">
            <a:spLocks noGrp="1"/>
          </p:cNvSpPr>
          <p:nvPr>
            <p:ph type="body" idx="1" hasCustomPrompt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Текст пункта на слайде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53" name="Номер слайда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Заголовок, пункты и фото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Уровень текста 1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1206500" y="2372960"/>
            <a:ext cx="9779000" cy="934782"/>
          </a:xfrm>
          <a:prstGeom prst="rect">
            <a:avLst/>
          </a:prstGeom>
        </p:spPr>
        <p:txBody>
          <a:bodyPr lIns="45718" tIns="45718" rIns="45718" bIns="45718" numCol="1" spcCol="38100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500" b="1"/>
            </a:lvl1pPr>
            <a:lvl2pPr marL="1308100" indent="-698500" defTabSz="825500">
              <a:lnSpc>
                <a:spcPct val="100000"/>
              </a:lnSpc>
              <a:spcBef>
                <a:spcPts val="0"/>
              </a:spcBef>
              <a:defRPr sz="5500" b="1"/>
            </a:lvl2pPr>
            <a:lvl3pPr marL="1917700" indent="-698500" defTabSz="825500">
              <a:lnSpc>
                <a:spcPct val="100000"/>
              </a:lnSpc>
              <a:spcBef>
                <a:spcPts val="0"/>
              </a:spcBef>
              <a:defRPr sz="5500" b="1"/>
            </a:lvl3pPr>
            <a:lvl4pPr marL="2527300" indent="-698500" defTabSz="825500">
              <a:lnSpc>
                <a:spcPct val="100000"/>
              </a:lnSpc>
              <a:spcBef>
                <a:spcPts val="0"/>
              </a:spcBef>
              <a:defRPr sz="5500" b="1"/>
            </a:lvl4pPr>
            <a:lvl5pPr marL="3136900" indent="-698500" defTabSz="825500">
              <a:lnSpc>
                <a:spcPct val="100000"/>
              </a:lnSpc>
              <a:spcBef>
                <a:spcPts val="0"/>
              </a:spcBef>
              <a:defRPr sz="5500" b="1"/>
            </a:lvl5pPr>
          </a:lstStyle>
          <a:p>
            <a:r>
              <a:t>Подзаголовок слайда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61" name="Уровень текста 1…"/>
          <p:cNvSpPr txBox="1">
            <a:spLocks noGrp="1"/>
          </p:cNvSpPr>
          <p:nvPr>
            <p:ph type="body" sz="half" idx="21" hasCustomPrompt="1"/>
          </p:nvPr>
        </p:nvSpPr>
        <p:spPr>
          <a:xfrm>
            <a:off x="1206500" y="4248503"/>
            <a:ext cx="9779000" cy="8256632"/>
          </a:xfrm>
          <a:prstGeom prst="rect">
            <a:avLst/>
          </a:prstGeom>
        </p:spPr>
        <p:txBody>
          <a:bodyPr numCol="1" spcCol="38100"/>
          <a:lstStyle/>
          <a:p>
            <a:r>
              <a:t>Текст пункта на слайде</a:t>
            </a:r>
          </a:p>
        </p:txBody>
      </p:sp>
      <p:sp>
        <p:nvSpPr>
          <p:cNvPr id="62" name="Тарелка пасты папарделле с зелёным маслом из петрушки, жареным фундуком и стружкой сыра пармезан"/>
          <p:cNvSpPr>
            <a:spLocks noGrp="1"/>
          </p:cNvSpPr>
          <p:nvPr>
            <p:ph type="pic" idx="22"/>
          </p:nvPr>
        </p:nvSpPr>
        <p:spPr>
          <a:xfrm>
            <a:off x="12192000" y="-407266"/>
            <a:ext cx="10916874" cy="14555833"/>
          </a:xfrm>
          <a:prstGeom prst="rect">
            <a:avLst/>
          </a:prstGeom>
        </p:spPr>
        <p:txBody>
          <a:bodyPr lIns="91439" tIns="45719" rIns="91439" bIns="45719" numCol="1" spcCol="38100">
            <a:noAutofit/>
          </a:bodyPr>
          <a:lstStyle/>
          <a:p>
            <a:endParaRPr/>
          </a:p>
        </p:txBody>
      </p:sp>
      <p:sp>
        <p:nvSpPr>
          <p:cNvPr id="63" name="Заголовок слайда"/>
          <p:cNvSpPr txBox="1">
            <a:spLocks noGrp="1"/>
          </p:cNvSpPr>
          <p:nvPr>
            <p:ph type="title" hasCustomPrompt="1"/>
          </p:nvPr>
        </p:nvSpPr>
        <p:spPr>
          <a:xfrm>
            <a:off x="1206500" y="1079500"/>
            <a:ext cx="9779000" cy="1435100"/>
          </a:xfrm>
          <a:prstGeom prst="rect">
            <a:avLst/>
          </a:prstGeom>
        </p:spPr>
        <p:txBody>
          <a:bodyPr/>
          <a:lstStyle/>
          <a:p>
            <a:r>
              <a:t>Заголовок слайда</a:t>
            </a:r>
          </a:p>
        </p:txBody>
      </p:sp>
      <p:sp>
        <p:nvSpPr>
          <p:cNvPr id="64" name="Номер слайда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Раздел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Заголовок раздела"/>
          <p:cNvSpPr txBox="1">
            <a:spLocks noGrp="1"/>
          </p:cNvSpPr>
          <p:nvPr>
            <p:ph type="title" hasCustomPrompt="1"/>
          </p:nvPr>
        </p:nvSpPr>
        <p:spPr>
          <a:xfrm>
            <a:off x="1206496" y="4533900"/>
            <a:ext cx="21971005" cy="4648200"/>
          </a:xfrm>
          <a:prstGeom prst="rect">
            <a:avLst/>
          </a:prstGeom>
        </p:spPr>
        <p:txBody>
          <a:bodyPr anchor="ctr"/>
          <a:lstStyle>
            <a:lvl1pPr>
              <a:defRPr sz="11600" b="0" spc="-232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1pPr>
          </a:lstStyle>
          <a:p>
            <a:r>
              <a:t>Заголовок раздела</a:t>
            </a:r>
          </a:p>
        </p:txBody>
      </p:sp>
      <p:sp>
        <p:nvSpPr>
          <p:cNvPr id="72" name="Номер слайда"/>
          <p:cNvSpPr txBox="1">
            <a:spLocks noGrp="1"/>
          </p:cNvSpPr>
          <p:nvPr>
            <p:ph type="sldNum" sz="quarter" idx="2"/>
          </p:nvPr>
        </p:nvSpPr>
        <p:spPr>
          <a:xfrm>
            <a:off x="12001500" y="13085233"/>
            <a:ext cx="368504" cy="374600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Заголовок слайда"/>
          <p:cNvSpPr txBox="1">
            <a:spLocks noGrp="1"/>
          </p:cNvSpPr>
          <p:nvPr>
            <p:ph type="title" hasCustomPrompt="1"/>
          </p:nvPr>
        </p:nvSpPr>
        <p:spPr>
          <a:xfrm>
            <a:off x="1206500" y="1079500"/>
            <a:ext cx="21971000" cy="1434951"/>
          </a:xfrm>
          <a:prstGeom prst="rect">
            <a:avLst/>
          </a:prstGeom>
        </p:spPr>
        <p:txBody>
          <a:bodyPr/>
          <a:lstStyle/>
          <a:p>
            <a:r>
              <a:t>Заголовок слайда</a:t>
            </a:r>
          </a:p>
        </p:txBody>
      </p:sp>
      <p:sp>
        <p:nvSpPr>
          <p:cNvPr id="80" name="Уровень текста 1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1206500" y="2372960"/>
            <a:ext cx="21971000" cy="934782"/>
          </a:xfrm>
          <a:prstGeom prst="rect">
            <a:avLst/>
          </a:prstGeom>
        </p:spPr>
        <p:txBody>
          <a:bodyPr lIns="45718" tIns="45718" rIns="45718" bIns="45718" numCol="1" spcCol="38100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500" b="1"/>
            </a:lvl1pPr>
            <a:lvl2pPr marL="1308100" indent="-698500" defTabSz="825500">
              <a:lnSpc>
                <a:spcPct val="100000"/>
              </a:lnSpc>
              <a:spcBef>
                <a:spcPts val="0"/>
              </a:spcBef>
              <a:defRPr sz="5500" b="1"/>
            </a:lvl2pPr>
            <a:lvl3pPr marL="1917700" indent="-698500" defTabSz="825500">
              <a:lnSpc>
                <a:spcPct val="100000"/>
              </a:lnSpc>
              <a:spcBef>
                <a:spcPts val="0"/>
              </a:spcBef>
              <a:defRPr sz="5500" b="1"/>
            </a:lvl3pPr>
            <a:lvl4pPr marL="2527300" indent="-698500" defTabSz="825500">
              <a:lnSpc>
                <a:spcPct val="100000"/>
              </a:lnSpc>
              <a:spcBef>
                <a:spcPts val="0"/>
              </a:spcBef>
              <a:defRPr sz="5500" b="1"/>
            </a:lvl4pPr>
            <a:lvl5pPr marL="3136900" indent="-698500" defTabSz="825500">
              <a:lnSpc>
                <a:spcPct val="100000"/>
              </a:lnSpc>
              <a:spcBef>
                <a:spcPts val="0"/>
              </a:spcBef>
              <a:defRPr sz="5500" b="1"/>
            </a:lvl5pPr>
          </a:lstStyle>
          <a:p>
            <a:r>
              <a:t>Подзаголовок слайда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81" name="Номер слайда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Повестка дн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Заголовок повестки дня"/>
          <p:cNvSpPr txBox="1">
            <a:spLocks noGrp="1"/>
          </p:cNvSpPr>
          <p:nvPr>
            <p:ph type="title" hasCustomPrompt="1"/>
          </p:nvPr>
        </p:nvSpPr>
        <p:spPr>
          <a:xfrm>
            <a:off x="1206500" y="1079500"/>
            <a:ext cx="21971000" cy="1435100"/>
          </a:xfrm>
          <a:prstGeom prst="rect">
            <a:avLst/>
          </a:prstGeom>
        </p:spPr>
        <p:txBody>
          <a:bodyPr/>
          <a:lstStyle/>
          <a:p>
            <a:r>
              <a:t>Заголовок повестки дня</a:t>
            </a:r>
          </a:p>
        </p:txBody>
      </p:sp>
      <p:sp>
        <p:nvSpPr>
          <p:cNvPr id="89" name="Уровень текста 1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1206500" y="2372960"/>
            <a:ext cx="21971000" cy="934782"/>
          </a:xfrm>
          <a:prstGeom prst="rect">
            <a:avLst/>
          </a:prstGeom>
        </p:spPr>
        <p:txBody>
          <a:bodyPr lIns="45718" tIns="45718" rIns="45718" bIns="45718" numCol="1" spcCol="38100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500" b="1"/>
            </a:lvl1pPr>
            <a:lvl2pPr marL="1308100" indent="-698500" defTabSz="825500">
              <a:lnSpc>
                <a:spcPct val="100000"/>
              </a:lnSpc>
              <a:spcBef>
                <a:spcPts val="0"/>
              </a:spcBef>
              <a:defRPr sz="5500" b="1"/>
            </a:lvl2pPr>
            <a:lvl3pPr marL="1917700" indent="-698500" defTabSz="825500">
              <a:lnSpc>
                <a:spcPct val="100000"/>
              </a:lnSpc>
              <a:spcBef>
                <a:spcPts val="0"/>
              </a:spcBef>
              <a:defRPr sz="5500" b="1"/>
            </a:lvl3pPr>
            <a:lvl4pPr marL="2527300" indent="-698500" defTabSz="825500">
              <a:lnSpc>
                <a:spcPct val="100000"/>
              </a:lnSpc>
              <a:spcBef>
                <a:spcPts val="0"/>
              </a:spcBef>
              <a:defRPr sz="5500" b="1"/>
            </a:lvl4pPr>
            <a:lvl5pPr marL="3136900" indent="-698500" defTabSz="825500">
              <a:lnSpc>
                <a:spcPct val="100000"/>
              </a:lnSpc>
              <a:spcBef>
                <a:spcPts val="0"/>
              </a:spcBef>
              <a:defRPr sz="5500" b="1"/>
            </a:lvl5pPr>
          </a:lstStyle>
          <a:p>
            <a:r>
              <a:t>Подзаголовок повестки дня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90" name="Уровень текста 1…"/>
          <p:cNvSpPr txBox="1">
            <a:spLocks noGrp="1"/>
          </p:cNvSpPr>
          <p:nvPr>
            <p:ph type="body" idx="21" hasCustomPrompt="1"/>
          </p:nvPr>
        </p:nvSpPr>
        <p:spPr>
          <a:xfrm>
            <a:off x="1206500" y="4248503"/>
            <a:ext cx="21971000" cy="8256015"/>
          </a:xfrm>
          <a:prstGeom prst="rect">
            <a:avLst/>
          </a:prstGeom>
        </p:spPr>
        <p:txBody>
          <a:bodyPr numCol="1" spcCol="38100"/>
          <a:lstStyle>
            <a:lvl1pPr marL="0" indent="0" defTabSz="825500">
              <a:lnSpc>
                <a:spcPct val="100000"/>
              </a:lnSpc>
              <a:spcBef>
                <a:spcPts val="1800"/>
              </a:spcBef>
              <a:buSzTx/>
              <a:buNone/>
              <a:defRPr sz="5500" spc="-99"/>
            </a:lvl1pPr>
          </a:lstStyle>
          <a:p>
            <a:r>
              <a:t>Темы повестки дня</a:t>
            </a:r>
          </a:p>
        </p:txBody>
      </p:sp>
      <p:sp>
        <p:nvSpPr>
          <p:cNvPr id="91" name="Номер слайда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Информационное сообщ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Уровень текста 1…"/>
          <p:cNvSpPr txBox="1">
            <a:spLocks noGrp="1"/>
          </p:cNvSpPr>
          <p:nvPr>
            <p:ph type="body" sz="half" idx="1" hasCustomPrompt="1"/>
          </p:nvPr>
        </p:nvSpPr>
        <p:spPr>
          <a:xfrm>
            <a:off x="1206500" y="4920843"/>
            <a:ext cx="21971000" cy="3874314"/>
          </a:xfrm>
          <a:prstGeom prst="rect">
            <a:avLst/>
          </a:prstGeom>
        </p:spPr>
        <p:txBody>
          <a:bodyPr numCol="1" spcCol="38100" anchor="ctr"/>
          <a:lstStyle>
            <a:lvl1pPr marL="0" indent="0" algn="ctr">
              <a:lnSpc>
                <a:spcPct val="80000"/>
              </a:lnSpc>
              <a:spcBef>
                <a:spcPts val="0"/>
              </a:spcBef>
              <a:buSzTx/>
              <a:buNone/>
              <a:defRPr sz="11600" spc="-232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1pPr>
            <a:lvl2pPr marL="0" indent="0" algn="ctr">
              <a:lnSpc>
                <a:spcPct val="80000"/>
              </a:lnSpc>
              <a:spcBef>
                <a:spcPts val="0"/>
              </a:spcBef>
              <a:buSzTx/>
              <a:buNone/>
              <a:defRPr sz="11600" spc="-232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2pPr>
            <a:lvl3pPr marL="0" indent="0" algn="ctr">
              <a:lnSpc>
                <a:spcPct val="80000"/>
              </a:lnSpc>
              <a:spcBef>
                <a:spcPts val="0"/>
              </a:spcBef>
              <a:buSzTx/>
              <a:buNone/>
              <a:defRPr sz="11600" spc="-232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3pPr>
            <a:lvl4pPr marL="0" indent="0" algn="ctr">
              <a:lnSpc>
                <a:spcPct val="80000"/>
              </a:lnSpc>
              <a:spcBef>
                <a:spcPts val="0"/>
              </a:spcBef>
              <a:buSzTx/>
              <a:buNone/>
              <a:defRPr sz="11600" spc="-232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4pPr>
            <a:lvl5pPr marL="0" indent="0" algn="ctr">
              <a:lnSpc>
                <a:spcPct val="80000"/>
              </a:lnSpc>
              <a:spcBef>
                <a:spcPts val="0"/>
              </a:spcBef>
              <a:buSzTx/>
              <a:buNone/>
              <a:defRPr sz="11600" spc="-232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5pPr>
          </a:lstStyle>
          <a:p>
            <a:r>
              <a:t>Информационное сообщение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99" name="Номер слайда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Важный фа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Уровень текста 1…"/>
          <p:cNvSpPr txBox="1">
            <a:spLocks noGrp="1"/>
          </p:cNvSpPr>
          <p:nvPr>
            <p:ph type="body" idx="1" hasCustomPrompt="1"/>
          </p:nvPr>
        </p:nvSpPr>
        <p:spPr>
          <a:xfrm>
            <a:off x="1206500" y="1075925"/>
            <a:ext cx="21971000" cy="7241587"/>
          </a:xfrm>
          <a:prstGeom prst="rect">
            <a:avLst/>
          </a:prstGeom>
        </p:spPr>
        <p:txBody>
          <a:bodyPr numCol="1" spcCol="38100" anchor="b"/>
          <a:lstStyle>
            <a:lvl1pPr marL="0" indent="0" algn="ctr">
              <a:lnSpc>
                <a:spcPct val="80000"/>
              </a:lnSpc>
              <a:spcBef>
                <a:spcPts val="0"/>
              </a:spcBef>
              <a:buSzTx/>
              <a:buNone/>
              <a:defRPr sz="25000" b="1" spc="-250"/>
            </a:lvl1pPr>
            <a:lvl2pPr marL="0" indent="0" algn="ctr">
              <a:lnSpc>
                <a:spcPct val="80000"/>
              </a:lnSpc>
              <a:spcBef>
                <a:spcPts val="0"/>
              </a:spcBef>
              <a:buSzTx/>
              <a:buNone/>
              <a:defRPr sz="25000" b="1" spc="-250"/>
            </a:lvl2pPr>
            <a:lvl3pPr marL="0" indent="0" algn="ctr">
              <a:lnSpc>
                <a:spcPct val="80000"/>
              </a:lnSpc>
              <a:spcBef>
                <a:spcPts val="0"/>
              </a:spcBef>
              <a:buSzTx/>
              <a:buNone/>
              <a:defRPr sz="25000" b="1" spc="-250"/>
            </a:lvl3pPr>
            <a:lvl4pPr marL="0" indent="0" algn="ctr">
              <a:lnSpc>
                <a:spcPct val="80000"/>
              </a:lnSpc>
              <a:spcBef>
                <a:spcPts val="0"/>
              </a:spcBef>
              <a:buSzTx/>
              <a:buNone/>
              <a:defRPr sz="25000" b="1" spc="-250"/>
            </a:lvl4pPr>
            <a:lvl5pPr marL="0" indent="0" algn="ctr">
              <a:lnSpc>
                <a:spcPct val="80000"/>
              </a:lnSpc>
              <a:spcBef>
                <a:spcPts val="0"/>
              </a:spcBef>
              <a:buSzTx/>
              <a:buNone/>
              <a:defRPr sz="25000" b="1" spc="-250"/>
            </a:lvl5pPr>
          </a:lstStyle>
          <a:p>
            <a:r>
              <a:t>100 %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107" name="Информация о факте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1206500" y="8262180"/>
            <a:ext cx="21971000" cy="934780"/>
          </a:xfrm>
          <a:prstGeom prst="rect">
            <a:avLst/>
          </a:prstGeom>
        </p:spPr>
        <p:txBody>
          <a:bodyPr lIns="45718" tIns="45718" rIns="45718" bIns="45718" numCol="1" spcCol="38100"/>
          <a:lstStyle>
            <a:lvl1pPr marL="0" indent="0" algn="ctr" defTabSz="825500">
              <a:lnSpc>
                <a:spcPct val="100000"/>
              </a:lnSpc>
              <a:spcBef>
                <a:spcPts val="0"/>
              </a:spcBef>
              <a:buSzTx/>
              <a:buNone/>
              <a:defRPr sz="5500" b="1"/>
            </a:lvl1pPr>
          </a:lstStyle>
          <a:p>
            <a:r>
              <a:t>Информация о факте</a:t>
            </a:r>
          </a:p>
        </p:txBody>
      </p:sp>
      <p:sp>
        <p:nvSpPr>
          <p:cNvPr id="108" name="Номер слайда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Цита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Уровень текста 1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2430023" y="10675453"/>
            <a:ext cx="20200055" cy="636981"/>
          </a:xfrm>
          <a:prstGeom prst="rect">
            <a:avLst/>
          </a:prstGeom>
        </p:spPr>
        <p:txBody>
          <a:bodyPr lIns="45718" tIns="45718" rIns="45718" bIns="45718" numCol="1" spcCol="38100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sz="3600" b="1"/>
            </a:lvl1pPr>
            <a:lvl2pPr marL="1066800" indent="-457200" defTabSz="825500">
              <a:lnSpc>
                <a:spcPct val="100000"/>
              </a:lnSpc>
              <a:spcBef>
                <a:spcPts val="0"/>
              </a:spcBef>
              <a:defRPr sz="3600" b="1"/>
            </a:lvl2pPr>
            <a:lvl3pPr marL="1676400" indent="-457200" defTabSz="825500">
              <a:lnSpc>
                <a:spcPct val="100000"/>
              </a:lnSpc>
              <a:spcBef>
                <a:spcPts val="0"/>
              </a:spcBef>
              <a:defRPr sz="3600" b="1"/>
            </a:lvl3pPr>
            <a:lvl4pPr marL="2286000" indent="-457200" defTabSz="825500">
              <a:lnSpc>
                <a:spcPct val="100000"/>
              </a:lnSpc>
              <a:spcBef>
                <a:spcPts val="0"/>
              </a:spcBef>
              <a:defRPr sz="3600" b="1"/>
            </a:lvl4pPr>
            <a:lvl5pPr marL="2895600" indent="-457200" defTabSz="825500">
              <a:lnSpc>
                <a:spcPct val="100000"/>
              </a:lnSpc>
              <a:spcBef>
                <a:spcPts val="0"/>
              </a:spcBef>
              <a:defRPr sz="3600" b="1"/>
            </a:lvl5pPr>
          </a:lstStyle>
          <a:p>
            <a:r>
              <a:t>Авторство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116" name="Уровень текста 1…"/>
          <p:cNvSpPr txBox="1">
            <a:spLocks noGrp="1"/>
          </p:cNvSpPr>
          <p:nvPr>
            <p:ph type="body" sz="half" idx="21" hasCustomPrompt="1"/>
          </p:nvPr>
        </p:nvSpPr>
        <p:spPr>
          <a:xfrm>
            <a:off x="1753923" y="4939860"/>
            <a:ext cx="20876154" cy="3836282"/>
          </a:xfrm>
          <a:prstGeom prst="rect">
            <a:avLst/>
          </a:prstGeom>
        </p:spPr>
        <p:txBody>
          <a:bodyPr numCol="1" spcCol="38100"/>
          <a:lstStyle>
            <a:lvl1pPr marL="300875" indent="-131851">
              <a:spcBef>
                <a:spcPts val="0"/>
              </a:spcBef>
              <a:buSzTx/>
              <a:buNone/>
              <a:defRPr sz="8500" spc="-20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1pPr>
          </a:lstStyle>
          <a:p>
            <a:r>
              <a:t>«Важная цитата»</a:t>
            </a:r>
          </a:p>
        </p:txBody>
      </p:sp>
      <p:sp>
        <p:nvSpPr>
          <p:cNvPr id="117" name="Номер слайда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Фото (3 шт.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Миска салата с жареным рисом, варёными яйцами и палочками для еды"/>
          <p:cNvSpPr>
            <a:spLocks noGrp="1"/>
          </p:cNvSpPr>
          <p:nvPr>
            <p:ph type="pic" sz="quarter" idx="21"/>
          </p:nvPr>
        </p:nvSpPr>
        <p:spPr>
          <a:xfrm>
            <a:off x="15760700" y="1016000"/>
            <a:ext cx="7439099" cy="5949678"/>
          </a:xfrm>
          <a:prstGeom prst="rect">
            <a:avLst/>
          </a:prstGeom>
        </p:spPr>
        <p:txBody>
          <a:bodyPr lIns="91439" tIns="45719" rIns="91439" bIns="45719" numCol="1" spcCol="38100">
            <a:noAutofit/>
          </a:bodyPr>
          <a:lstStyle/>
          <a:p>
            <a:endParaRPr/>
          </a:p>
        </p:txBody>
      </p:sp>
      <p:sp>
        <p:nvSpPr>
          <p:cNvPr id="125" name="Тарелка с рублеными котлетами из лосося, салатом и хумусом "/>
          <p:cNvSpPr>
            <a:spLocks noGrp="1"/>
          </p:cNvSpPr>
          <p:nvPr>
            <p:ph type="pic" sz="half" idx="22"/>
          </p:nvPr>
        </p:nvSpPr>
        <p:spPr>
          <a:xfrm>
            <a:off x="13500100" y="3978275"/>
            <a:ext cx="10439400" cy="12150181"/>
          </a:xfrm>
          <a:prstGeom prst="rect">
            <a:avLst/>
          </a:prstGeom>
        </p:spPr>
        <p:txBody>
          <a:bodyPr lIns="91439" tIns="45719" rIns="91439" bIns="45719" numCol="1" spcCol="38100">
            <a:noAutofit/>
          </a:bodyPr>
          <a:lstStyle/>
          <a:p>
            <a:endParaRPr/>
          </a:p>
        </p:txBody>
      </p:sp>
      <p:sp>
        <p:nvSpPr>
          <p:cNvPr id="126" name="Тарелка пасты папарделле с зелёным маслом из петрушки, жареным фундуком и стружкой сыра пармезан"/>
          <p:cNvSpPr>
            <a:spLocks noGrp="1"/>
          </p:cNvSpPr>
          <p:nvPr>
            <p:ph type="pic" idx="23"/>
          </p:nvPr>
        </p:nvSpPr>
        <p:spPr>
          <a:xfrm>
            <a:off x="-139700" y="495300"/>
            <a:ext cx="16611600" cy="12458700"/>
          </a:xfrm>
          <a:prstGeom prst="rect">
            <a:avLst/>
          </a:prstGeom>
        </p:spPr>
        <p:txBody>
          <a:bodyPr lIns="91439" tIns="45719" rIns="91439" bIns="45719" numCol="1" spcCol="38100">
            <a:noAutofit/>
          </a:bodyPr>
          <a:lstStyle/>
          <a:p>
            <a:endParaRPr/>
          </a:p>
        </p:txBody>
      </p:sp>
      <p:sp>
        <p:nvSpPr>
          <p:cNvPr id="127" name="Номер слайда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Фото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миска салата с жареным рисом, варёными яйцами и палочками для еды"/>
          <p:cNvSpPr>
            <a:spLocks noGrp="1"/>
          </p:cNvSpPr>
          <p:nvPr>
            <p:ph type="pic" idx="21"/>
          </p:nvPr>
        </p:nvSpPr>
        <p:spPr>
          <a:xfrm>
            <a:off x="-1333500" y="-5524500"/>
            <a:ext cx="27051000" cy="21640800"/>
          </a:xfrm>
          <a:prstGeom prst="rect">
            <a:avLst/>
          </a:prstGeom>
        </p:spPr>
        <p:txBody>
          <a:bodyPr lIns="91439" tIns="45719" rIns="91439" bIns="45719" numCol="1" spcCol="38100">
            <a:noAutofit/>
          </a:bodyPr>
          <a:lstStyle/>
          <a:p>
            <a:endParaRPr/>
          </a:p>
        </p:txBody>
      </p:sp>
      <p:sp>
        <p:nvSpPr>
          <p:cNvPr id="135" name="Номер слайда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Пусто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Номер слайда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  <p:extLst>
    <p:ext uri="{DCECCB84-F9BA-43D5-87BE-67443E8EF086}">
      <p15:sldGuideLst xmlns:p15="http://schemas.microsoft.com/office/powerpoint/2012/main">
        <p15:guide id="1" orient="horz" pos="4320" userDrawn="1">
          <p15:clr>
            <a:srgbClr val="FBAE40"/>
          </p15:clr>
        </p15:guide>
        <p15:guide id="2" pos="7680" userDrawn="1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Уровень текста 1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1201340" y="11859862"/>
            <a:ext cx="21971005" cy="636981"/>
          </a:xfrm>
          <a:prstGeom prst="rect">
            <a:avLst/>
          </a:prstGeom>
        </p:spPr>
        <p:txBody>
          <a:bodyPr lIns="45718" tIns="45718" rIns="45718" bIns="45718" numCol="1" spcCol="38100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sz="3600" b="1"/>
            </a:lvl1pPr>
            <a:lvl2pPr marL="1066800" indent="-457200" defTabSz="825500">
              <a:lnSpc>
                <a:spcPct val="100000"/>
              </a:lnSpc>
              <a:spcBef>
                <a:spcPts val="0"/>
              </a:spcBef>
              <a:defRPr sz="3600" b="1"/>
            </a:lvl2pPr>
            <a:lvl3pPr marL="1676400" indent="-457200" defTabSz="825500">
              <a:lnSpc>
                <a:spcPct val="100000"/>
              </a:lnSpc>
              <a:spcBef>
                <a:spcPts val="0"/>
              </a:spcBef>
              <a:defRPr sz="3600" b="1"/>
            </a:lvl3pPr>
            <a:lvl4pPr marL="2286000" indent="-457200" defTabSz="825500">
              <a:lnSpc>
                <a:spcPct val="100000"/>
              </a:lnSpc>
              <a:spcBef>
                <a:spcPts val="0"/>
              </a:spcBef>
              <a:defRPr sz="3600" b="1"/>
            </a:lvl4pPr>
            <a:lvl5pPr marL="2895600" indent="-457200" defTabSz="825500">
              <a:lnSpc>
                <a:spcPct val="100000"/>
              </a:lnSpc>
              <a:spcBef>
                <a:spcPts val="0"/>
              </a:spcBef>
              <a:defRPr sz="3600" b="1"/>
            </a:lvl5pPr>
          </a:lstStyle>
          <a:p>
            <a:r>
              <a:t>Author and Date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150" name="Presentation Title"/>
          <p:cNvSpPr txBox="1">
            <a:spLocks noGrp="1"/>
          </p:cNvSpPr>
          <p:nvPr>
            <p:ph type="title" hasCustomPrompt="1"/>
          </p:nvPr>
        </p:nvSpPr>
        <p:spPr>
          <a:xfrm>
            <a:off x="1206496" y="2574991"/>
            <a:ext cx="21971005" cy="4648203"/>
          </a:xfrm>
          <a:prstGeom prst="rect">
            <a:avLst/>
          </a:prstGeom>
        </p:spPr>
        <p:txBody>
          <a:bodyPr anchor="b"/>
          <a:lstStyle>
            <a:lvl1pPr>
              <a:defRPr sz="11600" spc="-232"/>
            </a:lvl1pPr>
          </a:lstStyle>
          <a:p>
            <a:r>
              <a:t>Presentation Title</a:t>
            </a:r>
          </a:p>
        </p:txBody>
      </p:sp>
      <p:sp>
        <p:nvSpPr>
          <p:cNvPr id="151" name="Уровень текста 1…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1201342" y="7223190"/>
            <a:ext cx="21971002" cy="1905003"/>
          </a:xfrm>
          <a:prstGeom prst="rect">
            <a:avLst/>
          </a:prstGeom>
        </p:spPr>
        <p:txBody>
          <a:bodyPr numCol="1" spcCol="38100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500" b="1"/>
            </a:lvl1pPr>
          </a:lstStyle>
          <a:p>
            <a:r>
              <a:t>Presentation Subtitle</a:t>
            </a:r>
          </a:p>
        </p:txBody>
      </p:sp>
      <p:sp>
        <p:nvSpPr>
          <p:cNvPr id="152" name="Номер слайда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  <p:extLst>
    <p:ext uri="{DCECCB84-F9BA-43D5-87BE-67443E8EF086}">
      <p15:sldGuideLst xmlns:p15="http://schemas.microsoft.com/office/powerpoint/2012/main">
        <p15:guide id="1" orient="horz" pos="4320" userDrawn="1">
          <p15:clr>
            <a:srgbClr val="FBAE40"/>
          </p15:clr>
        </p15:guide>
        <p15:guide id="2" pos="7680" userDrawn="1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Только заголовок">
    <p:bg>
      <p:bgPr>
        <a:solidFill>
          <a:srgbClr val="0D0D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9" name="Image" descr="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900346" y="712670"/>
            <a:ext cx="575067" cy="574669"/>
          </a:xfrm>
          <a:prstGeom prst="rect">
            <a:avLst/>
          </a:prstGeom>
          <a:ln w="12700">
            <a:miter lim="400000"/>
          </a:ln>
        </p:spPr>
      </p:pic>
      <p:sp>
        <p:nvSpPr>
          <p:cNvPr id="160" name="Текст заголовка"/>
          <p:cNvSpPr txBox="1">
            <a:spLocks noGrp="1"/>
          </p:cNvSpPr>
          <p:nvPr>
            <p:ph type="title"/>
          </p:nvPr>
        </p:nvSpPr>
        <p:spPr>
          <a:xfrm>
            <a:off x="719196" y="565867"/>
            <a:ext cx="20918184" cy="1201292"/>
          </a:xfrm>
          <a:prstGeom prst="rect">
            <a:avLst/>
          </a:prstGeom>
        </p:spPr>
        <p:txBody>
          <a:bodyPr lIns="91437" tIns="91437" rIns="91437" bIns="91437"/>
          <a:lstStyle>
            <a:lvl1pPr defTabSz="1828800">
              <a:lnSpc>
                <a:spcPct val="90000"/>
              </a:lnSpc>
              <a:defRPr sz="7000" b="0" spc="0">
                <a:solidFill>
                  <a:srgbClr val="FFFFFF"/>
                </a:solidFill>
                <a:latin typeface="Beeline Sans Medium"/>
                <a:ea typeface="Beeline Sans Medium"/>
                <a:cs typeface="Beeline Sans Medium"/>
                <a:sym typeface="Beeline Sans Medium"/>
              </a:defRPr>
            </a:lvl1pPr>
          </a:lstStyle>
          <a:p>
            <a:r>
              <a:t>Текст заголовка</a:t>
            </a:r>
          </a:p>
        </p:txBody>
      </p:sp>
      <p:sp>
        <p:nvSpPr>
          <p:cNvPr id="161" name="Номер слайда"/>
          <p:cNvSpPr txBox="1">
            <a:spLocks noGrp="1"/>
          </p:cNvSpPr>
          <p:nvPr>
            <p:ph type="sldNum" sz="quarter" idx="2"/>
          </p:nvPr>
        </p:nvSpPr>
        <p:spPr>
          <a:xfrm>
            <a:off x="16969338" y="12456162"/>
            <a:ext cx="505863" cy="513077"/>
          </a:xfrm>
          <a:prstGeom prst="rect">
            <a:avLst/>
          </a:prstGeom>
        </p:spPr>
        <p:txBody>
          <a:bodyPr lIns="91437" tIns="91437" rIns="91437" bIns="91437" anchor="ctr"/>
          <a:lstStyle>
            <a:lvl1pPr algn="r" defTabSz="1828800">
              <a:defRPr sz="2400">
                <a:solidFill>
                  <a:srgbClr val="262626"/>
                </a:solidFill>
                <a:latin typeface="Beeline Sans"/>
                <a:ea typeface="Beeline Sans"/>
                <a:cs typeface="Beeline Sans"/>
                <a:sym typeface="Beeline Sans"/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Только заголовок 0">
    <p:bg>
      <p:bgPr>
        <a:solidFill>
          <a:srgbClr val="0D0D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Текст заголовка"/>
          <p:cNvSpPr txBox="1">
            <a:spLocks noGrp="1"/>
          </p:cNvSpPr>
          <p:nvPr>
            <p:ph type="title"/>
          </p:nvPr>
        </p:nvSpPr>
        <p:spPr>
          <a:xfrm>
            <a:off x="719196" y="565867"/>
            <a:ext cx="20918184" cy="1201292"/>
          </a:xfrm>
          <a:prstGeom prst="rect">
            <a:avLst/>
          </a:prstGeom>
        </p:spPr>
        <p:txBody>
          <a:bodyPr lIns="91437" tIns="91437" rIns="91437" bIns="91437"/>
          <a:lstStyle>
            <a:lvl1pPr defTabSz="1828800">
              <a:lnSpc>
                <a:spcPct val="90000"/>
              </a:lnSpc>
              <a:defRPr sz="7000" b="0" spc="0">
                <a:solidFill>
                  <a:srgbClr val="FFFFFF"/>
                </a:solidFill>
                <a:latin typeface="Beeline Sans Medium"/>
                <a:ea typeface="Beeline Sans Medium"/>
                <a:cs typeface="Beeline Sans Medium"/>
                <a:sym typeface="Beeline Sans Medium"/>
              </a:defRPr>
            </a:lvl1pPr>
          </a:lstStyle>
          <a:p>
            <a:r>
              <a:t>Текст заголовка</a:t>
            </a:r>
          </a:p>
        </p:txBody>
      </p:sp>
      <p:sp>
        <p:nvSpPr>
          <p:cNvPr id="169" name="Номер слайда"/>
          <p:cNvSpPr txBox="1">
            <a:spLocks noGrp="1"/>
          </p:cNvSpPr>
          <p:nvPr>
            <p:ph type="sldNum" sz="quarter" idx="2"/>
          </p:nvPr>
        </p:nvSpPr>
        <p:spPr>
          <a:xfrm>
            <a:off x="16969338" y="12456162"/>
            <a:ext cx="505863" cy="513077"/>
          </a:xfrm>
          <a:prstGeom prst="rect">
            <a:avLst/>
          </a:prstGeom>
        </p:spPr>
        <p:txBody>
          <a:bodyPr lIns="91437" tIns="91437" rIns="91437" bIns="91437" anchor="ctr"/>
          <a:lstStyle>
            <a:lvl1pPr algn="r" defTabSz="1828800">
              <a:defRPr sz="2400">
                <a:solidFill>
                  <a:srgbClr val="262626"/>
                </a:solidFill>
                <a:latin typeface="Beeline Sans"/>
                <a:ea typeface="Beeline Sans"/>
                <a:cs typeface="Beeline Sans"/>
                <a:sym typeface="Beeline Sans"/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Текст заголовка"/>
          <p:cNvSpPr txBox="1">
            <a:spLocks noGrp="1"/>
          </p:cNvSpPr>
          <p:nvPr>
            <p:ph type="title"/>
          </p:nvPr>
        </p:nvSpPr>
        <p:spPr>
          <a:xfrm>
            <a:off x="713877" y="672502"/>
            <a:ext cx="21031202" cy="1387311"/>
          </a:xfrm>
          <a:prstGeom prst="rect">
            <a:avLst/>
          </a:prstGeom>
        </p:spPr>
        <p:txBody>
          <a:bodyPr lIns="91437" tIns="91437" rIns="91437" bIns="91437" anchor="ctr"/>
          <a:lstStyle>
            <a:lvl1pPr defTabSz="1828754">
              <a:lnSpc>
                <a:spcPct val="90000"/>
              </a:lnSpc>
              <a:defRPr sz="9000" b="0" spc="0">
                <a:latin typeface="Beeline Sans Black"/>
                <a:ea typeface="Beeline Sans Black"/>
                <a:cs typeface="Beeline Sans Black"/>
                <a:sym typeface="Beeline Sans Black"/>
              </a:defRPr>
            </a:lvl1pPr>
          </a:lstStyle>
          <a:p>
            <a:r>
              <a:t>Текст заголовка</a:t>
            </a:r>
          </a:p>
        </p:txBody>
      </p:sp>
      <p:sp>
        <p:nvSpPr>
          <p:cNvPr id="177" name="Уровень текста 1…"/>
          <p:cNvSpPr txBox="1">
            <a:spLocks noGrp="1"/>
          </p:cNvSpPr>
          <p:nvPr>
            <p:ph type="body" sz="quarter" idx="1"/>
          </p:nvPr>
        </p:nvSpPr>
        <p:spPr>
          <a:xfrm>
            <a:off x="0" y="0"/>
            <a:ext cx="2542" cy="2542"/>
          </a:xfrm>
          <a:prstGeom prst="rect">
            <a:avLst/>
          </a:prstGeom>
        </p:spPr>
        <p:txBody>
          <a:bodyPr lIns="91437" tIns="91437" rIns="91437" bIns="91437" numCol="1" spcCol="38100"/>
          <a:lstStyle>
            <a:lvl1pPr marL="457187" indent="-457187" defTabSz="1828754">
              <a:spcBef>
                <a:spcPts val="2000"/>
              </a:spcBef>
              <a:buSzPct val="100000"/>
              <a:buFont typeface="Arial"/>
              <a:defRPr sz="5600">
                <a:latin typeface="Beeline Sans"/>
                <a:ea typeface="Beeline Sans"/>
                <a:cs typeface="Beeline Sans"/>
                <a:sym typeface="Beeline Sans"/>
              </a:defRPr>
            </a:lvl1pPr>
            <a:lvl2pPr marL="990575" indent="-533384" defTabSz="1828754">
              <a:spcBef>
                <a:spcPts val="2000"/>
              </a:spcBef>
              <a:buSzPct val="100000"/>
              <a:buFont typeface="Arial"/>
              <a:defRPr sz="5600">
                <a:latin typeface="Beeline Sans"/>
                <a:ea typeface="Beeline Sans"/>
                <a:cs typeface="Beeline Sans"/>
                <a:sym typeface="Beeline Sans"/>
              </a:defRPr>
            </a:lvl2pPr>
            <a:lvl3pPr marL="1554440" indent="-640063" defTabSz="1828754">
              <a:spcBef>
                <a:spcPts val="2000"/>
              </a:spcBef>
              <a:buSzPct val="100000"/>
              <a:buFont typeface="Arial"/>
              <a:defRPr sz="5600">
                <a:latin typeface="Beeline Sans"/>
                <a:ea typeface="Beeline Sans"/>
                <a:cs typeface="Beeline Sans"/>
                <a:sym typeface="Beeline Sans"/>
              </a:defRPr>
            </a:lvl3pPr>
            <a:lvl4pPr marL="2082747" indent="-711181" defTabSz="1828754">
              <a:spcBef>
                <a:spcPts val="2000"/>
              </a:spcBef>
              <a:buSzPct val="100000"/>
              <a:buFont typeface="Arial"/>
              <a:defRPr sz="5600">
                <a:latin typeface="Beeline Sans"/>
                <a:ea typeface="Beeline Sans"/>
                <a:cs typeface="Beeline Sans"/>
                <a:sym typeface="Beeline Sans"/>
              </a:defRPr>
            </a:lvl4pPr>
            <a:lvl5pPr marL="2539936" indent="-711181" defTabSz="1828754">
              <a:spcBef>
                <a:spcPts val="2000"/>
              </a:spcBef>
              <a:buSzPct val="100000"/>
              <a:buFont typeface="Arial"/>
              <a:defRPr sz="5600">
                <a:latin typeface="Beeline Sans"/>
                <a:ea typeface="Beeline Sans"/>
                <a:cs typeface="Beeline Sans"/>
                <a:sym typeface="Beeline Sans"/>
              </a:defRPr>
            </a:lvl5pPr>
          </a:lstStyle>
          <a:p>
            <a:r>
              <a:t>Уровень текста 1</a:t>
            </a:r>
          </a:p>
          <a:p>
            <a:pPr lvl="1"/>
            <a:r>
              <a:t>Уровень текста 2</a:t>
            </a:r>
          </a:p>
          <a:p>
            <a:pPr lvl="2"/>
            <a:r>
              <a:t>Уровень текста 3</a:t>
            </a:r>
          </a:p>
          <a:p>
            <a:pPr lvl="3"/>
            <a:r>
              <a:t>Уровень текста 4</a:t>
            </a:r>
          </a:p>
          <a:p>
            <a:pPr lvl="4"/>
            <a:r>
              <a:t>Уровень текста 5</a:t>
            </a:r>
          </a:p>
        </p:txBody>
      </p:sp>
      <p:sp>
        <p:nvSpPr>
          <p:cNvPr id="178" name="Номер слайда"/>
          <p:cNvSpPr txBox="1">
            <a:spLocks noGrp="1"/>
          </p:cNvSpPr>
          <p:nvPr>
            <p:ph type="sldNum" sz="quarter" idx="2"/>
          </p:nvPr>
        </p:nvSpPr>
        <p:spPr>
          <a:xfrm>
            <a:off x="0" y="0"/>
            <a:ext cx="661006" cy="678176"/>
          </a:xfrm>
          <a:prstGeom prst="rect">
            <a:avLst/>
          </a:prstGeom>
        </p:spPr>
        <p:txBody>
          <a:bodyPr lIns="91437" tIns="91437" rIns="91437" bIns="91437" anchor="t"/>
          <a:lstStyle>
            <a:lvl1pPr algn="l" defTabSz="1828754">
              <a:defRPr sz="3600">
                <a:latin typeface="Beeline Sans"/>
                <a:ea typeface="Beeline Sans"/>
                <a:cs typeface="Beeline Sans"/>
                <a:sym typeface="Beeline Sans"/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Слайд без лига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Заголовок слайда"/>
          <p:cNvSpPr txBox="1">
            <a:spLocks noGrp="1"/>
          </p:cNvSpPr>
          <p:nvPr>
            <p:ph type="title" hasCustomPrompt="1"/>
          </p:nvPr>
        </p:nvSpPr>
        <p:spPr>
          <a:xfrm>
            <a:off x="1152001" y="648130"/>
            <a:ext cx="19972510" cy="960010"/>
          </a:xfrm>
          <a:prstGeom prst="rect">
            <a:avLst/>
          </a:prstGeom>
        </p:spPr>
        <p:txBody>
          <a:bodyPr lIns="91437" tIns="91437" rIns="91437" bIns="91437"/>
          <a:lstStyle>
            <a:lvl1pPr defTabSz="1828754">
              <a:lnSpc>
                <a:spcPct val="90000"/>
              </a:lnSpc>
              <a:defRPr sz="9000" b="0" spc="0">
                <a:latin typeface="Beeline Sans Black"/>
                <a:ea typeface="Beeline Sans Black"/>
                <a:cs typeface="Beeline Sans Black"/>
                <a:sym typeface="Beeline Sans Black"/>
              </a:defRPr>
            </a:lvl1pPr>
          </a:lstStyle>
          <a:p>
            <a:r>
              <a:t>Заголовок слайда</a:t>
            </a:r>
          </a:p>
        </p:txBody>
      </p:sp>
      <p:pic>
        <p:nvPicPr>
          <p:cNvPr id="186" name="Рисунок 4" descr="Рисунок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737750" y="807259"/>
            <a:ext cx="641745" cy="641745"/>
          </a:xfrm>
          <a:prstGeom prst="rect">
            <a:avLst/>
          </a:prstGeom>
          <a:ln w="12700">
            <a:miter lim="400000"/>
          </a:ln>
        </p:spPr>
      </p:pic>
      <p:sp>
        <p:nvSpPr>
          <p:cNvPr id="187" name="Номер слайда"/>
          <p:cNvSpPr txBox="1">
            <a:spLocks noGrp="1"/>
          </p:cNvSpPr>
          <p:nvPr>
            <p:ph type="sldNum" sz="quarter" idx="2"/>
          </p:nvPr>
        </p:nvSpPr>
        <p:spPr>
          <a:xfrm>
            <a:off x="16969338" y="12456162"/>
            <a:ext cx="505863" cy="513077"/>
          </a:xfrm>
          <a:prstGeom prst="rect">
            <a:avLst/>
          </a:prstGeom>
        </p:spPr>
        <p:txBody>
          <a:bodyPr lIns="91437" tIns="91437" rIns="91437" bIns="91437" anchor="ctr"/>
          <a:lstStyle>
            <a:lvl1pPr algn="r" defTabSz="1828754">
              <a:defRPr sz="2400">
                <a:latin typeface="Beeline Sans"/>
                <a:ea typeface="Beeline Sans"/>
                <a:cs typeface="Beeline Sans"/>
                <a:sym typeface="Beeline Sans"/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Уровень текста 1…"/>
          <p:cNvSpPr txBox="1">
            <a:spLocks noGrp="1"/>
          </p:cNvSpPr>
          <p:nvPr>
            <p:ph type="body" idx="1" hasCustomPrompt="1"/>
          </p:nvPr>
        </p:nvSpPr>
        <p:spPr>
          <a:xfrm>
            <a:off x="1206500" y="4248503"/>
            <a:ext cx="21971000" cy="82560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numCol="2" spcCol="1098550">
            <a:normAutofit/>
          </a:bodyPr>
          <a:lstStyle/>
          <a:p>
            <a:r>
              <a:t>Текст пункта на слайде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3" name="Текст заголовка"/>
          <p:cNvSpPr txBox="1">
            <a:spLocks noGrp="1"/>
          </p:cNvSpPr>
          <p:nvPr>
            <p:ph type="title"/>
          </p:nvPr>
        </p:nvSpPr>
        <p:spPr>
          <a:xfrm>
            <a:off x="3653366" y="2743200"/>
            <a:ext cx="19507201" cy="15053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>
            <a:normAutofit/>
          </a:bodyPr>
          <a:lstStyle/>
          <a:p>
            <a:r>
              <a:rPr dirty="0" err="1"/>
              <a:t>Текст</a:t>
            </a:r>
            <a:r>
              <a:rPr dirty="0"/>
              <a:t> </a:t>
            </a:r>
            <a:r>
              <a:rPr dirty="0" err="1"/>
              <a:t>заголовка</a:t>
            </a:r>
            <a:endParaRPr dirty="0"/>
          </a:p>
        </p:txBody>
      </p:sp>
      <p:sp>
        <p:nvSpPr>
          <p:cNvPr id="4" name="Номер слайда"/>
          <p:cNvSpPr txBox="1">
            <a:spLocks noGrp="1"/>
          </p:cNvSpPr>
          <p:nvPr>
            <p:ph type="sldNum" sz="quarter" idx="2"/>
          </p:nvPr>
        </p:nvSpPr>
        <p:spPr>
          <a:xfrm>
            <a:off x="12001500" y="13080999"/>
            <a:ext cx="368504" cy="374600"/>
          </a:xfrm>
          <a:prstGeom prst="rect">
            <a:avLst/>
          </a:prstGeom>
          <a:ln w="12700">
            <a:miter lim="400000"/>
          </a:ln>
        </p:spPr>
        <p:txBody>
          <a:bodyPr wrap="none" lIns="50800" tIns="50800" rIns="50800" bIns="50800" anchor="b">
            <a:spAutoFit/>
          </a:bodyPr>
          <a:lstStyle>
            <a:lvl1pPr defTabSz="584200">
              <a:defRPr sz="1800">
                <a:solidFill>
                  <a:srgbClr val="000000"/>
                </a:solidFill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</p:sldLayoutIdLst>
  <p:transition spd="med"/>
  <p:txStyles>
    <p:titleStyle>
      <a:lvl1pPr marL="0" marR="0" indent="0" algn="l" defTabSz="2438337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500" b="1" i="0" u="none" strike="noStrike" cap="none" spc="-170" baseline="0">
          <a:solidFill>
            <a:srgbClr val="000000"/>
          </a:solidFill>
          <a:uFillTx/>
          <a:latin typeface="+mj-lt"/>
          <a:ea typeface="+mj-ea"/>
          <a:cs typeface="+mj-cs"/>
          <a:sym typeface="Helvetica Neue"/>
        </a:defRPr>
      </a:lvl1pPr>
      <a:lvl2pPr marL="0" marR="0" indent="0" algn="l" defTabSz="2438337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500" b="1" i="0" u="none" strike="noStrike" cap="none" spc="-170" baseline="0">
          <a:solidFill>
            <a:srgbClr val="000000"/>
          </a:solidFill>
          <a:uFillTx/>
          <a:latin typeface="+mj-lt"/>
          <a:ea typeface="+mj-ea"/>
          <a:cs typeface="+mj-cs"/>
          <a:sym typeface="Helvetica Neue"/>
        </a:defRPr>
      </a:lvl2pPr>
      <a:lvl3pPr marL="0" marR="0" indent="0" algn="l" defTabSz="2438337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500" b="1" i="0" u="none" strike="noStrike" cap="none" spc="-170" baseline="0">
          <a:solidFill>
            <a:srgbClr val="000000"/>
          </a:solidFill>
          <a:uFillTx/>
          <a:latin typeface="+mj-lt"/>
          <a:ea typeface="+mj-ea"/>
          <a:cs typeface="+mj-cs"/>
          <a:sym typeface="Helvetica Neue"/>
        </a:defRPr>
      </a:lvl3pPr>
      <a:lvl4pPr marL="0" marR="0" indent="0" algn="l" defTabSz="2438337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500" b="1" i="0" u="none" strike="noStrike" cap="none" spc="-170" baseline="0">
          <a:solidFill>
            <a:srgbClr val="000000"/>
          </a:solidFill>
          <a:uFillTx/>
          <a:latin typeface="+mj-lt"/>
          <a:ea typeface="+mj-ea"/>
          <a:cs typeface="+mj-cs"/>
          <a:sym typeface="Helvetica Neue"/>
        </a:defRPr>
      </a:lvl4pPr>
      <a:lvl5pPr marL="0" marR="0" indent="0" algn="l" defTabSz="2438337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500" b="1" i="0" u="none" strike="noStrike" cap="none" spc="-170" baseline="0">
          <a:solidFill>
            <a:srgbClr val="000000"/>
          </a:solidFill>
          <a:uFillTx/>
          <a:latin typeface="+mj-lt"/>
          <a:ea typeface="+mj-ea"/>
          <a:cs typeface="+mj-cs"/>
          <a:sym typeface="Helvetica Neue"/>
        </a:defRPr>
      </a:lvl5pPr>
      <a:lvl6pPr marL="0" marR="0" indent="0" algn="l" defTabSz="2438337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500" b="1" i="0" u="none" strike="noStrike" cap="none" spc="-170" baseline="0">
          <a:solidFill>
            <a:srgbClr val="000000"/>
          </a:solidFill>
          <a:uFillTx/>
          <a:latin typeface="+mj-lt"/>
          <a:ea typeface="+mj-ea"/>
          <a:cs typeface="+mj-cs"/>
          <a:sym typeface="Helvetica Neue"/>
        </a:defRPr>
      </a:lvl6pPr>
      <a:lvl7pPr marL="0" marR="0" indent="0" algn="l" defTabSz="2438337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500" b="1" i="0" u="none" strike="noStrike" cap="none" spc="-170" baseline="0">
          <a:solidFill>
            <a:srgbClr val="000000"/>
          </a:solidFill>
          <a:uFillTx/>
          <a:latin typeface="+mj-lt"/>
          <a:ea typeface="+mj-ea"/>
          <a:cs typeface="+mj-cs"/>
          <a:sym typeface="Helvetica Neue"/>
        </a:defRPr>
      </a:lvl7pPr>
      <a:lvl8pPr marL="0" marR="0" indent="0" algn="l" defTabSz="2438337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500" b="1" i="0" u="none" strike="noStrike" cap="none" spc="-170" baseline="0">
          <a:solidFill>
            <a:srgbClr val="000000"/>
          </a:solidFill>
          <a:uFillTx/>
          <a:latin typeface="+mj-lt"/>
          <a:ea typeface="+mj-ea"/>
          <a:cs typeface="+mj-cs"/>
          <a:sym typeface="Helvetica Neue"/>
        </a:defRPr>
      </a:lvl8pPr>
      <a:lvl9pPr marL="0" marR="0" indent="0" algn="l" defTabSz="2438337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500" b="1" i="0" u="none" strike="noStrike" cap="none" spc="-170" baseline="0">
          <a:solidFill>
            <a:srgbClr val="000000"/>
          </a:solidFill>
          <a:uFillTx/>
          <a:latin typeface="+mj-lt"/>
          <a:ea typeface="+mj-ea"/>
          <a:cs typeface="+mj-cs"/>
          <a:sym typeface="Helvetica Neue"/>
        </a:defRPr>
      </a:lvl9pPr>
    </p:titleStyle>
    <p:bodyStyle>
      <a:lvl1pPr marL="609600" marR="0" indent="-609600" algn="l" defTabSz="2438337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sz="48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Helvetica Neue"/>
        </a:defRPr>
      </a:lvl1pPr>
      <a:lvl2pPr marL="1219200" marR="0" indent="-609600" algn="l" defTabSz="2438337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sz="48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Helvetica Neue"/>
        </a:defRPr>
      </a:lvl2pPr>
      <a:lvl3pPr marL="1828800" marR="0" indent="-609600" algn="l" defTabSz="2438337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sz="48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Helvetica Neue"/>
        </a:defRPr>
      </a:lvl3pPr>
      <a:lvl4pPr marL="2438400" marR="0" indent="-609600" algn="l" defTabSz="2438337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sz="48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Helvetica Neue"/>
        </a:defRPr>
      </a:lvl4pPr>
      <a:lvl5pPr marL="3048000" marR="0" indent="-609600" algn="l" defTabSz="2438337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sz="48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Helvetica Neue"/>
        </a:defRPr>
      </a:lvl5pPr>
      <a:lvl6pPr marL="3657600" marR="0" indent="-609600" algn="l" defTabSz="2438337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sz="48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Helvetica Neue"/>
        </a:defRPr>
      </a:lvl6pPr>
      <a:lvl7pPr marL="4267200" marR="0" indent="-609600" algn="l" defTabSz="2438337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sz="48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Helvetica Neue"/>
        </a:defRPr>
      </a:lvl7pPr>
      <a:lvl8pPr marL="4876800" marR="0" indent="-609600" algn="l" defTabSz="2438337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sz="48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Helvetica Neue"/>
        </a:defRPr>
      </a:lvl8pPr>
      <a:lvl9pPr marL="5486400" marR="0" indent="-609600" algn="l" defTabSz="2438337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sz="48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Helvetica Neue"/>
        </a:defRPr>
      </a:lvl9pPr>
    </p:bodyStyle>
    <p:otherStyle>
      <a:lvl1pPr marL="0" marR="0" indent="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1pPr>
      <a:lvl2pPr marL="0" marR="0" indent="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2pPr>
      <a:lvl3pPr marL="0" marR="0" indent="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3pPr>
      <a:lvl4pPr marL="0" marR="0" indent="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4pPr>
      <a:lvl5pPr marL="0" marR="0" indent="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5pPr>
      <a:lvl6pPr marL="0" marR="0" indent="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6pPr>
      <a:lvl7pPr marL="0" marR="0" indent="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7pPr>
      <a:lvl8pPr marL="0" marR="0" indent="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8pPr>
      <a:lvl9pPr marL="0" marR="0" indent="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8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6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6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8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6.png"/><Relationship Id="rId3" Type="http://schemas.openxmlformats.org/officeDocument/2006/relationships/image" Target="../media/image3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6.png"/><Relationship Id="rId3" Type="http://schemas.openxmlformats.org/officeDocument/2006/relationships/image" Target="../media/image36.png"/><Relationship Id="rId4" Type="http://schemas.openxmlformats.org/officeDocument/2006/relationships/image" Target="../media/image38.png"/><Relationship Id="rId5" Type="http://schemas.openxmlformats.org/officeDocument/2006/relationships/image" Target="../media/image39.png"/><Relationship Id="rId6" Type="http://schemas.openxmlformats.org/officeDocument/2006/relationships/image" Target="../media/image41.png"/><Relationship Id="rId7" Type="http://schemas.openxmlformats.org/officeDocument/2006/relationships/image" Target="../media/image4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6.png"/><Relationship Id="rId3" Type="http://schemas.openxmlformats.org/officeDocument/2006/relationships/image" Target="../media/image4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6.png"/><Relationship Id="rId3" Type="http://schemas.openxmlformats.org/officeDocument/2006/relationships/image" Target="../media/image4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6.png"/><Relationship Id="rId3" Type="http://schemas.openxmlformats.org/officeDocument/2006/relationships/image" Target="../media/image4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6.png"/><Relationship Id="rId3" Type="http://schemas.openxmlformats.org/officeDocument/2006/relationships/image" Target="../media/image49.png"/><Relationship Id="rId4" Type="http://schemas.openxmlformats.org/officeDocument/2006/relationships/image" Target="../media/image50.png"/><Relationship Id="rId5" Type="http://schemas.openxmlformats.org/officeDocument/2006/relationships/image" Target="../media/image52.png"/><Relationship Id="rId6" Type="http://schemas.openxmlformats.org/officeDocument/2006/relationships/image" Target="../media/image5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8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6.png"/><Relationship Id="rId3" Type="http://schemas.openxmlformats.org/officeDocument/2006/relationships/chart" Target="../charts/chart13.xml"/><Relationship Id="rId4" Type="http://schemas.openxmlformats.org/officeDocument/2006/relationships/chart" Target="../charts/chart14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6.png"/><Relationship Id="rId3" Type="http://schemas.openxmlformats.org/officeDocument/2006/relationships/image" Target="../media/image64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6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6.png"/><Relationship Id="rId3" Type="http://schemas.openxmlformats.org/officeDocument/2006/relationships/chart" Target="../charts/chart15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6.png"/><Relationship Id="rId3" Type="http://schemas.openxmlformats.org/officeDocument/2006/relationships/chart" Target="../charts/chart16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6.png"/><Relationship Id="rId3" Type="http://schemas.openxmlformats.org/officeDocument/2006/relationships/image" Target="../media/image65.png"/><Relationship Id="rId4" Type="http://schemas.openxmlformats.org/officeDocument/2006/relationships/image" Target="../media/image66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6.png"/><Relationship Id="rId3" Type="http://schemas.openxmlformats.org/officeDocument/2006/relationships/image" Target="../media/image67.png"/><Relationship Id="rId4" Type="http://schemas.openxmlformats.org/officeDocument/2006/relationships/image" Target="../media/image68.png"/><Relationship Id="rId5" Type="http://schemas.openxmlformats.org/officeDocument/2006/relationships/image" Target="../media/image69.png"/><Relationship Id="rId6" Type="http://schemas.openxmlformats.org/officeDocument/2006/relationships/image" Target="../media/image70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6.png"/><Relationship Id="rId3" Type="http://schemas.openxmlformats.org/officeDocument/2006/relationships/image" Target="../media/image80.png"/><Relationship Id="rId4" Type="http://schemas.openxmlformats.org/officeDocument/2006/relationships/image" Target="../media/image81.png"/><Relationship Id="rId5" Type="http://schemas.openxmlformats.org/officeDocument/2006/relationships/image" Target="../media/image82.png"/><Relationship Id="rId6" Type="http://schemas.openxmlformats.org/officeDocument/2006/relationships/image" Target="../media/image83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8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6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6.png"/><Relationship Id="rId3" Type="http://schemas.openxmlformats.org/officeDocument/2006/relationships/chart" Target="../charts/chart10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6.png"/><Relationship Id="rId3" Type="http://schemas.openxmlformats.org/officeDocument/2006/relationships/image" Target="../media/image74.png"/><Relationship Id="rId4" Type="http://schemas.openxmlformats.org/officeDocument/2006/relationships/image" Target="../media/image75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6.png"/><Relationship Id="rId3" Type="http://schemas.openxmlformats.org/officeDocument/2006/relationships/image" Target="../media/image76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6.png"/><Relationship Id="rId3" Type="http://schemas.openxmlformats.org/officeDocument/2006/relationships/chart" Target="../charts/chart11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6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6.png"/><Relationship Id="rId3" Type="http://schemas.openxmlformats.org/officeDocument/2006/relationships/chart" Target="../charts/chart1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6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6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6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31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8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6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6.png"/><Relationship Id="rId3" Type="http://schemas.openxmlformats.org/officeDocument/2006/relationships/image" Target="../media/image32.png"/><Relationship Id="rId4" Type="http://schemas.openxmlformats.org/officeDocument/2006/relationships/image" Target="../media/image33.png"/><Relationship Id="rId5" Type="http://schemas.openxmlformats.org/officeDocument/2006/relationships/image" Target="../media/image34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6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6.png"/><Relationship Id="rId3" Type="http://schemas.openxmlformats.org/officeDocument/2006/relationships/image" Target="../media/image43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6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6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6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6.png"/><Relationship Id="rId3" Type="http://schemas.openxmlformats.org/officeDocument/2006/relationships/image" Target="../media/image45.png"/><Relationship Id="rId4" Type="http://schemas.openxmlformats.org/officeDocument/2006/relationships/image" Target="../media/image46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6.png"/><Relationship Id="rId3" Type="http://schemas.openxmlformats.org/officeDocument/2006/relationships/image" Target="../media/image48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6.png"/><Relationship Id="rId3" Type="http://schemas.openxmlformats.org/officeDocument/2006/relationships/image" Target="../media/image51.png"/><Relationship Id="rId4" Type="http://schemas.openxmlformats.org/officeDocument/2006/relationships/image" Target="../media/image54.png"/><Relationship Id="rId5" Type="http://schemas.openxmlformats.org/officeDocument/2006/relationships/image" Target="../media/image55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6.png"/><Relationship Id="rId3" Type="http://schemas.openxmlformats.org/officeDocument/2006/relationships/image" Target="../media/image62.png"/><Relationship Id="rId4" Type="http://schemas.openxmlformats.org/officeDocument/2006/relationships/image" Target="../media/image63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6.png"/><Relationship Id="rId3" Type="http://schemas.openxmlformats.org/officeDocument/2006/relationships/image" Target="../media/image71.png"/><Relationship Id="rId4" Type="http://schemas.openxmlformats.org/officeDocument/2006/relationships/image" Target="../media/image72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6.png"/><Relationship Id="rId3" Type="http://schemas.openxmlformats.org/officeDocument/2006/relationships/image" Target="../media/image73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6.png"/><Relationship Id="rId3" Type="http://schemas.openxmlformats.org/officeDocument/2006/relationships/image" Target="../media/image77.png"/><Relationship Id="rId4" Type="http://schemas.openxmlformats.org/officeDocument/2006/relationships/image" Target="../media/image78.png"/><Relationship Id="rId5" Type="http://schemas.openxmlformats.org/officeDocument/2006/relationships/image" Target="../media/image79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6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3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4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5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7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414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FC899562-5539-A2EC-13B6-25296BF6F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V="1">
            <a:off x="0" y="-2401"/>
            <a:ext cx="24379736" cy="13718401"/>
          </a:xfrm>
          <a:prstGeom prst="rect">
            <a:avLst/>
          </a:prstGeom>
        </p:spPr>
      </p:pic>
      <p:sp>
        <p:nvSpPr>
          <p:cNvPr id="205" name="01"/>
          <p:cNvSpPr txBox="1"/>
          <p:nvPr/>
        </p:nvSpPr>
        <p:spPr>
          <a:xfrm>
            <a:off x="12105657" y="1474027"/>
            <a:ext cx="12278343" cy="8801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>
            <a:spAutoFit/>
          </a:bodyPr>
          <a:lstStyle>
            <a:lvl1pPr algn="l">
              <a:defRPr sz="63200" b="1">
                <a:solidFill>
                  <a:srgbClr val="FFFFFF"/>
                </a:solidFill>
                <a:latin typeface="Beeline Sans"/>
                <a:ea typeface="Beeline Sans"/>
                <a:cs typeface="Beeline Sans"/>
                <a:sym typeface="Beeline Sans"/>
              </a:defRPr>
            </a:lvl1pPr>
          </a:lstStyle>
          <a:p>
            <a:r>
              <a:rPr dirty="0"/>
              <a:t>01</a:t>
            </a:r>
          </a:p>
        </p:txBody>
      </p:sp>
      <p:sp>
        <p:nvSpPr>
          <p:cNvPr id="206" name="медиа-давление и бюджет"/>
          <p:cNvSpPr txBox="1"/>
          <p:nvPr/>
        </p:nvSpPr>
        <p:spPr>
          <a:xfrm>
            <a:off x="2391927" y="5144710"/>
            <a:ext cx="12923158" cy="342657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wrap="none">
            <a:spAutoFit/>
          </a:bodyPr>
          <a:lstStyle>
            <a:lvl1pPr algn="l">
              <a:lnSpc>
                <a:spcPct val="90000"/>
              </a:lnSpc>
              <a:defRPr sz="12000" b="1">
                <a:solidFill>
                  <a:srgbClr val="FFFFFF"/>
                </a:solidFill>
                <a:latin typeface="Beeline Sans"/>
                <a:ea typeface="Beeline Sans"/>
                <a:cs typeface="Beeline Sans"/>
                <a:sym typeface="Beeline Sans"/>
              </a:defRPr>
            </a:lvl1pPr>
          </a:lstStyle>
          <a:p>
            <a:r>
              <a:rPr lang="ru-RU" dirty="0"/>
              <a:t>задача</a:t>
            </a:r>
            <a:br>
              <a:rPr lang="ru-RU" dirty="0"/>
            </a:br>
            <a:r>
              <a:rPr lang="ru-RU" dirty="0"/>
              <a:t>и данные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48640"/>
            <a:ext cx="1645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8C8C8C"/>
                </a:solidFill>
                <a:latin typeface="Beeline Sans"/>
              </a:rPr>
              <a:t>Задача и данные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66A6096C-FC1D-1CE6-4D9A-E42A4FC258C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44260" y="531262"/>
            <a:ext cx="660947" cy="66094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" y="1133856"/>
            <a:ext cx="217627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600" b="1" i="0">
                <a:solidFill>
                  <a:srgbClr val="141414"/>
                </a:solidFill>
                <a:latin typeface="Beeline Sans"/>
              </a:rPr>
              <a:t>Постановка задачи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3200400"/>
            <a:ext cx="7315200" cy="9144000"/>
          </a:xfrm>
          <a:prstGeom prst="roundRect">
            <a:avLst>
              <a:gd name="adj" fmla="val 5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207007" y="3621024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 i="0">
                <a:solidFill>
                  <a:srgbClr val="141414"/>
                </a:solidFill>
                <a:latin typeface="Beeline Sans"/>
              </a:rPr>
              <a:t>Дано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07007" y="4754880"/>
            <a:ext cx="6309360" cy="7315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438912" indent="-438912">
              <a:buClr>
                <a:srgbClr val="141414"/>
              </a:buClr>
              <a:buFont typeface="Beeline Sans"/>
              <a:buChar char="—"/>
            </a:pPr>
            <a:r>
              <a:rPr sz="2500" b="0" i="0">
                <a:solidFill>
                  <a:srgbClr val="141414"/>
                </a:solidFill>
                <a:latin typeface="Beeline Sans"/>
              </a:rPr>
              <a:t>шесть участков: три от организаторов (Восток, Юго-восток, Югоцентр) и три наших</a:t>
            </a:r>
          </a:p>
          <a:p>
            <a:pPr algn="l" marL="438912" indent="-438912">
              <a:spcBef>
                <a:spcPts val="1400"/>
              </a:spcBef>
              <a:buClr>
                <a:srgbClr val="141414"/>
              </a:buClr>
              <a:buFont typeface="Beeline Sans"/>
              <a:buChar char="—"/>
            </a:pPr>
            <a:r>
              <a:rPr sz="2500" b="0" i="0">
                <a:solidFill>
                  <a:srgbClr val="141414"/>
                </a:solidFill>
                <a:latin typeface="Beeline Sans"/>
              </a:rPr>
              <a:t>414 заявок на один день: аварии, подключения, ремонт, дозаказ</a:t>
            </a:r>
          </a:p>
          <a:p>
            <a:pPr algn="l" marL="438912" indent="-438912">
              <a:spcBef>
                <a:spcPts val="1400"/>
              </a:spcBef>
              <a:buClr>
                <a:srgbClr val="141414"/>
              </a:buClr>
              <a:buFont typeface="Beeline Sans"/>
              <a:buChar char="—"/>
            </a:pPr>
            <a:r>
              <a:rPr sz="2500" b="0" i="0">
                <a:solidFill>
                  <a:srgbClr val="141414"/>
                </a:solidFill>
                <a:latin typeface="Beeline Sans"/>
              </a:rPr>
              <a:t>70 бригад; бригада — один инженер со своими навыками, транспортом, домом и графиком</a:t>
            </a:r>
          </a:p>
          <a:p>
            <a:pPr algn="l" marL="438912" indent="-438912">
              <a:spcBef>
                <a:spcPts val="1400"/>
              </a:spcBef>
              <a:buClr>
                <a:srgbClr val="141414"/>
              </a:buClr>
              <a:buFont typeface="Beeline Sans"/>
              <a:buChar char="—"/>
            </a:pPr>
            <a:r>
              <a:rPr sz="2500" b="0" i="0">
                <a:solidFill>
                  <a:srgbClr val="141414"/>
                </a:solidFill>
                <a:latin typeface="Beeline Sans"/>
              </a:rPr>
              <a:t>у заявки есть окно начала работ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430768" y="3200400"/>
            <a:ext cx="7315200" cy="9144000"/>
          </a:xfrm>
          <a:prstGeom prst="roundRect">
            <a:avLst>
              <a:gd name="adj" fmla="val 5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979408" y="3621024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 i="0">
                <a:solidFill>
                  <a:srgbClr val="141414"/>
                </a:solidFill>
                <a:latin typeface="Beeline Sans"/>
              </a:rPr>
              <a:t>Ограничения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79408" y="4754880"/>
            <a:ext cx="6309360" cy="7315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438912" indent="-438912">
              <a:buClr>
                <a:srgbClr val="141414"/>
              </a:buClr>
              <a:buFont typeface="Beeline Sans"/>
              <a:buChar char="—"/>
            </a:pPr>
            <a:r>
              <a:rPr sz="2500" b="0" i="0">
                <a:solidFill>
                  <a:srgbClr val="141414"/>
                </a:solidFill>
                <a:latin typeface="Beeline Sans"/>
              </a:rPr>
              <a:t>у бригады есть навык заявки, на узел связи — только на машине</a:t>
            </a:r>
          </a:p>
          <a:p>
            <a:pPr algn="l" marL="438912" indent="-438912">
              <a:spcBef>
                <a:spcPts val="1400"/>
              </a:spcBef>
              <a:buClr>
                <a:srgbClr val="141414"/>
              </a:buClr>
              <a:buFont typeface="Beeline Sans"/>
              <a:buChar char="—"/>
            </a:pPr>
            <a:r>
              <a:rPr sz="2500" b="0" i="0">
                <a:solidFill>
                  <a:srgbClr val="141414"/>
                </a:solidFill>
                <a:latin typeface="Beeline Sans"/>
              </a:rPr>
              <a:t>работа начинается внутри окна, приехать раньше можно</a:t>
            </a:r>
          </a:p>
          <a:p>
            <a:pPr algn="l" marL="438912" indent="-438912">
              <a:spcBef>
                <a:spcPts val="1400"/>
              </a:spcBef>
              <a:buClr>
                <a:srgbClr val="141414"/>
              </a:buClr>
              <a:buFont typeface="Beeline Sans"/>
              <a:buChar char="—"/>
            </a:pPr>
            <a:r>
              <a:rPr sz="2500" b="0" i="0">
                <a:solidFill>
                  <a:srgbClr val="141414"/>
                </a:solidFill>
                <a:latin typeface="Beeline Sans"/>
              </a:rPr>
              <a:t>смена по графику 2/2 или 5/2, обед 45 минут между 13 и 16</a:t>
            </a:r>
          </a:p>
          <a:p>
            <a:pPr algn="l" marL="438912" indent="-438912">
              <a:spcBef>
                <a:spcPts val="1400"/>
              </a:spcBef>
              <a:buClr>
                <a:srgbClr val="141414"/>
              </a:buClr>
              <a:buFont typeface="Beeline Sans"/>
              <a:buChar char="—"/>
            </a:pPr>
            <a:r>
              <a:rPr sz="2500" b="0" i="0">
                <a:solidFill>
                  <a:srgbClr val="141414"/>
                </a:solidFill>
                <a:latin typeface="Beeline Sans"/>
              </a:rPr>
              <a:t>время работы зависит от дома (этаж, лифт, год постройки) и темпа бригады</a:t>
            </a:r>
          </a:p>
          <a:p>
            <a:pPr algn="l" marL="438912" indent="-438912">
              <a:spcBef>
                <a:spcPts val="1400"/>
              </a:spcBef>
              <a:buClr>
                <a:srgbClr val="141414"/>
              </a:buClr>
              <a:buFont typeface="Beeline Sans"/>
              <a:buChar char="—"/>
            </a:pPr>
            <a:r>
              <a:rPr sz="2500" b="0" i="0">
                <a:solidFill>
                  <a:srgbClr val="141414"/>
                </a:solidFill>
                <a:latin typeface="Beeline Sans"/>
              </a:rPr>
              <a:t>оборудование берут утром, пешком много не унести</a:t>
            </a:r>
          </a:p>
          <a:p>
            <a:pPr algn="l" marL="438912" indent="-438912">
              <a:spcBef>
                <a:spcPts val="1400"/>
              </a:spcBef>
              <a:buClr>
                <a:srgbClr val="141414"/>
              </a:buClr>
              <a:buFont typeface="Beeline Sans"/>
              <a:buChar char="—"/>
            </a:pPr>
            <a:r>
              <a:rPr sz="2500" b="0" i="0">
                <a:solidFill>
                  <a:srgbClr val="141414"/>
                </a:solidFill>
                <a:latin typeface="Beeline Sans"/>
              </a:rPr>
              <a:t>бригада выезжает утром из дома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6203167" y="3200400"/>
            <a:ext cx="7498079" cy="9144000"/>
          </a:xfrm>
          <a:prstGeom prst="roundRect">
            <a:avLst>
              <a:gd name="adj" fmla="val 5000"/>
            </a:avLst>
          </a:prstGeom>
          <a:solidFill>
            <a:srgbClr val="FFC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16751808" y="3621024"/>
            <a:ext cx="64008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 i="0">
                <a:solidFill>
                  <a:srgbClr val="141414"/>
                </a:solidFill>
                <a:latin typeface="Beeline Sans"/>
              </a:rPr>
              <a:t>Порядок целей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751808" y="4700016"/>
            <a:ext cx="14630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200" b="0" i="0">
                <a:solidFill>
                  <a:srgbClr val="141414"/>
                </a:solidFill>
                <a:latin typeface="Beeline Sans Black"/>
              </a:rPr>
              <a:t>#1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196560" y="4809744"/>
            <a:ext cx="52120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141414"/>
                </a:solidFill>
                <a:latin typeface="Beeline Sans"/>
              </a:rPr>
              <a:t>Выполнить все заявки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196560" y="5504688"/>
            <a:ext cx="521208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300" b="0" i="0">
                <a:solidFill>
                  <a:srgbClr val="141414"/>
                </a:solidFill>
                <a:latin typeface="Beeline Sans"/>
              </a:rPr>
              <a:t>если все не помещаются, первыми назначаем аварии, затем подключения, затем ремонт и дозаказ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751808" y="7132320"/>
            <a:ext cx="14630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200" b="0" i="0">
                <a:solidFill>
                  <a:srgbClr val="141414"/>
                </a:solidFill>
                <a:latin typeface="Beeline Sans Black"/>
              </a:rPr>
              <a:t>#2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196560" y="7242048"/>
            <a:ext cx="52120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141414"/>
                </a:solidFill>
                <a:latin typeface="Beeline Sans"/>
              </a:rPr>
              <a:t>Меньше бригад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196560" y="7936992"/>
            <a:ext cx="521208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300" b="0" i="0">
                <a:solidFill>
                  <a:srgbClr val="141414"/>
                </a:solidFill>
                <a:latin typeface="Beeline Sans"/>
              </a:rPr>
              <a:t>каждая бригада на день — это рабочая смена инженера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751808" y="9564624"/>
            <a:ext cx="14630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200" b="0" i="0">
                <a:solidFill>
                  <a:srgbClr val="141414"/>
                </a:solidFill>
                <a:latin typeface="Beeline Sans Black"/>
              </a:rPr>
              <a:t>#3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196560" y="9674352"/>
            <a:ext cx="52120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141414"/>
                </a:solidFill>
                <a:latin typeface="Beeline Sans"/>
              </a:rPr>
              <a:t>Меньше километров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196560" y="10369296"/>
            <a:ext cx="521208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300" b="0" i="0">
                <a:solidFill>
                  <a:srgbClr val="141414"/>
                </a:solidFill>
                <a:latin typeface="Beeline Sans"/>
              </a:rPr>
              <a:t>при том же числе бригад; к аварии приезжаем как можно раньше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12947904"/>
            <a:ext cx="1463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8C8C8C"/>
                </a:solidFill>
                <a:latin typeface="Beeline Sans"/>
              </a:rPr>
              <a:t>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48640"/>
            <a:ext cx="1645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8C8C8C"/>
                </a:solidFill>
                <a:latin typeface="Beeline Sans"/>
              </a:rPr>
              <a:t>Задача и данные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66A6096C-FC1D-1CE6-4D9A-E42A4FC258C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44260" y="531262"/>
            <a:ext cx="660947" cy="66094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" y="1133856"/>
            <a:ext cx="217627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600" b="1" i="0">
                <a:solidFill>
                  <a:srgbClr val="141414"/>
                </a:solidFill>
                <a:latin typeface="Beeline Sans"/>
              </a:rPr>
              <a:t>Расстояния и время в пути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3291840"/>
            <a:ext cx="5394960" cy="402336"/>
          </a:xfrm>
          <a:prstGeom prst="rect">
            <a:avLst/>
          </a:prstGeom>
          <a:solidFill>
            <a:srgbClr val="FFC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658368" y="4114800"/>
            <a:ext cx="219456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800" b="0" i="0">
                <a:solidFill>
                  <a:srgbClr val="141414"/>
                </a:solidFill>
                <a:latin typeface="Beeline Sans Black"/>
              </a:rPr>
              <a:t>#1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5577840"/>
            <a:ext cx="530352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141414"/>
                </a:solidFill>
                <a:latin typeface="Beeline Sans"/>
              </a:rPr>
              <a:t>Адреса и дома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7040880"/>
            <a:ext cx="5212080" cy="3474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0" i="0">
                <a:solidFill>
                  <a:srgbClr val="5E5E5E"/>
                </a:solidFill>
                <a:latin typeface="Beeline Sans"/>
              </a:rPr>
              <a:t>координаты адреса и данные дома: подъезды, этажность, лифт, год постройки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73952" y="3291840"/>
            <a:ext cx="5394960" cy="402336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473952" y="4114800"/>
            <a:ext cx="219456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800" b="0" i="0">
                <a:solidFill>
                  <a:srgbClr val="141414"/>
                </a:solidFill>
                <a:latin typeface="Beeline Sans Black"/>
              </a:rPr>
              <a:t>#2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73952" y="5577840"/>
            <a:ext cx="530352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141414"/>
                </a:solidFill>
                <a:latin typeface="Beeline Sans"/>
              </a:rPr>
              <a:t>Дороги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73952" y="7040880"/>
            <a:ext cx="5212080" cy="3474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0" i="0">
                <a:solidFill>
                  <a:srgbClr val="5E5E5E"/>
                </a:solidFill>
                <a:latin typeface="Beeline Sans"/>
              </a:rPr>
              <a:t>свой сервер OSRM на карте Москвы и области: машина, пешком, велосипед. К каждой поездке +5 минут на машине на парковку и поиск подъезда, 3 минуты для остальных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254496" y="4114800"/>
            <a:ext cx="0" cy="6126480"/>
          </a:xfrm>
          <a:prstGeom prst="line">
            <a:avLst/>
          </a:prstGeom>
          <a:ln w="19050">
            <a:solidFill>
              <a:srgbClr val="A1A1A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12289536" y="3291840"/>
            <a:ext cx="5394960" cy="402336"/>
          </a:xfrm>
          <a:prstGeom prst="rect">
            <a:avLst/>
          </a:prstGeom>
          <a:solidFill>
            <a:srgbClr val="FFC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12289536" y="4114800"/>
            <a:ext cx="219456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800" b="0" i="0">
                <a:solidFill>
                  <a:srgbClr val="141414"/>
                </a:solidFill>
                <a:latin typeface="Beeline Sans Black"/>
              </a:rPr>
              <a:t>#3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289536" y="5577840"/>
            <a:ext cx="530352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141414"/>
                </a:solidFill>
                <a:latin typeface="Beeline Sans"/>
              </a:rPr>
              <a:t>Пробки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289536" y="7040880"/>
            <a:ext cx="5212080" cy="3474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0" i="0">
                <a:solidFill>
                  <a:srgbClr val="5E5E5E"/>
                </a:solidFill>
                <a:latin typeface="Beeline Sans"/>
              </a:rPr>
              <a:t>время на машине меняется по часу дня и дню недели (профиль TomTom) и по месту: сетка HERE с ячейкой около 330 м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12070080" y="4114800"/>
            <a:ext cx="0" cy="6126480"/>
          </a:xfrm>
          <a:prstGeom prst="line">
            <a:avLst/>
          </a:prstGeom>
          <a:ln w="19050">
            <a:solidFill>
              <a:srgbClr val="A1A1A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18105120" y="3291840"/>
            <a:ext cx="5394960" cy="402336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18105120" y="4114800"/>
            <a:ext cx="219456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800" b="0" i="0">
                <a:solidFill>
                  <a:srgbClr val="141414"/>
                </a:solidFill>
                <a:latin typeface="Beeline Sans Black"/>
              </a:rPr>
              <a:t>#4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105120" y="5577840"/>
            <a:ext cx="530352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141414"/>
                </a:solidFill>
                <a:latin typeface="Beeline Sans"/>
              </a:rPr>
              <a:t>Общественный транспорт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105120" y="7040880"/>
            <a:ext cx="5212080" cy="3474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0" i="0">
                <a:solidFill>
                  <a:srgbClr val="5E5E5E"/>
                </a:solidFill>
                <a:latin typeface="Beeline Sans"/>
              </a:rPr>
              <a:t>маршруты по расписаниям: метро, МЦК, МЦД, электрички, автобусы и трамваи, пешком до остановки по дорогам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17885664" y="4114800"/>
            <a:ext cx="0" cy="6126480"/>
          </a:xfrm>
          <a:prstGeom prst="line">
            <a:avLst/>
          </a:prstGeom>
          <a:ln w="19050">
            <a:solidFill>
              <a:srgbClr val="A1A1A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658368" y="10881360"/>
            <a:ext cx="23042880" cy="1463040"/>
          </a:xfrm>
          <a:prstGeom prst="roundRect">
            <a:avLst>
              <a:gd name="adj" fmla="val 5000"/>
            </a:avLst>
          </a:prstGeom>
          <a:solidFill>
            <a:srgbClr val="FFF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1115568" y="11100816"/>
            <a:ext cx="22128480" cy="10241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500" b="0" i="0">
                <a:solidFill>
                  <a:srgbClr val="141414"/>
                </a:solidFill>
                <a:latin typeface="Beeline Sans"/>
              </a:rPr>
              <a:t>Для каждого вида транспорта строим матрицы времени и расстояния между всеми точками участка. Их получает оптимизатор.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" y="12947904"/>
            <a:ext cx="1463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8C8C8C"/>
                </a:solidFill>
                <a:latin typeface="Beeline Sans"/>
              </a:rPr>
              <a:t>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48640"/>
            <a:ext cx="1645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8C8C8C"/>
                </a:solidFill>
                <a:latin typeface="Beeline Sans"/>
              </a:rPr>
              <a:t>Задача и данные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66A6096C-FC1D-1CE6-4D9A-E42A4FC258C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44260" y="531262"/>
            <a:ext cx="660947" cy="66094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" y="1133856"/>
            <a:ext cx="217627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600" b="1" i="0">
                <a:solidFill>
                  <a:srgbClr val="141414"/>
                </a:solidFill>
                <a:latin typeface="Beeline Sans"/>
              </a:rPr>
              <a:t>Архитектура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3200400"/>
            <a:ext cx="4279392" cy="5486400"/>
          </a:xfrm>
          <a:prstGeom prst="roundRect">
            <a:avLst>
              <a:gd name="adj" fmla="val 5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060704" y="3566160"/>
            <a:ext cx="3547872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141414"/>
                </a:solidFill>
                <a:latin typeface="Beeline Sans"/>
              </a:rPr>
              <a:t>Данные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" y="4572000"/>
            <a:ext cx="3547872" cy="3840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438912" indent="-438912">
              <a:buClr>
                <a:srgbClr val="141414"/>
              </a:buClr>
              <a:buFont typeface="Beeline Sans"/>
              <a:buChar char="—"/>
            </a:pPr>
            <a:r>
              <a:rPr sz="2300" b="0" i="0">
                <a:solidFill>
                  <a:srgbClr val="141414"/>
                </a:solidFill>
                <a:latin typeface="Beeline Sans"/>
              </a:rPr>
              <a:t>заявки и бригады участка (xlsx или CSV)</a:t>
            </a:r>
          </a:p>
          <a:p>
            <a:pPr algn="l" marL="438912" indent="-438912">
              <a:spcBef>
                <a:spcPts val="1000"/>
              </a:spcBef>
              <a:buClr>
                <a:srgbClr val="141414"/>
              </a:buClr>
              <a:buFont typeface="Beeline Sans"/>
              <a:buChar char="—"/>
            </a:pPr>
            <a:r>
              <a:rPr sz="2300" b="0" i="0">
                <a:solidFill>
                  <a:srgbClr val="141414"/>
                </a:solidFill>
                <a:latin typeface="Beeline Sans"/>
              </a:rPr>
              <a:t>отзывы клиентов и фактические выезды</a:t>
            </a:r>
          </a:p>
          <a:p>
            <a:pPr algn="l" marL="438912" indent="-438912">
              <a:spcBef>
                <a:spcPts val="1000"/>
              </a:spcBef>
              <a:buClr>
                <a:srgbClr val="141414"/>
              </a:buClr>
              <a:buFont typeface="Beeline Sans"/>
              <a:buChar char="—"/>
            </a:pPr>
            <a:r>
              <a:rPr sz="2300" b="0" i="0">
                <a:solidFill>
                  <a:srgbClr val="141414"/>
                </a:solidFill>
                <a:latin typeface="Beeline Sans"/>
              </a:rPr>
              <a:t>нормативы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974336" y="5943600"/>
            <a:ext cx="347471" cy="0"/>
          </a:xfrm>
          <a:prstGeom prst="line">
            <a:avLst/>
          </a:prstGeom>
          <a:ln w="50800">
            <a:solidFill>
              <a:srgbClr val="14141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358383" y="3200400"/>
            <a:ext cx="4279392" cy="5486400"/>
          </a:xfrm>
          <a:prstGeom prst="roundRect">
            <a:avLst>
              <a:gd name="adj" fmla="val 5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5760720" y="3566160"/>
            <a:ext cx="3547872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141414"/>
                </a:solidFill>
                <a:latin typeface="Beeline Sans"/>
              </a:rPr>
              <a:t>Подготовка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60720" y="4572000"/>
            <a:ext cx="3547872" cy="3840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438912" indent="-438912">
              <a:buClr>
                <a:srgbClr val="141414"/>
              </a:buClr>
              <a:buFont typeface="Beeline Sans"/>
              <a:buChar char="—"/>
            </a:pPr>
            <a:r>
              <a:rPr sz="2300" b="0" i="0">
                <a:solidFill>
                  <a:srgbClr val="141414"/>
                </a:solidFill>
                <a:latin typeface="Beeline Sans"/>
              </a:rPr>
              <a:t>координаты адресов и данные домов</a:t>
            </a:r>
          </a:p>
          <a:p>
            <a:pPr algn="l" marL="438912" indent="-438912">
              <a:spcBef>
                <a:spcPts val="1000"/>
              </a:spcBef>
              <a:buClr>
                <a:srgbClr val="141414"/>
              </a:buClr>
              <a:buFont typeface="Beeline Sans"/>
              <a:buChar char="—"/>
            </a:pPr>
            <a:r>
              <a:rPr sz="2300" b="0" i="0">
                <a:solidFill>
                  <a:srgbClr val="141414"/>
                </a:solidFill>
                <a:latin typeface="Beeline Sans"/>
              </a:rPr>
              <a:t>матрицы времени: дороги, пробки, расписания</a:t>
            </a:r>
          </a:p>
          <a:p>
            <a:pPr algn="l" marL="438912" indent="-438912">
              <a:spcBef>
                <a:spcPts val="1000"/>
              </a:spcBef>
              <a:buClr>
                <a:srgbClr val="141414"/>
              </a:buClr>
              <a:buFont typeface="Beeline Sans"/>
              <a:buChar char="—"/>
            </a:pPr>
            <a:r>
              <a:rPr sz="2300" b="0" i="0">
                <a:solidFill>
                  <a:srgbClr val="141414"/>
                </a:solidFill>
                <a:latin typeface="Beeline Sans"/>
              </a:rPr>
              <a:t>длительность каждой работы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674351" y="5943600"/>
            <a:ext cx="347473" cy="0"/>
          </a:xfrm>
          <a:prstGeom prst="line">
            <a:avLst/>
          </a:prstGeom>
          <a:ln w="50800">
            <a:solidFill>
              <a:srgbClr val="14141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10058400" y="3200400"/>
            <a:ext cx="4279392" cy="5486400"/>
          </a:xfrm>
          <a:prstGeom prst="roundRect">
            <a:avLst>
              <a:gd name="adj" fmla="val 5000"/>
            </a:avLst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10460736" y="3566160"/>
            <a:ext cx="3547872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FFC800"/>
                </a:solidFill>
                <a:latin typeface="Beeline Sans"/>
              </a:rPr>
              <a:t>Оптимизатор C++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60736" y="4572000"/>
            <a:ext cx="3547872" cy="3840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438912" indent="-438912">
              <a:buClr>
                <a:srgbClr val="FFC800"/>
              </a:buClr>
              <a:buFont typeface="Beeline Sans"/>
              <a:buChar char="—"/>
            </a:pPr>
            <a:r>
              <a:rPr sz="2300" b="0" i="0">
                <a:solidFill>
                  <a:srgbClr val="FFFFFF"/>
                </a:solidFill>
                <a:latin typeface="Beeline Sans"/>
              </a:rPr>
              <a:t>параллельные потоки, 3 секунды на обычный участок</a:t>
            </a:r>
          </a:p>
          <a:p>
            <a:pPr algn="l" marL="438912" indent="-438912">
              <a:spcBef>
                <a:spcPts val="1000"/>
              </a:spcBef>
              <a:buClr>
                <a:srgbClr val="FFC800"/>
              </a:buClr>
              <a:buFont typeface="Beeline Sans"/>
              <a:buChar char="—"/>
            </a:pPr>
            <a:r>
              <a:rPr sz="2300" b="0" i="0">
                <a:solidFill>
                  <a:srgbClr val="FFFFFF"/>
                </a:solidFill>
                <a:latin typeface="Beeline Sans"/>
              </a:rPr>
              <a:t>выполняет все заявки минимальным числом бригад с минимальным пробегом</a:t>
            </a:r>
          </a:p>
          <a:p>
            <a:pPr algn="l" marL="438912" indent="-438912">
              <a:spcBef>
                <a:spcPts val="1000"/>
              </a:spcBef>
              <a:buClr>
                <a:srgbClr val="FFC800"/>
              </a:buClr>
              <a:buFont typeface="Beeline Sans"/>
              <a:buChar char="—"/>
            </a:pPr>
            <a:r>
              <a:rPr sz="2300" b="0" i="0">
                <a:solidFill>
                  <a:srgbClr val="FFFFFF"/>
                </a:solidFill>
                <a:latin typeface="Beeline Sans"/>
              </a:rPr>
              <a:t>нижняя граница — отдельно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14374367" y="5943600"/>
            <a:ext cx="347473" cy="0"/>
          </a:xfrm>
          <a:prstGeom prst="line">
            <a:avLst/>
          </a:prstGeom>
          <a:ln w="50800">
            <a:solidFill>
              <a:srgbClr val="14141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14758415" y="3200400"/>
            <a:ext cx="4279392" cy="5486400"/>
          </a:xfrm>
          <a:prstGeom prst="roundRect">
            <a:avLst>
              <a:gd name="adj" fmla="val 5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15160751" y="3566160"/>
            <a:ext cx="3547872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141414"/>
                </a:solidFill>
                <a:latin typeface="Beeline Sans"/>
              </a:rPr>
              <a:t>Валидация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160751" y="4572000"/>
            <a:ext cx="3547872" cy="3840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438912" indent="-438912">
              <a:buClr>
                <a:srgbClr val="141414"/>
              </a:buClr>
              <a:buFont typeface="Beeline Sans"/>
              <a:buChar char="—"/>
            </a:pPr>
            <a:r>
              <a:rPr sz="2300" b="0" i="0">
                <a:solidFill>
                  <a:srgbClr val="141414"/>
                </a:solidFill>
                <a:latin typeface="Beeline Sans"/>
              </a:rPr>
              <a:t>независимая проверка check_plan</a:t>
            </a:r>
          </a:p>
          <a:p>
            <a:pPr algn="l" marL="438912" indent="-438912">
              <a:spcBef>
                <a:spcPts val="1000"/>
              </a:spcBef>
              <a:buClr>
                <a:srgbClr val="141414"/>
              </a:buClr>
              <a:buFont typeface="Beeline Sans"/>
              <a:buChar char="—"/>
            </a:pPr>
            <a:r>
              <a:rPr sz="2300" b="0" i="0">
                <a:solidFill>
                  <a:srgbClr val="141414"/>
                </a:solidFill>
                <a:latin typeface="Beeline Sans"/>
              </a:rPr>
              <a:t>все ограничения: окна, смены, обед, оборудование</a:t>
            </a:r>
          </a:p>
          <a:p>
            <a:pPr algn="l" marL="438912" indent="-438912">
              <a:spcBef>
                <a:spcPts val="1000"/>
              </a:spcBef>
              <a:buClr>
                <a:srgbClr val="141414"/>
              </a:buClr>
              <a:buFont typeface="Beeline Sans"/>
              <a:buChar char="—"/>
            </a:pPr>
            <a:r>
              <a:rPr sz="2300" b="0" i="0">
                <a:solidFill>
                  <a:srgbClr val="141414"/>
                </a:solidFill>
                <a:latin typeface="Beeline Sans"/>
              </a:rPr>
              <a:t>время и км считает заново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19074383" y="5943600"/>
            <a:ext cx="347473" cy="0"/>
          </a:xfrm>
          <a:prstGeom prst="line">
            <a:avLst/>
          </a:prstGeom>
          <a:ln w="50800">
            <a:solidFill>
              <a:srgbClr val="14141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19458431" y="3200400"/>
            <a:ext cx="4279392" cy="5486400"/>
          </a:xfrm>
          <a:prstGeom prst="roundRect">
            <a:avLst>
              <a:gd name="adj" fmla="val 5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19860768" y="3566160"/>
            <a:ext cx="3547872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141414"/>
                </a:solidFill>
                <a:latin typeface="Beeline Sans"/>
              </a:rPr>
              <a:t>Интерфейс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9860768" y="4572000"/>
            <a:ext cx="3547872" cy="3840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438912" indent="-438912">
              <a:buClr>
                <a:srgbClr val="141414"/>
              </a:buClr>
              <a:buFont typeface="Beeline Sans"/>
              <a:buChar char="—"/>
            </a:pPr>
            <a:r>
              <a:rPr sz="2300" b="0" i="0">
                <a:solidFill>
                  <a:srgbClr val="141414"/>
                </a:solidFill>
                <a:latin typeface="Beeline Sans"/>
              </a:rPr>
              <a:t>экран диспетчера: карта, шкала, причины назначений</a:t>
            </a:r>
          </a:p>
          <a:p>
            <a:pPr algn="l" marL="438912" indent="-438912">
              <a:spcBef>
                <a:spcPts val="1000"/>
              </a:spcBef>
              <a:buClr>
                <a:srgbClr val="141414"/>
              </a:buClr>
              <a:buFont typeface="Beeline Sans"/>
              <a:buChar char="—"/>
            </a:pPr>
            <a:r>
              <a:rPr sz="2300" b="0" i="0">
                <a:solidFill>
                  <a:srgbClr val="141414"/>
                </a:solidFill>
                <a:latin typeface="Beeline Sans"/>
              </a:rPr>
              <a:t>экран инженера на телефоне</a:t>
            </a:r>
          </a:p>
          <a:p>
            <a:pPr algn="l" marL="438912" indent="-438912">
              <a:spcBef>
                <a:spcPts val="1000"/>
              </a:spcBef>
              <a:buClr>
                <a:srgbClr val="141414"/>
              </a:buClr>
              <a:buFont typeface="Beeline Sans"/>
              <a:buChar char="—"/>
            </a:pPr>
            <a:r>
              <a:rPr sz="2300" b="0" i="0">
                <a:solidFill>
                  <a:srgbClr val="141414"/>
                </a:solidFill>
                <a:latin typeface="Beeline Sans"/>
              </a:rPr>
              <a:t>сервер пересчёта событий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58368" y="9326880"/>
            <a:ext cx="23042880" cy="3017520"/>
          </a:xfrm>
          <a:prstGeom prst="roundRect">
            <a:avLst>
              <a:gd name="adj" fmla="val 5000"/>
            </a:avLst>
          </a:prstGeom>
          <a:solidFill>
            <a:srgbClr val="FFC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1207008" y="9326880"/>
            <a:ext cx="6035040" cy="3017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000" b="1" i="0">
                <a:solidFill>
                  <a:srgbClr val="141414"/>
                </a:solidFill>
                <a:latin typeface="Beeline Sans"/>
              </a:rPr>
              <a:t>События в течение дня</a:t>
            </a:r>
          </a:p>
          <a:p>
            <a:pPr algn="l">
              <a:spcBef>
                <a:spcPts val="1200"/>
              </a:spcBef>
            </a:pPr>
            <a:r>
              <a:rPr sz="2400" b="0" i="0">
                <a:solidFill>
                  <a:srgbClr val="141414"/>
                </a:solidFill>
                <a:latin typeface="Beeline Sans"/>
              </a:rPr>
              <a:t>авария, новая заявка, отмена, задержка, перенос окна, поломка, инженер выбыл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7406640" y="10826496"/>
            <a:ext cx="1280160" cy="0"/>
          </a:xfrm>
          <a:prstGeom prst="line">
            <a:avLst/>
          </a:prstGeom>
          <a:ln w="55880">
            <a:solidFill>
              <a:srgbClr val="14141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9144000" y="9326880"/>
            <a:ext cx="14081760" cy="3017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500" b="0" i="0">
                <a:solidFill>
                  <a:srgbClr val="141414"/>
                </a:solidFill>
                <a:latin typeface="Beeline Sans"/>
              </a:rPr>
              <a:t>При событии оптимизатор запускается заново от текущего состояния. Выполненные и начатые заявки закреплены, остальное пересчитывается по правилам перепланирования. Изменения видны на карте и в таблице.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8368" y="12947904"/>
            <a:ext cx="1463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8C8C8C"/>
                </a:solidFill>
                <a:latin typeface="Beeline Sans"/>
              </a:rPr>
              <a:t>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414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7F5C13C3-1F94-10AF-8FD7-D4DCE99B2C16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V="1">
            <a:off x="0" y="-2401"/>
            <a:ext cx="24379736" cy="13718401"/>
          </a:xfrm>
          <a:prstGeom prst="rect">
            <a:avLst/>
          </a:prstGeom>
        </p:spPr>
      </p:pic>
      <p:sp>
        <p:nvSpPr>
          <p:cNvPr id="205" name="01">
            <a:extLst>
              <a:ext uri="{FF2B5EF4-FFF2-40B4-BE49-F238E27FC236}">
                <a16:creationId xmlns:a16="http://schemas.microsoft.com/office/drawing/2014/main" id="{2D0F6E16-E2E7-C956-A9B6-63D7BCB0538D}"/>
              </a:ext>
            </a:extLst>
          </p:cNvPr>
          <p:cNvSpPr txBox="1"/>
          <p:nvPr/>
        </p:nvSpPr>
        <p:spPr>
          <a:xfrm>
            <a:off x="616227" y="-889000"/>
            <a:ext cx="14698858" cy="982833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>
            <a:spAutoFit/>
          </a:bodyPr>
          <a:lstStyle>
            <a:lvl1pPr algn="l">
              <a:defRPr sz="63200" b="1">
                <a:solidFill>
                  <a:srgbClr val="FFFFFF"/>
                </a:solidFill>
                <a:latin typeface="Beeline Sans"/>
                <a:ea typeface="Beeline Sans"/>
                <a:cs typeface="Beeline Sans"/>
                <a:sym typeface="Beeline Sans"/>
              </a:defRPr>
            </a:lvl1pPr>
          </a:lstStyle>
          <a:p>
            <a:r>
              <a:rPr dirty="0"/>
              <a:t>02</a:t>
            </a:r>
            <a:endParaRPr dirty="0"/>
          </a:p>
        </p:txBody>
      </p:sp>
      <p:sp>
        <p:nvSpPr>
          <p:cNvPr id="206" name="медиа-давление и бюджет">
            <a:extLst>
              <a:ext uri="{FF2B5EF4-FFF2-40B4-BE49-F238E27FC236}">
                <a16:creationId xmlns:a16="http://schemas.microsoft.com/office/drawing/2014/main" id="{D17FC182-CFD1-F8DC-459F-9C689C3755FB}"/>
              </a:ext>
            </a:extLst>
          </p:cNvPr>
          <p:cNvSpPr txBox="1"/>
          <p:nvPr/>
        </p:nvSpPr>
        <p:spPr>
          <a:xfrm>
            <a:off x="13405764" y="5525710"/>
            <a:ext cx="10978236" cy="342657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wrap="none">
            <a:spAutoFit/>
          </a:bodyPr>
          <a:lstStyle>
            <a:lvl1pPr algn="l">
              <a:lnSpc>
                <a:spcPct val="90000"/>
              </a:lnSpc>
              <a:defRPr sz="12000" b="1">
                <a:solidFill>
                  <a:srgbClr val="FFFFFF"/>
                </a:solidFill>
                <a:latin typeface="Beeline Sans"/>
                <a:ea typeface="Beeline Sans"/>
                <a:cs typeface="Beeline Sans"/>
                <a:sym typeface="Beeline Sans"/>
              </a:defRPr>
            </a:lvl1pPr>
          </a:lstStyle>
          <a:p>
            <a:r>
              <a:rPr lang="ru-RU" dirty="0"/>
              <a:t>алгоритм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48640"/>
            <a:ext cx="1645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8C8C8C"/>
                </a:solidFill>
                <a:latin typeface="Beeline Sans"/>
              </a:rPr>
              <a:t>Алгоритм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66A6096C-FC1D-1CE6-4D9A-E42A4FC258C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44260" y="531262"/>
            <a:ext cx="660947" cy="66094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" y="1133856"/>
            <a:ext cx="217627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600" b="1" i="0">
                <a:solidFill>
                  <a:srgbClr val="141414"/>
                </a:solidFill>
                <a:latin typeface="Beeline Sans"/>
              </a:rPr>
              <a:t>Алгоритм по шагам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3200400"/>
            <a:ext cx="4389120" cy="6492240"/>
          </a:xfrm>
          <a:prstGeom prst="roundRect">
            <a:avLst>
              <a:gd name="adj" fmla="val 5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097280" y="3566160"/>
            <a:ext cx="256032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0" b="0" i="0">
                <a:solidFill>
                  <a:srgbClr val="141414"/>
                </a:solidFill>
                <a:latin typeface="Beeline Sans Black"/>
              </a:rPr>
              <a:t>01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097280" y="5394960"/>
            <a:ext cx="3511296" cy="0"/>
          </a:xfrm>
          <a:prstGeom prst="line">
            <a:avLst/>
          </a:prstGeom>
          <a:ln w="19050">
            <a:solidFill>
              <a:srgbClr val="141414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1097280" y="5669280"/>
            <a:ext cx="3657600" cy="109728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/>
            <a:r>
              <a:rPr sz="3000" b="1" i="0">
                <a:solidFill>
                  <a:srgbClr val="141414"/>
                </a:solidFill>
                <a:latin typeface="Beeline Sans"/>
              </a:rPr>
              <a:t>Начальный план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6949440"/>
            <a:ext cx="3621024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300" b="0" i="0">
                <a:solidFill>
                  <a:srgbClr val="141414"/>
                </a:solidFill>
                <a:latin typeface="Beeline Sans"/>
              </a:rPr>
              <a:t>сначала ставим заявки с наибольшей упущенной выгодой: второй вариант вставки у них намного хуже лучшего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321807" y="3200400"/>
            <a:ext cx="4389120" cy="6492240"/>
          </a:xfrm>
          <a:prstGeom prst="roundRect">
            <a:avLst>
              <a:gd name="adj" fmla="val 5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5760719" y="3566160"/>
            <a:ext cx="256032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0" b="0" i="0">
                <a:solidFill>
                  <a:srgbClr val="141414"/>
                </a:solidFill>
                <a:latin typeface="Beeline Sans Black"/>
              </a:rPr>
              <a:t>02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760719" y="5394960"/>
            <a:ext cx="3511297" cy="0"/>
          </a:xfrm>
          <a:prstGeom prst="line">
            <a:avLst/>
          </a:prstGeom>
          <a:ln w="19050">
            <a:solidFill>
              <a:srgbClr val="141414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5760719" y="5669280"/>
            <a:ext cx="3657600" cy="109728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/>
            <a:r>
              <a:rPr sz="3000" b="1" i="0">
                <a:solidFill>
                  <a:srgbClr val="141414"/>
                </a:solidFill>
                <a:latin typeface="Beeline Sans"/>
              </a:rPr>
              <a:t>Меньше бригад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60719" y="6949440"/>
            <a:ext cx="3621024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300" b="0" i="0">
                <a:solidFill>
                  <a:srgbClr val="141414"/>
                </a:solidFill>
                <a:latin typeface="Beeline Sans"/>
              </a:rPr>
              <a:t>имитация отжига и ALNS: убираем маршрут и распределяем его заявки по остальным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985248" y="3200400"/>
            <a:ext cx="4389120" cy="6492240"/>
          </a:xfrm>
          <a:prstGeom prst="roundRect">
            <a:avLst>
              <a:gd name="adj" fmla="val 5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10424160" y="3566160"/>
            <a:ext cx="256032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0" b="0" i="0">
                <a:solidFill>
                  <a:srgbClr val="141414"/>
                </a:solidFill>
                <a:latin typeface="Beeline Sans Black"/>
              </a:rPr>
              <a:t>03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10424160" y="5394960"/>
            <a:ext cx="3511296" cy="0"/>
          </a:xfrm>
          <a:prstGeom prst="line">
            <a:avLst/>
          </a:prstGeom>
          <a:ln w="19050">
            <a:solidFill>
              <a:srgbClr val="141414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10424160" y="5669280"/>
            <a:ext cx="3657600" cy="109728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/>
            <a:r>
              <a:rPr sz="3000" b="1" i="0">
                <a:solidFill>
                  <a:srgbClr val="141414"/>
                </a:solidFill>
                <a:latin typeface="Beeline Sans"/>
              </a:rPr>
              <a:t>Меньше пробега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24160" y="6949440"/>
            <a:ext cx="3621024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300" b="0" i="0">
                <a:solidFill>
                  <a:srgbClr val="141414"/>
                </a:solidFill>
                <a:latin typeface="Beeline Sans"/>
              </a:rPr>
              <a:t>SISR: вырезаем цепочки заявок и вставляем туда, где дешевле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4648688" y="3200400"/>
            <a:ext cx="4389120" cy="6492240"/>
          </a:xfrm>
          <a:prstGeom prst="roundRect">
            <a:avLst>
              <a:gd name="adj" fmla="val 5000"/>
            </a:avLst>
          </a:prstGeom>
          <a:solidFill>
            <a:srgbClr val="FFC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15087600" y="3566160"/>
            <a:ext cx="256032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0" b="0" i="0">
                <a:solidFill>
                  <a:srgbClr val="141414"/>
                </a:solidFill>
                <a:latin typeface="Beeline Sans Black"/>
              </a:rPr>
              <a:t>04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15087600" y="5394960"/>
            <a:ext cx="3511296" cy="0"/>
          </a:xfrm>
          <a:prstGeom prst="line">
            <a:avLst/>
          </a:prstGeom>
          <a:ln w="19050">
            <a:solidFill>
              <a:srgbClr val="141414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15087600" y="5669280"/>
            <a:ext cx="3657600" cy="109728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/>
            <a:r>
              <a:rPr sz="3000" b="1" i="0">
                <a:solidFill>
                  <a:srgbClr val="141414"/>
                </a:solidFill>
                <a:latin typeface="Beeline Sans"/>
              </a:rPr>
              <a:t>Нижняя граница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087600" y="6949440"/>
            <a:ext cx="3621024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300" b="0" i="0">
                <a:solidFill>
                  <a:srgbClr val="141414"/>
                </a:solidFill>
                <a:latin typeface="Beeline Sans"/>
              </a:rPr>
              <a:t>генерация столбцов показывает, меньше какого числа бригад и км сделать нельзя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9312127" y="3200400"/>
            <a:ext cx="4389120" cy="6492240"/>
          </a:xfrm>
          <a:prstGeom prst="roundRect">
            <a:avLst>
              <a:gd name="adj" fmla="val 5000"/>
            </a:avLst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19751039" y="3566160"/>
            <a:ext cx="256032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0" b="0" i="0">
                <a:solidFill>
                  <a:srgbClr val="FFC800"/>
                </a:solidFill>
                <a:latin typeface="Beeline Sans Black"/>
              </a:rPr>
              <a:t>05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19751039" y="5394960"/>
            <a:ext cx="3511296" cy="0"/>
          </a:xfrm>
          <a:prstGeom prst="line">
            <a:avLst/>
          </a:prstGeom>
          <a:ln w="19050">
            <a:solidFill>
              <a:srgbClr val="FFC80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19751039" y="5669280"/>
            <a:ext cx="3657600" cy="109728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Beeline Sans"/>
              </a:rPr>
              <a:t>Проверка плана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9751039" y="6949440"/>
            <a:ext cx="3621024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300" b="0" i="0">
                <a:solidFill>
                  <a:srgbClr val="FFFFFF"/>
                </a:solidFill>
                <a:latin typeface="Beeline Sans"/>
              </a:rPr>
              <a:t>отдельный модуль check_plan заново считает время и км и проверяет все ограничения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58368" y="10241280"/>
            <a:ext cx="23042880" cy="2103120"/>
          </a:xfrm>
          <a:prstGeom prst="roundRect">
            <a:avLst>
              <a:gd name="adj" fmla="val 5000"/>
            </a:avLst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1115568" y="10460736"/>
            <a:ext cx="22128480" cy="16642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600" b="1" i="0">
                <a:solidFill>
                  <a:srgbClr val="FFC800"/>
                </a:solidFill>
                <a:latin typeface="Beeline Sans"/>
              </a:rPr>
              <a:t>Шаги 1–3 </a:t>
            </a:r>
            <a:r>
              <a:rPr sz="2600" b="0" i="0">
                <a:solidFill>
                  <a:srgbClr val="FFFFFF"/>
                </a:solidFill>
                <a:latin typeface="Beeline Sans"/>
              </a:rPr>
              <a:t>выполняют параллельные потоки, они обмениваются лучшим решением; на обычный участок уходит 3 секунды. Шаг 4 для работы не нужен: его считаем отдельно, чтобы знать, насколько план близок к лучшему возможному. Шаг 5 проходит каждый план, в том числе после событий дня.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8368" y="12947904"/>
            <a:ext cx="1463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8C8C8C"/>
                </a:solidFill>
                <a:latin typeface="Beeline Sans"/>
              </a:rPr>
              <a:t>11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48640"/>
            <a:ext cx="1645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8C8C8C"/>
                </a:solidFill>
                <a:latin typeface="Beeline Sans"/>
              </a:rPr>
              <a:t>Алгоритм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66A6096C-FC1D-1CE6-4D9A-E42A4FC258C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44260" y="531262"/>
            <a:ext cx="660947" cy="66094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" y="1133856"/>
            <a:ext cx="217627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600" b="1" i="0">
                <a:solidFill>
                  <a:srgbClr val="141414"/>
                </a:solidFill>
                <a:latin typeface="Beeline Sans"/>
              </a:rPr>
              <a:t>Шаг 1. Начальный план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3200400"/>
            <a:ext cx="11704320" cy="9144000"/>
          </a:xfrm>
          <a:prstGeom prst="roundRect">
            <a:avLst>
              <a:gd name="adj" fmla="val 5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algo_regre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73394" y="3474720"/>
            <a:ext cx="10474266" cy="85953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2984480" y="3291840"/>
            <a:ext cx="10698480" cy="6035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0" i="0">
                <a:solidFill>
                  <a:srgbClr val="141414"/>
                </a:solidFill>
                <a:latin typeface="Beeline Sans"/>
              </a:rPr>
              <a:t>Для каждой заявки ищем лучшее место в каждом маршруте и считаем, сколько километров добавит вставка. Если бригада не успевает в окно, вариант не подходит.</a:t>
            </a:r>
          </a:p>
          <a:p>
            <a:pPr algn="l">
              <a:spcBef>
                <a:spcPts val="2800"/>
              </a:spcBef>
            </a:pPr>
            <a:r>
              <a:rPr sz="2800" b="1" i="0">
                <a:solidFill>
                  <a:srgbClr val="141414"/>
                </a:solidFill>
                <a:latin typeface="Beeline Sans"/>
              </a:rPr>
              <a:t>Упущенная выгода</a:t>
            </a:r>
            <a:r>
              <a:rPr sz="2800" b="0" i="0">
                <a:solidFill>
                  <a:srgbClr val="141414"/>
                </a:solidFill>
                <a:latin typeface="Beeline Sans"/>
              </a:rPr>
              <a:t> — насколько второй по стоимости вариант хуже лучшего. Если она большая, удобное место у заявки одно, и другая заявка легко его займёт.</a:t>
            </a:r>
          </a:p>
          <a:p>
            <a:pPr algn="l">
              <a:spcBef>
                <a:spcPts val="2800"/>
              </a:spcBef>
            </a:pPr>
            <a:r>
              <a:rPr sz="2800" b="0" i="0">
                <a:solidFill>
                  <a:srgbClr val="141414"/>
                </a:solidFill>
                <a:latin typeface="Beeline Sans"/>
              </a:rPr>
              <a:t>Первой ставим заявку с наибольшей упущенной выгодой, пересчитываем и повторяем. Аварии и заявки с редким навыком обычно попадают в начало.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2984480" y="9692640"/>
            <a:ext cx="10698480" cy="2651760"/>
          </a:xfrm>
          <a:prstGeom prst="roundRect">
            <a:avLst>
              <a:gd name="adj" fmla="val 5000"/>
            </a:avLst>
          </a:prstGeom>
          <a:solidFill>
            <a:srgbClr val="FFF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3441680" y="9912096"/>
            <a:ext cx="9784080" cy="22128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400" b="0" i="0">
                <a:solidFill>
                  <a:srgbClr val="141414"/>
                </a:solidFill>
                <a:latin typeface="Beeline Sans"/>
              </a:rPr>
              <a:t>Базовый вариант из ТЗ идёт по заявкам в порядке файла и отдаёт каждую первому подходящему инженеру. На Востоке он использует 12 бригад и не выполняет 28 заявок из 66.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12947904"/>
            <a:ext cx="1463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8C8C8C"/>
                </a:solidFill>
                <a:latin typeface="Beeline Sans"/>
              </a:rPr>
              <a:t>12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48640"/>
            <a:ext cx="1645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8C8C8C"/>
                </a:solidFill>
                <a:latin typeface="Beeline Sans"/>
              </a:rPr>
              <a:t>Алгоритм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66A6096C-FC1D-1CE6-4D9A-E42A4FC258C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44260" y="531262"/>
            <a:ext cx="660947" cy="66094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" y="1133856"/>
            <a:ext cx="217627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600" b="1" i="0">
                <a:solidFill>
                  <a:srgbClr val="141414"/>
                </a:solidFill>
                <a:latin typeface="Beeline Sans"/>
              </a:rPr>
              <a:t>Шаги 2–3. Меньше бригад, меньше пробега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3200400"/>
            <a:ext cx="7315200" cy="5486400"/>
          </a:xfrm>
          <a:prstGeom prst="roundRect">
            <a:avLst>
              <a:gd name="adj" fmla="val 5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algo_fleet_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" y="4296335"/>
            <a:ext cx="3200399" cy="3294529"/>
          </a:xfrm>
          <a:prstGeom prst="rect">
            <a:avLst/>
          </a:prstGeom>
        </p:spPr>
      </p:pic>
      <p:pic>
        <p:nvPicPr>
          <p:cNvPr id="9" name="Picture 8" descr="algo_fleet_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90288" y="4296335"/>
            <a:ext cx="3200399" cy="3294529"/>
          </a:xfrm>
          <a:prstGeom prst="rect">
            <a:avLst/>
          </a:prstGeom>
        </p:spPr>
      </p:pic>
      <p:cxnSp>
        <p:nvCxnSpPr>
          <p:cNvPr id="10" name="Connector 9"/>
          <p:cNvCxnSpPr/>
          <p:nvPr/>
        </p:nvCxnSpPr>
        <p:spPr>
          <a:xfrm>
            <a:off x="4059936" y="5943600"/>
            <a:ext cx="512064" cy="0"/>
          </a:xfrm>
          <a:prstGeom prst="line">
            <a:avLst/>
          </a:prstGeom>
          <a:ln w="50800">
            <a:solidFill>
              <a:srgbClr val="14141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58368" y="9052560"/>
            <a:ext cx="73152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141414"/>
                </a:solidFill>
                <a:latin typeface="Beeline Sans"/>
              </a:rPr>
              <a:t>Меньше бригад: отжиг и ALNS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9875520"/>
            <a:ext cx="7315200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 i="0">
                <a:solidFill>
                  <a:srgbClr val="5E5E5E"/>
                </a:solidFill>
                <a:latin typeface="Beeline Sans"/>
              </a:rPr>
              <a:t>Убираем маршрут целиком, его заявки уходят в пул. Отжиг перетасовывает их мелкими ходами, ALNS выбрасывает часть плана и собирает заново; штраф за заявки, которые долго остаются без места, растёт. Когда пул пуст, бригад стало на одну меньше.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430768" y="3200400"/>
            <a:ext cx="7315200" cy="5486400"/>
          </a:xfrm>
          <a:prstGeom prst="roundRect">
            <a:avLst>
              <a:gd name="adj" fmla="val 5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4" name="Picture 13" descr="algo_sisr_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13648" y="4296335"/>
            <a:ext cx="3200399" cy="3294529"/>
          </a:xfrm>
          <a:prstGeom prst="rect">
            <a:avLst/>
          </a:prstGeom>
        </p:spPr>
      </p:pic>
      <p:pic>
        <p:nvPicPr>
          <p:cNvPr id="15" name="Picture 14" descr="algo_sisr_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362688" y="4296335"/>
            <a:ext cx="3200399" cy="3294529"/>
          </a:xfrm>
          <a:prstGeom prst="rect">
            <a:avLst/>
          </a:prstGeom>
        </p:spPr>
      </p:pic>
      <p:cxnSp>
        <p:nvCxnSpPr>
          <p:cNvPr id="16" name="Connector 15"/>
          <p:cNvCxnSpPr/>
          <p:nvPr/>
        </p:nvCxnSpPr>
        <p:spPr>
          <a:xfrm>
            <a:off x="11832336" y="5943600"/>
            <a:ext cx="512064" cy="0"/>
          </a:xfrm>
          <a:prstGeom prst="line">
            <a:avLst/>
          </a:prstGeom>
          <a:ln w="50800">
            <a:solidFill>
              <a:srgbClr val="14141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8430768" y="9052560"/>
            <a:ext cx="73152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141414"/>
                </a:solidFill>
                <a:latin typeface="Beeline Sans"/>
              </a:rPr>
              <a:t>Меньше пробега: SISR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30768" y="9875520"/>
            <a:ext cx="7315200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 i="0">
                <a:solidFill>
                  <a:srgbClr val="5E5E5E"/>
                </a:solidFill>
                <a:latin typeface="Beeline Sans"/>
              </a:rPr>
              <a:t>Когда число бригад уже минимально, вырезаем цепочки соседних заявок из нескольких маршрутов и вставляем туда, где дешевле. Новый план принимаем по правилу отжига, иногда даже чуть худший: так поиск выходит из локальных минимумов.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6203167" y="3200400"/>
            <a:ext cx="7315200" cy="5486400"/>
          </a:xfrm>
          <a:prstGeom prst="roundRect">
            <a:avLst>
              <a:gd name="adj" fmla="val 5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0" name="Picture 19" descr="algo_swap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6422623" y="3947258"/>
            <a:ext cx="6876288" cy="3992683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6203167" y="9052560"/>
            <a:ext cx="73152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141414"/>
                </a:solidFill>
                <a:latin typeface="Beeline Sans"/>
              </a:rPr>
              <a:t>Обмен начал маршрутов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203167" y="9875520"/>
            <a:ext cx="7315200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 i="0">
                <a:solidFill>
                  <a:srgbClr val="5E5E5E"/>
                </a:solidFill>
                <a:latin typeface="Beeline Sans"/>
              </a:rPr>
              <a:t>До выбранного часа две бригады меняются заявками, после — оставляют свои; не поместившиеся заявки вставляются заново. За один ход перестраиваются утренние участки двух бригад. Так поиск выбирается из плохих минимумов на Юго-востоке, где бригады живут в Кашире, Ступино и Домодедово.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12947904"/>
            <a:ext cx="1463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8C8C8C"/>
                </a:solidFill>
                <a:latin typeface="Beeline Sans"/>
              </a:rPr>
              <a:t>13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4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48640"/>
            <a:ext cx="1645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A1A1A1"/>
                </a:solidFill>
                <a:latin typeface="Beeline Sans"/>
              </a:rPr>
              <a:t>Алгоритм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66A6096C-FC1D-1CE6-4D9A-E42A4FC258C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44260" y="531262"/>
            <a:ext cx="660947" cy="66094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" y="1133856"/>
            <a:ext cx="217627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600" b="1" i="0">
                <a:solidFill>
                  <a:srgbClr val="FFFFFF"/>
                </a:solidFill>
                <a:latin typeface="Beeline Sans"/>
              </a:rPr>
              <a:t>Параллельный поиск: 8 потоков</a:t>
            </a:r>
          </a:p>
        </p:txBody>
      </p:sp>
      <p:cxnSp>
        <p:nvCxnSpPr>
          <p:cNvPr id="7" name="Connector 6"/>
          <p:cNvCxnSpPr/>
          <p:nvPr/>
        </p:nvCxnSpPr>
        <p:spPr>
          <a:xfrm flipV="1">
            <a:off x="6858000" y="4114800"/>
            <a:ext cx="0" cy="3749040"/>
          </a:xfrm>
          <a:prstGeom prst="line">
            <a:avLst/>
          </a:prstGeom>
          <a:ln w="30480">
            <a:solidFill>
              <a:srgbClr val="A1A1A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V="1">
            <a:off x="6858000" y="5212868"/>
            <a:ext cx="3362207" cy="2650972"/>
          </a:xfrm>
          <a:prstGeom prst="line">
            <a:avLst/>
          </a:prstGeom>
          <a:ln w="30480">
            <a:solidFill>
              <a:srgbClr val="A1A1A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6858000" y="7863840"/>
            <a:ext cx="4754880" cy="0"/>
          </a:xfrm>
          <a:prstGeom prst="line">
            <a:avLst/>
          </a:prstGeom>
          <a:ln w="30480">
            <a:solidFill>
              <a:srgbClr val="A1A1A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6858000" y="7863840"/>
            <a:ext cx="3362207" cy="2650971"/>
          </a:xfrm>
          <a:prstGeom prst="line">
            <a:avLst/>
          </a:prstGeom>
          <a:ln w="30480">
            <a:solidFill>
              <a:srgbClr val="A1A1A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6858000" y="7863840"/>
            <a:ext cx="0" cy="3749040"/>
          </a:xfrm>
          <a:prstGeom prst="line">
            <a:avLst/>
          </a:prstGeom>
          <a:ln w="30480">
            <a:solidFill>
              <a:srgbClr val="A1A1A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>
            <a:off x="3495792" y="7863840"/>
            <a:ext cx="3362208" cy="2650971"/>
          </a:xfrm>
          <a:prstGeom prst="line">
            <a:avLst/>
          </a:prstGeom>
          <a:ln w="30480">
            <a:solidFill>
              <a:srgbClr val="A1A1A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H="1">
            <a:off x="2103120" y="7863840"/>
            <a:ext cx="4754880" cy="0"/>
          </a:xfrm>
          <a:prstGeom prst="line">
            <a:avLst/>
          </a:prstGeom>
          <a:ln w="30480">
            <a:solidFill>
              <a:srgbClr val="A1A1A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 flipV="1">
            <a:off x="3495792" y="5212868"/>
            <a:ext cx="3362208" cy="2650972"/>
          </a:xfrm>
          <a:prstGeom prst="line">
            <a:avLst/>
          </a:prstGeom>
          <a:ln w="30480">
            <a:solidFill>
              <a:srgbClr val="A1A1A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4480560" y="6858000"/>
            <a:ext cx="4754880" cy="2011680"/>
          </a:xfrm>
          <a:prstGeom prst="roundRect">
            <a:avLst>
              <a:gd name="adj" fmla="val 20000"/>
            </a:avLst>
          </a:prstGeom>
          <a:solidFill>
            <a:srgbClr val="FFC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4663440" y="6949440"/>
            <a:ext cx="438912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600" b="1" i="0">
                <a:solidFill>
                  <a:srgbClr val="141414"/>
                </a:solidFill>
                <a:latin typeface="Beeline Sans"/>
              </a:rPr>
              <a:t>общее хранилище</a:t>
            </a:r>
          </a:p>
          <a:p>
            <a:pPr algn="ctr">
              <a:spcBef>
                <a:spcPts val="0"/>
              </a:spcBef>
            </a:pPr>
            <a:r>
              <a:rPr sz="2600" b="1" i="0">
                <a:solidFill>
                  <a:srgbClr val="141414"/>
                </a:solidFill>
                <a:latin typeface="Beeline Sans"/>
              </a:rPr>
              <a:t>лучшего плана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40680" y="3511296"/>
            <a:ext cx="2834640" cy="120700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5586984" y="3511296"/>
            <a:ext cx="2542032" cy="12070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100" b="1" i="0">
                <a:solidFill>
                  <a:srgbClr val="141414"/>
                </a:solidFill>
                <a:latin typeface="Beeline Sans"/>
              </a:rPr>
              <a:t>отжиг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802887" y="4609364"/>
            <a:ext cx="2834640" cy="120700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8949191" y="4609364"/>
            <a:ext cx="2542032" cy="12070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100" b="1" i="0">
                <a:solidFill>
                  <a:srgbClr val="141414"/>
                </a:solidFill>
                <a:latin typeface="Beeline Sans"/>
              </a:rPr>
              <a:t>ALNS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195559" y="7260336"/>
            <a:ext cx="2834640" cy="120700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10341863" y="7260336"/>
            <a:ext cx="2542032" cy="12070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100" b="1" i="0">
                <a:solidFill>
                  <a:srgbClr val="141414"/>
                </a:solidFill>
                <a:latin typeface="Beeline Sans"/>
              </a:rPr>
              <a:t>SISR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802887" y="9911307"/>
            <a:ext cx="2834640" cy="120700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8949191" y="9911307"/>
            <a:ext cx="2542032" cy="12070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100" b="1" i="0">
                <a:solidFill>
                  <a:srgbClr val="141414"/>
                </a:solidFill>
                <a:latin typeface="Beeline Sans"/>
              </a:rPr>
              <a:t>отжиг со сменой бригад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40680" y="11009376"/>
            <a:ext cx="2834640" cy="120700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5586984" y="11009376"/>
            <a:ext cx="2542032" cy="12070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100" b="1" i="0">
                <a:solidFill>
                  <a:srgbClr val="141414"/>
                </a:solidFill>
                <a:latin typeface="Beeline Sans"/>
              </a:rPr>
              <a:t>обмен начал маршрутов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078472" y="9911307"/>
            <a:ext cx="2834640" cy="120700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2224776" y="9911307"/>
            <a:ext cx="2542032" cy="12070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100" b="1" i="0">
                <a:solidFill>
                  <a:srgbClr val="141414"/>
                </a:solidFill>
                <a:latin typeface="Beeline Sans"/>
              </a:rPr>
              <a:t>копия: отжиг со сменой бригад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85799" y="7260336"/>
            <a:ext cx="2834640" cy="120700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32103" y="7260336"/>
            <a:ext cx="2542032" cy="12070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100" b="1" i="0">
                <a:solidFill>
                  <a:srgbClr val="141414"/>
                </a:solidFill>
                <a:latin typeface="Beeline Sans"/>
              </a:rPr>
              <a:t>копия: отжиг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078472" y="4609364"/>
            <a:ext cx="2834640" cy="120700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2224776" y="4609364"/>
            <a:ext cx="2542032" cy="12070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100" b="1" i="0">
                <a:solidFill>
                  <a:srgbClr val="141414"/>
                </a:solidFill>
                <a:latin typeface="Beeline Sans"/>
              </a:rPr>
              <a:t>копия: SISR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3716000" y="3108960"/>
            <a:ext cx="99669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FFC800"/>
                </a:solidFill>
                <a:latin typeface="Beeline Sans"/>
              </a:rPr>
              <a:t>Отжиг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3716000" y="3657600"/>
            <a:ext cx="99669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FFFFFF"/>
                </a:solidFill>
                <a:latin typeface="Beeline Sans"/>
              </a:rPr>
              <a:t>убирает маршрут и перетасовывает заявки мелкими ходами, пока все не встанут в план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716000" y="4572000"/>
            <a:ext cx="99669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FFC800"/>
                </a:solidFill>
                <a:latin typeface="Beeline Sans"/>
              </a:rPr>
              <a:t>ALNS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3716000" y="5120640"/>
            <a:ext cx="99669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FFFFFF"/>
                </a:solidFill>
                <a:latin typeface="Beeline Sans"/>
              </a:rPr>
              <a:t>выбрасывает часть плана и собирает заново; заявки, которые часто остаются без места, дорожают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3716000" y="6035040"/>
            <a:ext cx="99669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FFC800"/>
                </a:solidFill>
                <a:latin typeface="Beeline Sans"/>
              </a:rPr>
              <a:t>SISR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3716000" y="6583679"/>
            <a:ext cx="99669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FFFFFF"/>
                </a:solidFill>
                <a:latin typeface="Beeline Sans"/>
              </a:rPr>
              <a:t>сокращает пробег, переставляя цепочки заявок между маршрутами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3716000" y="7498080"/>
            <a:ext cx="99669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FFC800"/>
                </a:solidFill>
                <a:latin typeface="Beeline Sans"/>
              </a:rPr>
              <a:t>Отжиг со сменой бригад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3716000" y="8046720"/>
            <a:ext cx="99669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FFFFFF"/>
                </a:solidFill>
                <a:latin typeface="Beeline Sans"/>
              </a:rPr>
              <a:t>переносит конец маршрута на свободную бригаду и убирает маленький маршрут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3716000" y="8961120"/>
            <a:ext cx="99669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FFC800"/>
                </a:solidFill>
                <a:latin typeface="Beeline Sans"/>
              </a:rPr>
              <a:t>Обмен начал маршрутов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3716000" y="9509760"/>
            <a:ext cx="99669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FFFFFF"/>
                </a:solidFill>
                <a:latin typeface="Beeline Sans"/>
              </a:rPr>
              <a:t>две бригады меняются заявками до выбранного часа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3716000" y="10424160"/>
            <a:ext cx="99669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FFC800"/>
                </a:solidFill>
                <a:latin typeface="Beeline Sans"/>
              </a:rPr>
              <a:t>Копия задачи, 3 потока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3716000" y="10972800"/>
            <a:ext cx="99669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FFFFFF"/>
                </a:solidFill>
                <a:latin typeface="Beeline Sans"/>
              </a:rPr>
              <a:t>ищут план, где выезд бригады из своего района дороже, и отдают его основным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3716000" y="11978640"/>
            <a:ext cx="99669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0">
                <a:solidFill>
                  <a:srgbClr val="A1A1A1"/>
                </a:solidFill>
                <a:latin typeface="Beeline Sans"/>
              </a:rPr>
              <a:t>Так при старте бригад из дома (все демо-участки). При выезде всех из офиса: 2 отжига, 2 ALNS, SISR, смена бригад, обмен начал и подсказка по районам. Если ядер меньше 8, работает часть ролей.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58368" y="12947904"/>
            <a:ext cx="1463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A1A1A1"/>
                </a:solidFill>
                <a:latin typeface="Beeline Sans"/>
              </a:rPr>
              <a:t>14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48640"/>
            <a:ext cx="1645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8C8C8C"/>
                </a:solidFill>
                <a:latin typeface="Beeline Sans"/>
              </a:rPr>
              <a:t>Алгоритм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66A6096C-FC1D-1CE6-4D9A-E42A4FC258C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44260" y="531262"/>
            <a:ext cx="660947" cy="66094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" y="1133856"/>
            <a:ext cx="217627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600" b="1" i="0">
                <a:solidFill>
                  <a:srgbClr val="141414"/>
                </a:solidFill>
                <a:latin typeface="Beeline Sans"/>
              </a:rPr>
              <a:t>Нижняя граница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3200400"/>
            <a:ext cx="10241280" cy="6492240"/>
          </a:xfrm>
          <a:prstGeom prst="roundRect">
            <a:avLst>
              <a:gd name="adj" fmla="val 5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algo_column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62221" y="3383280"/>
            <a:ext cx="8796996" cy="61264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58368" y="9875520"/>
            <a:ext cx="102412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0" i="0">
                <a:solidFill>
                  <a:srgbClr val="8C8C8C"/>
                </a:solidFill>
                <a:latin typeface="Beeline Sans"/>
              </a:rPr>
              <a:t>модель первого этапа, 88 задач (в текущей модели минимум доказан в 70 из 88):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10460736"/>
            <a:ext cx="3291840" cy="1920240"/>
          </a:xfrm>
          <a:prstGeom prst="roundRect">
            <a:avLst>
              <a:gd name="adj" fmla="val 5000"/>
            </a:avLst>
          </a:prstGeom>
          <a:solidFill>
            <a:srgbClr val="FFC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10533888"/>
            <a:ext cx="29260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800" b="0" i="0">
                <a:solidFill>
                  <a:srgbClr val="141414"/>
                </a:solidFill>
                <a:latin typeface="Beeline Sans Black"/>
              </a:rPr>
              <a:t>100%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2688" y="11338560"/>
            <a:ext cx="2889504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0">
                <a:solidFill>
                  <a:srgbClr val="141414"/>
                </a:solidFill>
                <a:latin typeface="Beeline Sans"/>
              </a:rPr>
              <a:t>задач: план выходит на доказанный минимум бригад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33087" y="10460736"/>
            <a:ext cx="3291840" cy="1920240"/>
          </a:xfrm>
          <a:prstGeom prst="roundRect">
            <a:avLst>
              <a:gd name="adj" fmla="val 5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4407407" y="10533888"/>
            <a:ext cx="29260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800" b="0" i="0">
                <a:solidFill>
                  <a:srgbClr val="141414"/>
                </a:solidFill>
                <a:latin typeface="Beeline Sans Black"/>
              </a:rPr>
              <a:t>92%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07407" y="11338560"/>
            <a:ext cx="2889504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0">
                <a:solidFill>
                  <a:srgbClr val="141414"/>
                </a:solidFill>
                <a:latin typeface="Beeline Sans"/>
              </a:rPr>
              <a:t>задач: лучший найденный план оптимален целиком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607808" y="10460736"/>
            <a:ext cx="3291840" cy="1920240"/>
          </a:xfrm>
          <a:prstGeom prst="roundRect">
            <a:avLst>
              <a:gd name="adj" fmla="val 5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7882128" y="10533888"/>
            <a:ext cx="29260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800" b="0" i="0">
                <a:solidFill>
                  <a:srgbClr val="141414"/>
                </a:solidFill>
                <a:latin typeface="Beeline Sans Black"/>
              </a:rPr>
              <a:t>+0,06%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82128" y="11338560"/>
            <a:ext cx="2889504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0">
                <a:solidFill>
                  <a:srgbClr val="141414"/>
                </a:solidFill>
                <a:latin typeface="Beeline Sans"/>
              </a:rPr>
              <a:t>пробег лучшего плана к нижней границе в среднем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521440" y="3255264"/>
            <a:ext cx="13716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800" b="0" i="0">
                <a:solidFill>
                  <a:srgbClr val="141414"/>
                </a:solidFill>
                <a:latin typeface="Beeline Sans Black"/>
              </a:rPr>
              <a:t>#1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984480" y="3291840"/>
            <a:ext cx="107899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41414"/>
                </a:solidFill>
                <a:latin typeface="Beeline Sans"/>
              </a:rPr>
              <a:t>Задача покрытия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984480" y="4023360"/>
            <a:ext cx="1078992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 i="0">
                <a:solidFill>
                  <a:srgbClr val="5E5E5E"/>
                </a:solidFill>
                <a:latin typeface="Beeline Sans"/>
              </a:rPr>
              <a:t>Каждый допустимый маршрут одной бригады — столбец таблицы: какие заявки он покрывает и сколько стоит. Выбираем столбцы так, чтобы каждая заявка вошла ровно в один.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521440" y="6181344"/>
            <a:ext cx="13716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800" b="0" i="0">
                <a:solidFill>
                  <a:srgbClr val="141414"/>
                </a:solidFill>
                <a:latin typeface="Beeline Sans Black"/>
              </a:rPr>
              <a:t>#2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984480" y="6217920"/>
            <a:ext cx="107899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41414"/>
                </a:solidFill>
                <a:latin typeface="Beeline Sans"/>
              </a:rPr>
              <a:t>Линейная релаксация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984480" y="6949440"/>
            <a:ext cx="1078992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 i="0">
                <a:solidFill>
                  <a:srgbClr val="5E5E5E"/>
                </a:solidFill>
                <a:latin typeface="Beeline Sans"/>
              </a:rPr>
              <a:t>Разрешаем брать маршрут частично, например на 0,5. Такой план не выполнить, полбригады не бывает. Но настоящий план не может быть дешевле, поэтому его стоимость и есть граница.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521440" y="9107424"/>
            <a:ext cx="13716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800" b="0" i="0">
                <a:solidFill>
                  <a:srgbClr val="141414"/>
                </a:solidFill>
                <a:latin typeface="Beeline Sans Black"/>
              </a:rPr>
              <a:t>#3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984480" y="9144000"/>
            <a:ext cx="107899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41414"/>
                </a:solidFill>
                <a:latin typeface="Beeline Sans"/>
              </a:rPr>
              <a:t>Что она даёт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984480" y="9875520"/>
            <a:ext cx="1078992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 i="0">
                <a:solidFill>
                  <a:srgbClr val="5E5E5E"/>
                </a:solidFill>
                <a:latin typeface="Beeline Sans"/>
              </a:rPr>
              <a:t>Если найденный план совпал с границей, лучшего плана в этих ограничениях не существует. Если не совпал, граница показывает, сколько максимум можно выиграть.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" y="12947904"/>
            <a:ext cx="1463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8C8C8C"/>
                </a:solidFill>
                <a:latin typeface="Beeline Sans"/>
              </a:rPr>
              <a:t>15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414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FC899562-5539-A2EC-13B6-25296BF6F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V="1">
            <a:off x="0" y="-2401"/>
            <a:ext cx="24379736" cy="13718401"/>
          </a:xfrm>
          <a:prstGeom prst="rect">
            <a:avLst/>
          </a:prstGeom>
        </p:spPr>
      </p:pic>
      <p:sp>
        <p:nvSpPr>
          <p:cNvPr id="205" name="01"/>
          <p:cNvSpPr txBox="1"/>
          <p:nvPr/>
        </p:nvSpPr>
        <p:spPr>
          <a:xfrm>
            <a:off x="12105657" y="1474027"/>
            <a:ext cx="12278343" cy="8801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>
            <a:spAutoFit/>
          </a:bodyPr>
          <a:lstStyle>
            <a:lvl1pPr algn="l">
              <a:defRPr sz="63200" b="1">
                <a:solidFill>
                  <a:srgbClr val="FFFFFF"/>
                </a:solidFill>
                <a:latin typeface="Beeline Sans"/>
                <a:ea typeface="Beeline Sans"/>
                <a:cs typeface="Beeline Sans"/>
                <a:sym typeface="Beeline Sans"/>
              </a:defRPr>
            </a:lvl1pPr>
          </a:lstStyle>
          <a:p>
            <a:r>
              <a:rPr dirty="0"/>
              <a:t>03</a:t>
            </a:r>
          </a:p>
        </p:txBody>
      </p:sp>
      <p:sp>
        <p:nvSpPr>
          <p:cNvPr id="206" name="медиа-давление и бюджет"/>
          <p:cNvSpPr txBox="1"/>
          <p:nvPr/>
        </p:nvSpPr>
        <p:spPr>
          <a:xfrm>
            <a:off x="2391927" y="5144710"/>
            <a:ext cx="12923158" cy="342657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wrap="none">
            <a:spAutoFit/>
          </a:bodyPr>
          <a:lstStyle>
            <a:lvl1pPr algn="l">
              <a:lnSpc>
                <a:spcPct val="90000"/>
              </a:lnSpc>
              <a:defRPr sz="12000" b="1">
                <a:solidFill>
                  <a:srgbClr val="FFFFFF"/>
                </a:solidFill>
                <a:latin typeface="Beeline Sans"/>
                <a:ea typeface="Beeline Sans"/>
                <a:cs typeface="Beeline Sans"/>
                <a:sym typeface="Beeline Sans"/>
              </a:defRPr>
            </a:lvl1pPr>
          </a:lstStyle>
          <a:p>
            <a:r>
              <a:rPr lang="ru-RU" dirty="0"/>
              <a:t>продукт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48640"/>
            <a:ext cx="1645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8C8C8C"/>
                </a:solidFill>
                <a:latin typeface="Beeline Sans"/>
              </a:rPr>
              <a:t>Продукт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66A6096C-FC1D-1CE6-4D9A-E42A4FC258C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44260" y="531262"/>
            <a:ext cx="660947" cy="66094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" y="1133856"/>
            <a:ext cx="217627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600" b="1" i="0">
                <a:solidFill>
                  <a:srgbClr val="141414"/>
                </a:solidFill>
                <a:latin typeface="Beeline Sans"/>
              </a:rPr>
              <a:t>Экран диспетчера «Пульс»</a:t>
            </a:r>
          </a:p>
        </p:txBody>
      </p:sp>
      <p:pic>
        <p:nvPicPr>
          <p:cNvPr id="7" name="Picture 6" descr="overvie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2144" y="3017520"/>
            <a:ext cx="15654527" cy="9784080"/>
          </a:xfrm>
          <a:prstGeom prst="roundRect">
            <a:avLst>
              <a:gd name="adj" fmla="val 2000"/>
            </a:avLst>
          </a:prstGeom>
          <a:ln w="19050">
            <a:solidFill>
              <a:srgbClr val="F1F1F1"/>
            </a:solidFill>
          </a:ln>
        </p:spPr>
      </p:pic>
      <p:sp>
        <p:nvSpPr>
          <p:cNvPr id="8" name="Oval 7"/>
          <p:cNvSpPr/>
          <p:nvPr/>
        </p:nvSpPr>
        <p:spPr>
          <a:xfrm>
            <a:off x="7342997" y="2926994"/>
            <a:ext cx="768096" cy="768096"/>
          </a:xfrm>
          <a:prstGeom prst="ellipse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2600" b="0" i="0">
                <a:solidFill>
                  <a:srgbClr val="FFC800"/>
                </a:solidFill>
                <a:latin typeface="Beeline Sans Black"/>
              </a:rPr>
              <a:t>1</a:t>
            </a:r>
          </a:p>
        </p:txBody>
      </p:sp>
      <p:sp>
        <p:nvSpPr>
          <p:cNvPr id="9" name="Oval 8"/>
          <p:cNvSpPr/>
          <p:nvPr/>
        </p:nvSpPr>
        <p:spPr>
          <a:xfrm>
            <a:off x="1081186" y="4492447"/>
            <a:ext cx="768096" cy="768096"/>
          </a:xfrm>
          <a:prstGeom prst="ellipse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2600" b="0" i="0">
                <a:solidFill>
                  <a:srgbClr val="FFC800"/>
                </a:solidFill>
                <a:latin typeface="Beeline Sans Black"/>
              </a:rPr>
              <a:t>2</a:t>
            </a:r>
          </a:p>
        </p:txBody>
      </p:sp>
      <p:sp>
        <p:nvSpPr>
          <p:cNvPr id="10" name="Oval 9"/>
          <p:cNvSpPr/>
          <p:nvPr/>
        </p:nvSpPr>
        <p:spPr>
          <a:xfrm>
            <a:off x="1081186" y="7036307"/>
            <a:ext cx="768096" cy="768096"/>
          </a:xfrm>
          <a:prstGeom prst="ellipse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2600" b="0" i="0">
                <a:solidFill>
                  <a:srgbClr val="FFC800"/>
                </a:solidFill>
                <a:latin typeface="Beeline Sans Black"/>
              </a:rPr>
              <a:t>3</a:t>
            </a:r>
          </a:p>
        </p:txBody>
      </p:sp>
      <p:sp>
        <p:nvSpPr>
          <p:cNvPr id="11" name="Oval 10"/>
          <p:cNvSpPr/>
          <p:nvPr/>
        </p:nvSpPr>
        <p:spPr>
          <a:xfrm>
            <a:off x="12195900" y="5862218"/>
            <a:ext cx="768096" cy="768096"/>
          </a:xfrm>
          <a:prstGeom prst="ellipse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2600" b="0" i="0">
                <a:solidFill>
                  <a:srgbClr val="FFC800"/>
                </a:solidFill>
                <a:latin typeface="Beeline Sans Black"/>
              </a:rPr>
              <a:t>4</a:t>
            </a:r>
          </a:p>
        </p:txBody>
      </p:sp>
      <p:sp>
        <p:nvSpPr>
          <p:cNvPr id="12" name="Oval 11"/>
          <p:cNvSpPr/>
          <p:nvPr/>
        </p:nvSpPr>
        <p:spPr>
          <a:xfrm>
            <a:off x="17830800" y="3145536"/>
            <a:ext cx="768096" cy="768096"/>
          </a:xfrm>
          <a:prstGeom prst="ellipse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2600" b="0" i="0">
                <a:solidFill>
                  <a:srgbClr val="FFC800"/>
                </a:solidFill>
                <a:latin typeface="Beeline Sans Black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836640" y="3182112"/>
            <a:ext cx="50292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1" i="0">
                <a:solidFill>
                  <a:srgbClr val="141414"/>
                </a:solidFill>
                <a:latin typeface="Beeline Sans"/>
              </a:rPr>
              <a:t>Сценарий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836640" y="3877056"/>
            <a:ext cx="502920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5E5E5E"/>
                </a:solidFill>
                <a:latin typeface="Beeline Sans"/>
              </a:rPr>
              <a:t>что показываем: план участка, событие дня или разбор одного требования; стрелки — соседний</a:t>
            </a:r>
          </a:p>
        </p:txBody>
      </p:sp>
      <p:sp>
        <p:nvSpPr>
          <p:cNvPr id="15" name="Oval 14"/>
          <p:cNvSpPr/>
          <p:nvPr/>
        </p:nvSpPr>
        <p:spPr>
          <a:xfrm>
            <a:off x="17830800" y="5577840"/>
            <a:ext cx="768096" cy="768096"/>
          </a:xfrm>
          <a:prstGeom prst="ellipse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2600" b="0" i="0">
                <a:solidFill>
                  <a:srgbClr val="FFC800"/>
                </a:solidFill>
                <a:latin typeface="Beeline Sans Black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836640" y="5614416"/>
            <a:ext cx="50292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1" i="0">
                <a:solidFill>
                  <a:srgbClr val="141414"/>
                </a:solidFill>
                <a:latin typeface="Beeline Sans"/>
              </a:rPr>
              <a:t>Главные цифры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836640" y="6309359"/>
            <a:ext cx="502920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5E5E5E"/>
                </a:solidFill>
                <a:latin typeface="Beeline Sans"/>
              </a:rPr>
              <a:t>бригады, пробег, заявки рядом с базовым вариантом и минимумом; «план по нормативу» — сколько опозданий было бы, если не учитывать сложность работ</a:t>
            </a:r>
          </a:p>
        </p:txBody>
      </p:sp>
      <p:sp>
        <p:nvSpPr>
          <p:cNvPr id="18" name="Oval 17"/>
          <p:cNvSpPr/>
          <p:nvPr/>
        </p:nvSpPr>
        <p:spPr>
          <a:xfrm>
            <a:off x="17830800" y="8010144"/>
            <a:ext cx="768096" cy="768096"/>
          </a:xfrm>
          <a:prstGeom prst="ellipse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2600" b="0" i="0">
                <a:solidFill>
                  <a:srgbClr val="FFC800"/>
                </a:solidFill>
                <a:latin typeface="Beeline Sans Black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836640" y="8046719"/>
            <a:ext cx="50292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1" i="0">
                <a:solidFill>
                  <a:srgbClr val="141414"/>
                </a:solidFill>
                <a:latin typeface="Beeline Sans"/>
              </a:rPr>
              <a:t>Карта и шкала дня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836640" y="8741664"/>
            <a:ext cx="502920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5E5E5E"/>
                </a:solidFill>
                <a:latin typeface="Beeline Sans"/>
              </a:rPr>
              <a:t>маршруты по улицам от домов бригад; «Пуск» проигрывает день</a:t>
            </a:r>
          </a:p>
        </p:txBody>
      </p:sp>
      <p:sp>
        <p:nvSpPr>
          <p:cNvPr id="21" name="Oval 20"/>
          <p:cNvSpPr/>
          <p:nvPr/>
        </p:nvSpPr>
        <p:spPr>
          <a:xfrm>
            <a:off x="17830800" y="10442448"/>
            <a:ext cx="768096" cy="768096"/>
          </a:xfrm>
          <a:prstGeom prst="ellipse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2600" b="0" i="0">
                <a:solidFill>
                  <a:srgbClr val="FFC800"/>
                </a:solidFill>
                <a:latin typeface="Beeline Sans Black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836640" y="10479024"/>
            <a:ext cx="50292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1" i="0">
                <a:solidFill>
                  <a:srgbClr val="141414"/>
                </a:solidFill>
                <a:latin typeface="Beeline Sans"/>
              </a:rPr>
              <a:t>Панель сценария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836640" y="11173968"/>
            <a:ext cx="502920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5E5E5E"/>
                </a:solidFill>
                <a:latin typeface="Beeline Sans"/>
              </a:rPr>
              <a:t>то, о чём сценарий: изменения, кривая, свободные окна; клик по заявке — её карточка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12947904"/>
            <a:ext cx="1463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8C8C8C"/>
                </a:solidFill>
                <a:latin typeface="Beeline Sans"/>
              </a:rPr>
              <a:t>17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48640"/>
            <a:ext cx="1645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8C8C8C"/>
                </a:solidFill>
                <a:latin typeface="Beeline Sans"/>
              </a:rPr>
              <a:t>Продукт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66A6096C-FC1D-1CE6-4D9A-E42A4FC258C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44260" y="531262"/>
            <a:ext cx="660947" cy="66094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" y="1133856"/>
            <a:ext cx="217627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600" b="1" i="0">
                <a:solidFill>
                  <a:srgbClr val="141414"/>
                </a:solidFill>
                <a:latin typeface="Beeline Sans"/>
              </a:rPr>
              <a:t>Карточка заявки: почему эта бригада</a:t>
            </a:r>
          </a:p>
        </p:txBody>
      </p:sp>
      <p:pic>
        <p:nvPicPr>
          <p:cNvPr id="7" name="Picture 6" descr="ord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3460114"/>
            <a:ext cx="16642080" cy="8898890"/>
          </a:xfrm>
          <a:prstGeom prst="roundRect">
            <a:avLst>
              <a:gd name="adj" fmla="val 2000"/>
            </a:avLst>
          </a:prstGeom>
          <a:ln w="19050">
            <a:solidFill>
              <a:srgbClr val="F1F1F1"/>
            </a:solidFill>
          </a:ln>
        </p:spPr>
      </p:pic>
      <p:sp>
        <p:nvSpPr>
          <p:cNvPr id="8" name="Oval 7"/>
          <p:cNvSpPr/>
          <p:nvPr/>
        </p:nvSpPr>
        <p:spPr>
          <a:xfrm>
            <a:off x="12423038" y="5834721"/>
            <a:ext cx="768096" cy="768096"/>
          </a:xfrm>
          <a:prstGeom prst="ellipse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2600" b="0" i="0">
                <a:solidFill>
                  <a:srgbClr val="FFC800"/>
                </a:solidFill>
                <a:latin typeface="Beeline Sans Black"/>
              </a:rPr>
              <a:t>1</a:t>
            </a:r>
          </a:p>
        </p:txBody>
      </p:sp>
      <p:sp>
        <p:nvSpPr>
          <p:cNvPr id="9" name="Oval 8"/>
          <p:cNvSpPr/>
          <p:nvPr/>
        </p:nvSpPr>
        <p:spPr>
          <a:xfrm>
            <a:off x="12423038" y="7525511"/>
            <a:ext cx="768096" cy="768096"/>
          </a:xfrm>
          <a:prstGeom prst="ellipse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2600" b="0" i="0">
                <a:solidFill>
                  <a:srgbClr val="FFC800"/>
                </a:solidFill>
                <a:latin typeface="Beeline Sans Black"/>
              </a:rPr>
              <a:t>2</a:t>
            </a:r>
          </a:p>
        </p:txBody>
      </p:sp>
      <p:sp>
        <p:nvSpPr>
          <p:cNvPr id="10" name="Oval 9"/>
          <p:cNvSpPr/>
          <p:nvPr/>
        </p:nvSpPr>
        <p:spPr>
          <a:xfrm>
            <a:off x="12423038" y="9305288"/>
            <a:ext cx="768096" cy="768096"/>
          </a:xfrm>
          <a:prstGeom prst="ellipse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2600" b="0" i="0">
                <a:solidFill>
                  <a:srgbClr val="FFC800"/>
                </a:solidFill>
                <a:latin typeface="Beeline Sans Black"/>
              </a:rPr>
              <a:t>3</a:t>
            </a:r>
          </a:p>
        </p:txBody>
      </p:sp>
      <p:sp>
        <p:nvSpPr>
          <p:cNvPr id="11" name="Oval 10"/>
          <p:cNvSpPr/>
          <p:nvPr/>
        </p:nvSpPr>
        <p:spPr>
          <a:xfrm>
            <a:off x="12423038" y="10907089"/>
            <a:ext cx="768096" cy="768096"/>
          </a:xfrm>
          <a:prstGeom prst="ellipse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2600" b="0" i="0">
                <a:solidFill>
                  <a:srgbClr val="FFC800"/>
                </a:solidFill>
                <a:latin typeface="Beeline Sans Black"/>
              </a:rPr>
              <a:t>4</a:t>
            </a:r>
          </a:p>
        </p:txBody>
      </p:sp>
      <p:sp>
        <p:nvSpPr>
          <p:cNvPr id="12" name="Oval 11"/>
          <p:cNvSpPr/>
          <p:nvPr/>
        </p:nvSpPr>
        <p:spPr>
          <a:xfrm>
            <a:off x="17830800" y="3145536"/>
            <a:ext cx="768096" cy="768096"/>
          </a:xfrm>
          <a:prstGeom prst="ellipse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2600" b="0" i="0">
                <a:solidFill>
                  <a:srgbClr val="FFC800"/>
                </a:solidFill>
                <a:latin typeface="Beeline Sans Black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836640" y="3182112"/>
            <a:ext cx="50292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1" i="0">
                <a:solidFill>
                  <a:srgbClr val="141414"/>
                </a:solidFill>
                <a:latin typeface="Beeline Sans"/>
              </a:rPr>
              <a:t>Работа 82 минут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836640" y="3877056"/>
            <a:ext cx="502920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5E5E5E"/>
                </a:solidFill>
                <a:latin typeface="Beeline Sans"/>
              </a:rPr>
              <a:t>норматив 70 минут с поправками: подтип работы, этаж без лифта, год постройки дома</a:t>
            </a:r>
          </a:p>
        </p:txBody>
      </p:sp>
      <p:sp>
        <p:nvSpPr>
          <p:cNvPr id="15" name="Oval 14"/>
          <p:cNvSpPr/>
          <p:nvPr/>
        </p:nvSpPr>
        <p:spPr>
          <a:xfrm>
            <a:off x="17830800" y="5577840"/>
            <a:ext cx="768096" cy="768096"/>
          </a:xfrm>
          <a:prstGeom prst="ellipse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2600" b="0" i="0">
                <a:solidFill>
                  <a:srgbClr val="FFC800"/>
                </a:solidFill>
                <a:latin typeface="Beeline Sans Black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836640" y="5614416"/>
            <a:ext cx="50292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1" i="0">
                <a:solidFill>
                  <a:srgbClr val="141414"/>
                </a:solidFill>
                <a:latin typeface="Beeline Sans"/>
              </a:rPr>
              <a:t>Подъезд и этаж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836640" y="6309359"/>
            <a:ext cx="502920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5E5E5E"/>
                </a:solidFill>
                <a:latin typeface="Beeline Sans"/>
              </a:rPr>
              <a:t>точка на карте — у подъезда квартиры, номер подъезда только в карточке</a:t>
            </a:r>
          </a:p>
        </p:txBody>
      </p:sp>
      <p:sp>
        <p:nvSpPr>
          <p:cNvPr id="18" name="Oval 17"/>
          <p:cNvSpPr/>
          <p:nvPr/>
        </p:nvSpPr>
        <p:spPr>
          <a:xfrm>
            <a:off x="17830800" y="8010144"/>
            <a:ext cx="768096" cy="768096"/>
          </a:xfrm>
          <a:prstGeom prst="ellipse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2600" b="0" i="0">
                <a:solidFill>
                  <a:srgbClr val="FFC800"/>
                </a:solidFill>
                <a:latin typeface="Beeline Sans Black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836640" y="8046719"/>
            <a:ext cx="50292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1" i="0">
                <a:solidFill>
                  <a:srgbClr val="141414"/>
                </a:solidFill>
                <a:latin typeface="Beeline Sans"/>
              </a:rPr>
              <a:t>Назначение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836640" y="8741664"/>
            <a:ext cx="502920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5E5E5E"/>
                </a:solidFill>
                <a:latin typeface="Beeline Sans"/>
              </a:rPr>
              <a:t>когда бригада приедет и начнёт, сколько км добавляет</a:t>
            </a:r>
          </a:p>
        </p:txBody>
      </p:sp>
      <p:sp>
        <p:nvSpPr>
          <p:cNvPr id="21" name="Oval 20"/>
          <p:cNvSpPr/>
          <p:nvPr/>
        </p:nvSpPr>
        <p:spPr>
          <a:xfrm>
            <a:off x="17830800" y="10442448"/>
            <a:ext cx="768096" cy="768096"/>
          </a:xfrm>
          <a:prstGeom prst="ellipse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2600" b="0" i="0">
                <a:solidFill>
                  <a:srgbClr val="FFC800"/>
                </a:solidFill>
                <a:latin typeface="Beeline Sans Black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836640" y="10479024"/>
            <a:ext cx="50292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1" i="0">
                <a:solidFill>
                  <a:srgbClr val="141414"/>
                </a:solidFill>
                <a:latin typeface="Beeline Sans"/>
              </a:rPr>
              <a:t>Почему не другие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836640" y="11173968"/>
            <a:ext cx="502920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5E5E5E"/>
                </a:solidFill>
                <a:latin typeface="Beeline Sans"/>
              </a:rPr>
              <a:t>нет навыка, не успевают к окну, лишняя бригада, больше км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12947904"/>
            <a:ext cx="1463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8C8C8C"/>
                </a:solidFill>
                <a:latin typeface="Beeline Sans"/>
              </a:rPr>
              <a:t>18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48640"/>
            <a:ext cx="1645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8C8C8C"/>
                </a:solidFill>
                <a:latin typeface="Beeline Sans"/>
              </a:rPr>
              <a:t>Продукт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66A6096C-FC1D-1CE6-4D9A-E42A4FC258C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44260" y="531262"/>
            <a:ext cx="660947" cy="66094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" y="1133856"/>
            <a:ext cx="217627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600" b="1" i="0">
                <a:solidFill>
                  <a:srgbClr val="141414"/>
                </a:solidFill>
                <a:latin typeface="Beeline Sans"/>
              </a:rPr>
              <a:t>Изменения в течение дня</a:t>
            </a:r>
          </a:p>
        </p:txBody>
      </p:sp>
      <p:pic>
        <p:nvPicPr>
          <p:cNvPr id="7" name="Picture 6" descr="ev_urg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3108960"/>
            <a:ext cx="5538321" cy="4389120"/>
          </a:xfrm>
          <a:prstGeom prst="roundRect">
            <a:avLst>
              <a:gd name="adj" fmla="val 2000"/>
            </a:avLst>
          </a:prstGeom>
          <a:ln w="19050">
            <a:solidFill>
              <a:srgbClr val="F1F1F1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6653889" y="3200400"/>
            <a:ext cx="5160158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41414"/>
                </a:solidFill>
                <a:latin typeface="Beeline Sans"/>
              </a:rPr>
              <a:t>Новая заявка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53889" y="3931920"/>
            <a:ext cx="5160158" cy="2926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 i="0">
                <a:solidFill>
                  <a:srgbClr val="5E5E5E"/>
                </a:solidFill>
                <a:latin typeface="Beeline Sans"/>
              </a:rPr>
              <a:t>её берёт бригада, у которой есть свободный промежуток; остальные заявки остаются у своих бригад</a:t>
            </a:r>
          </a:p>
        </p:txBody>
      </p:sp>
      <p:pic>
        <p:nvPicPr>
          <p:cNvPr id="10" name="Picture 9" descr="ev_finis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362688" y="3108960"/>
            <a:ext cx="5931243" cy="4389120"/>
          </a:xfrm>
          <a:prstGeom prst="roundRect">
            <a:avLst>
              <a:gd name="adj" fmla="val 2000"/>
            </a:avLst>
          </a:prstGeom>
          <a:ln w="19050">
            <a:solidFill>
              <a:srgbClr val="F1F1F1"/>
            </a:solidFill>
          </a:ln>
        </p:spPr>
      </p:pic>
      <p:sp>
        <p:nvSpPr>
          <p:cNvPr id="11" name="TextBox 10"/>
          <p:cNvSpPr txBox="1"/>
          <p:nvPr/>
        </p:nvSpPr>
        <p:spPr>
          <a:xfrm>
            <a:off x="18751131" y="3200400"/>
            <a:ext cx="4767236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41414"/>
                </a:solidFill>
                <a:latin typeface="Beeline Sans"/>
              </a:rPr>
              <a:t>Закончили позже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51131" y="3931920"/>
            <a:ext cx="4767236" cy="2926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 i="0">
                <a:solidFill>
                  <a:srgbClr val="5E5E5E"/>
                </a:solidFill>
                <a:latin typeface="Beeline Sans"/>
              </a:rPr>
              <a:t>бригада задержалась на адресе; следующих клиентов, к которым она не успевает, берут другие бригады</a:t>
            </a:r>
          </a:p>
        </p:txBody>
      </p:sp>
      <p:pic>
        <p:nvPicPr>
          <p:cNvPr id="13" name="Picture 12" descr="ev_breakdow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8368" y="7863840"/>
            <a:ext cx="4324256" cy="4389120"/>
          </a:xfrm>
          <a:prstGeom prst="roundRect">
            <a:avLst>
              <a:gd name="adj" fmla="val 2000"/>
            </a:avLst>
          </a:prstGeom>
          <a:ln w="19050">
            <a:solidFill>
              <a:srgbClr val="F1F1F1"/>
            </a:solidFill>
          </a:ln>
        </p:spPr>
      </p:pic>
      <p:sp>
        <p:nvSpPr>
          <p:cNvPr id="14" name="TextBox 13"/>
          <p:cNvSpPr txBox="1"/>
          <p:nvPr/>
        </p:nvSpPr>
        <p:spPr>
          <a:xfrm>
            <a:off x="5439824" y="7955279"/>
            <a:ext cx="6374223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41414"/>
                </a:solidFill>
                <a:latin typeface="Beeline Sans"/>
              </a:rPr>
              <a:t>Сломалась машина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39824" y="8686800"/>
            <a:ext cx="6374223" cy="2926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 i="0">
                <a:solidFill>
                  <a:srgbClr val="5E5E5E"/>
                </a:solidFill>
                <a:latin typeface="Beeline Sans"/>
              </a:rPr>
              <a:t>бригада продолжает день на общественном транспорте; заявки, к которым она теперь не успевает, берут другие</a:t>
            </a:r>
          </a:p>
        </p:txBody>
      </p:sp>
      <p:pic>
        <p:nvPicPr>
          <p:cNvPr id="16" name="Picture 15" descr="ev_unavailabl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362688" y="7863840"/>
            <a:ext cx="3257231" cy="4389120"/>
          </a:xfrm>
          <a:prstGeom prst="roundRect">
            <a:avLst>
              <a:gd name="adj" fmla="val 2000"/>
            </a:avLst>
          </a:prstGeom>
          <a:ln w="19050">
            <a:solidFill>
              <a:srgbClr val="F1F1F1"/>
            </a:solidFill>
          </a:ln>
        </p:spPr>
      </p:pic>
      <p:sp>
        <p:nvSpPr>
          <p:cNvPr id="17" name="TextBox 16"/>
          <p:cNvSpPr txBox="1"/>
          <p:nvPr/>
        </p:nvSpPr>
        <p:spPr>
          <a:xfrm>
            <a:off x="16077119" y="7955279"/>
            <a:ext cx="7441248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41414"/>
                </a:solidFill>
                <a:latin typeface="Beeline Sans"/>
              </a:rPr>
              <a:t>Инженер выбыл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077119" y="8686800"/>
            <a:ext cx="7441248" cy="2926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 i="0">
                <a:solidFill>
                  <a:srgbClr val="5E5E5E"/>
                </a:solidFill>
                <a:latin typeface="Beeline Sans"/>
              </a:rPr>
              <a:t>начатую заявку он доделывает, остальные его заявки распределяются между бригадами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12947904"/>
            <a:ext cx="1463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8C8C8C"/>
                </a:solidFill>
                <a:latin typeface="Beeline Sans"/>
              </a:rPr>
              <a:t>19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414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FC899562-5539-A2EC-13B6-25296BF6F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V="1">
            <a:off x="0" y="-2401"/>
            <a:ext cx="24379736" cy="13718401"/>
          </a:xfrm>
          <a:prstGeom prst="rect">
            <a:avLst/>
          </a:prstGeom>
        </p:spPr>
      </p:pic>
      <p:sp>
        <p:nvSpPr>
          <p:cNvPr id="205" name="01"/>
          <p:cNvSpPr txBox="1"/>
          <p:nvPr/>
        </p:nvSpPr>
        <p:spPr>
          <a:xfrm>
            <a:off x="12105657" y="1474027"/>
            <a:ext cx="12278343" cy="8801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>
            <a:spAutoFit/>
          </a:bodyPr>
          <a:lstStyle>
            <a:lvl1pPr algn="l">
              <a:defRPr sz="63200" b="1">
                <a:solidFill>
                  <a:srgbClr val="FFFFFF"/>
                </a:solidFill>
                <a:latin typeface="Beeline Sans"/>
                <a:ea typeface="Beeline Sans"/>
                <a:cs typeface="Beeline Sans"/>
                <a:sym typeface="Beeline Sans"/>
              </a:defRPr>
            </a:lvl1pPr>
          </a:lstStyle>
          <a:p>
            <a:r>
              <a:rPr dirty="0"/>
              <a:t>04</a:t>
            </a:r>
          </a:p>
        </p:txBody>
      </p:sp>
      <p:sp>
        <p:nvSpPr>
          <p:cNvPr id="206" name="медиа-давление и бюджет"/>
          <p:cNvSpPr txBox="1"/>
          <p:nvPr/>
        </p:nvSpPr>
        <p:spPr>
          <a:xfrm>
            <a:off x="2391927" y="5144710"/>
            <a:ext cx="12923158" cy="342657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wrap="none">
            <a:spAutoFit/>
          </a:bodyPr>
          <a:lstStyle>
            <a:lvl1pPr algn="l">
              <a:lnSpc>
                <a:spcPct val="90000"/>
              </a:lnSpc>
              <a:defRPr sz="12000" b="1">
                <a:solidFill>
                  <a:srgbClr val="FFFFFF"/>
                </a:solidFill>
                <a:latin typeface="Beeline Sans"/>
                <a:ea typeface="Beeline Sans"/>
                <a:cs typeface="Beeline Sans"/>
                <a:sym typeface="Beeline Sans"/>
              </a:defRPr>
            </a:lvl1pPr>
          </a:lstStyle>
          <a:p>
            <a:r>
              <a:rPr lang="ru-RU" dirty="0"/>
              <a:t>второй этап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48640"/>
            <a:ext cx="1645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8C8C8C"/>
                </a:solidFill>
                <a:latin typeface="Beeline Sans"/>
              </a:rPr>
              <a:t>Второй этап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66A6096C-FC1D-1CE6-4D9A-E42A4FC258C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44260" y="531262"/>
            <a:ext cx="660947" cy="66094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" y="1133856"/>
            <a:ext cx="217627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600" b="1" i="0">
                <a:solidFill>
                  <a:srgbClr val="141414"/>
                </a:solidFill>
                <a:latin typeface="Beeline Sans"/>
              </a:rPr>
              <a:t>Что сделали по замечаниям жюри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3108960"/>
            <a:ext cx="11338560" cy="9144000"/>
          </a:xfrm>
          <a:prstGeom prst="roundRect">
            <a:avLst>
              <a:gd name="adj" fmla="val 5000"/>
            </a:avLst>
          </a:prstGeom>
          <a:solidFill>
            <a:srgbClr val="FFC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298448" y="3474720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000" b="1" i="0">
                <a:solidFill>
                  <a:srgbClr val="141414"/>
                </a:solidFill>
                <a:latin typeface="Beeline Sans"/>
              </a:rPr>
              <a:t>Требования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98448" y="4572000"/>
            <a:ext cx="10058400" cy="74980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438912" indent="-438912">
              <a:buClr>
                <a:srgbClr val="141414"/>
              </a:buClr>
              <a:buFont typeface="Beeline Sans"/>
              <a:buChar char="—"/>
            </a:pPr>
            <a:r>
              <a:rPr sz="2800" b="0" i="0">
                <a:solidFill>
                  <a:srgbClr val="141414"/>
                </a:solidFill>
                <a:latin typeface="Beeline Sans"/>
              </a:rPr>
              <a:t>рейтинг монтажников и режим «лучшие на день»</a:t>
            </a:r>
          </a:p>
          <a:p>
            <a:pPr algn="l" marL="438912" indent="-438912">
              <a:spcBef>
                <a:spcPts val="2400"/>
              </a:spcBef>
              <a:buClr>
                <a:srgbClr val="141414"/>
              </a:buClr>
              <a:buFont typeface="Beeline Sans"/>
              <a:buChar char="—"/>
            </a:pPr>
            <a:r>
              <a:rPr sz="2800" b="0" i="0">
                <a:solidFill>
                  <a:srgbClr val="141414"/>
                </a:solidFill>
                <a:latin typeface="Beeline Sans"/>
              </a:rPr>
              <a:t>длительность работы от сложности объекта</a:t>
            </a:r>
          </a:p>
          <a:p>
            <a:pPr algn="l" marL="438912" indent="-438912">
              <a:spcBef>
                <a:spcPts val="2400"/>
              </a:spcBef>
              <a:buClr>
                <a:srgbClr val="141414"/>
              </a:buClr>
              <a:buFont typeface="Beeline Sans"/>
              <a:buChar char="—"/>
            </a:pPr>
            <a:r>
              <a:rPr sz="2800" b="0" i="0">
                <a:solidFill>
                  <a:srgbClr val="141414"/>
                </a:solidFill>
                <a:latin typeface="Beeline Sans"/>
              </a:rPr>
              <a:t>старт из дома и перепланирование, когда авария застала бригаду в пути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2362688" y="3108960"/>
            <a:ext cx="11338560" cy="9144000"/>
          </a:xfrm>
          <a:prstGeom prst="roundRect">
            <a:avLst>
              <a:gd name="adj" fmla="val 5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3002768" y="3474720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000" b="1" i="0">
                <a:solidFill>
                  <a:srgbClr val="141414"/>
                </a:solidFill>
                <a:latin typeface="Beeline Sans"/>
              </a:rPr>
              <a:t>Сверх требований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002768" y="4572000"/>
            <a:ext cx="10058400" cy="74980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438912" indent="-438912">
              <a:buClr>
                <a:srgbClr val="141414"/>
              </a:buClr>
              <a:buFont typeface="Beeline Sans"/>
              <a:buChar char="—"/>
            </a:pPr>
            <a:r>
              <a:rPr sz="2800" b="0" i="0">
                <a:solidFill>
                  <a:srgbClr val="141414"/>
                </a:solidFill>
                <a:latin typeface="Beeline Sans"/>
              </a:rPr>
              <a:t>обед и оборудование, смены 2/2 и 5/2</a:t>
            </a:r>
          </a:p>
          <a:p>
            <a:pPr algn="l" marL="438912" indent="-438912">
              <a:spcBef>
                <a:spcPts val="2400"/>
              </a:spcBef>
              <a:buClr>
                <a:srgbClr val="141414"/>
              </a:buClr>
              <a:buFont typeface="Beeline Sans"/>
              <a:buChar char="—"/>
            </a:pPr>
            <a:r>
              <a:rPr sz="2800" b="0" i="0">
                <a:solidFill>
                  <a:srgbClr val="141414"/>
                </a:solidFill>
                <a:latin typeface="Beeline Sans"/>
              </a:rPr>
              <a:t>общественный транспорт по расписаниям, пробки по часам и районам</a:t>
            </a:r>
          </a:p>
          <a:p>
            <a:pPr algn="l" marL="438912" indent="-438912">
              <a:spcBef>
                <a:spcPts val="2400"/>
              </a:spcBef>
              <a:buClr>
                <a:srgbClr val="141414"/>
              </a:buClr>
              <a:buFont typeface="Beeline Sans"/>
              <a:buChar char="—"/>
            </a:pPr>
            <a:r>
              <a:rPr sz="2800" b="0" i="0">
                <a:solidFill>
                  <a:srgbClr val="141414"/>
                </a:solidFill>
                <a:latin typeface="Beeline Sans"/>
              </a:rPr>
              <a:t>длительность работ и темп бригад уточняются по историческим данным о выездах</a:t>
            </a:r>
          </a:p>
          <a:p>
            <a:pPr algn="l" marL="438912" indent="-438912">
              <a:spcBef>
                <a:spcPts val="2400"/>
              </a:spcBef>
              <a:buClr>
                <a:srgbClr val="141414"/>
              </a:buClr>
              <a:buFont typeface="Beeline Sans"/>
              <a:buChar char="—"/>
            </a:pPr>
            <a:r>
              <a:rPr sz="2800" b="0" i="0">
                <a:solidFill>
                  <a:srgbClr val="141414"/>
                </a:solidFill>
                <a:latin typeface="Beeline Sans"/>
              </a:rPr>
              <a:t>сколько бригад нужно: кривая, цена правил, покрытие аварий, свободные окна</a:t>
            </a:r>
          </a:p>
          <a:p>
            <a:pPr algn="l" marL="438912" indent="-438912">
              <a:spcBef>
                <a:spcPts val="2400"/>
              </a:spcBef>
              <a:buClr>
                <a:srgbClr val="141414"/>
              </a:buClr>
              <a:buFont typeface="Beeline Sans"/>
              <a:buChar char="—"/>
            </a:pPr>
            <a:r>
              <a:rPr sz="2800" b="0" i="0">
                <a:solidFill>
                  <a:srgbClr val="141414"/>
                </a:solidFill>
                <a:latin typeface="Beeline Sans"/>
              </a:rPr>
              <a:t>экран инженера, события дня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12947904"/>
            <a:ext cx="1463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8C8C8C"/>
                </a:solidFill>
                <a:latin typeface="Beeline Sans"/>
              </a:rPr>
              <a:t>21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48640"/>
            <a:ext cx="1645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8C8C8C"/>
                </a:solidFill>
                <a:latin typeface="Beeline Sans"/>
              </a:rPr>
              <a:t>Второй этап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66A6096C-FC1D-1CE6-4D9A-E42A4FC258C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44260" y="531262"/>
            <a:ext cx="660947" cy="66094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" y="1133856"/>
            <a:ext cx="217627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600" b="1" i="0">
                <a:solidFill>
                  <a:srgbClr val="141414"/>
                </a:solidFill>
                <a:latin typeface="Beeline Sans"/>
              </a:rPr>
              <a:t>Рейтинг: байесовское среднее с затуханием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3108960"/>
            <a:ext cx="11521440" cy="9235440"/>
          </a:xfrm>
          <a:prstGeom prst="roundRect">
            <a:avLst>
              <a:gd name="adj" fmla="val 5000"/>
            </a:avLst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207008" y="3474720"/>
            <a:ext cx="106070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FFC800"/>
                </a:solidFill>
                <a:latin typeface="Beeline Sans"/>
              </a:rPr>
              <a:t>Рейтинг по виду работ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07008" y="4389120"/>
            <a:ext cx="1060704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800" b="0" i="0">
                <a:solidFill>
                  <a:srgbClr val="FFFFFF"/>
                </a:solidFill>
                <a:latin typeface="Beeline Sans Black"/>
              </a:rPr>
              <a:t>R = (10·μ + Σ wᵢ·rᵢ) / (10 + Σ wᵢ)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07008" y="5760720"/>
            <a:ext cx="1060704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Beeline Sans"/>
              </a:rPr>
              <a:t>wᵢ = 0,5 ^ (возраст отзыва / 60 дней)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07008" y="7040880"/>
            <a:ext cx="10607040" cy="5120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438912" indent="-438912">
              <a:buClr>
                <a:srgbClr val="FFC800"/>
              </a:buClr>
              <a:buFont typeface="Beeline Sans"/>
              <a:buChar char="—"/>
            </a:pPr>
            <a:r>
              <a:rPr sz="2300" b="0" i="0">
                <a:solidFill>
                  <a:srgbClr val="FFFFFF"/>
                </a:solidFill>
                <a:latin typeface="Beeline Sans"/>
              </a:rPr>
              <a:t>μ — средняя оценка по участку с весом 10 отзывов. Поэтому новичок с одной пятёркой не обгоняет опытного, а одна случайная двойка почти не снижает рейтинг хорошего монтажника</a:t>
            </a:r>
          </a:p>
          <a:p>
            <a:pPr algn="l" marL="438912" indent="-438912">
              <a:spcBef>
                <a:spcPts val="1200"/>
              </a:spcBef>
              <a:buClr>
                <a:srgbClr val="FFC800"/>
              </a:buClr>
              <a:buFont typeface="Beeline Sans"/>
              <a:buChar char="—"/>
            </a:pPr>
            <a:r>
              <a:rPr sz="2300" b="0" i="0">
                <a:solidFill>
                  <a:srgbClr val="FFFFFF"/>
                </a:solidFill>
                <a:latin typeface="Beeline Sans"/>
              </a:rPr>
              <a:t>вес отзыва падает вдвое за 60 дней, поэтому свежие оценки весят больше старых</a:t>
            </a:r>
          </a:p>
          <a:p>
            <a:pPr algn="l" marL="438912" indent="-438912">
              <a:spcBef>
                <a:spcPts val="1200"/>
              </a:spcBef>
              <a:buClr>
                <a:srgbClr val="FFC800"/>
              </a:buClr>
              <a:buFont typeface="Beeline Sans"/>
              <a:buChar char="—"/>
            </a:pPr>
            <a:r>
              <a:rPr sz="2300" b="0" i="0">
                <a:solidFill>
                  <a:srgbClr val="FFFFFF"/>
                </a:solidFill>
                <a:latin typeface="Beeline Sans"/>
              </a:rPr>
              <a:t>считаем только «качество работы» и только того, кто выполнил заявку; опоздание по вине плана в его пунктуальность не идёт</a:t>
            </a:r>
          </a:p>
          <a:p>
            <a:pPr algn="l" marL="438912" indent="-438912">
              <a:spcBef>
                <a:spcPts val="1200"/>
              </a:spcBef>
              <a:buClr>
                <a:srgbClr val="FFC800"/>
              </a:buClr>
              <a:buFont typeface="Beeline Sans"/>
              <a:buChar char="—"/>
            </a:pPr>
            <a:r>
              <a:rPr sz="2300" b="0" i="0">
                <a:solidFill>
                  <a:srgbClr val="FFFFFF"/>
                </a:solidFill>
                <a:latin typeface="Beeline Sans"/>
              </a:rPr>
              <a:t>отдельно ремонт, подключение и аварии; меньше 8 отзывов — «мало данных»</a:t>
            </a:r>
          </a:p>
        </p:txBody>
      </p:sp>
      <p:graphicFrame>
        <p:nvGraphicFramePr>
          <p:cNvPr id="12" name="Chart 11"/>
          <p:cNvGraphicFramePr>
            <a:graphicFrameLocks noGrp="1"/>
          </p:cNvGraphicFramePr>
          <p:nvPr/>
        </p:nvGraphicFramePr>
        <p:xfrm>
          <a:off x="12710160" y="3017520"/>
          <a:ext cx="10972800" cy="45720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12893040" y="7498079"/>
            <a:ext cx="107899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0" i="0">
                <a:solidFill>
                  <a:srgbClr val="5E5E5E"/>
                </a:solidFill>
                <a:latin typeface="Beeline Sans"/>
              </a:rPr>
              <a:t>вес отзыва по возрасту, дней: через 60 — половина, через 120 — четверть</a:t>
            </a:r>
          </a:p>
        </p:txBody>
      </p:sp>
      <p:graphicFrame>
        <p:nvGraphicFramePr>
          <p:cNvPr id="14" name="Chart 13"/>
          <p:cNvGraphicFramePr>
            <a:graphicFrameLocks noGrp="1"/>
          </p:cNvGraphicFramePr>
          <p:nvPr/>
        </p:nvGraphicFramePr>
        <p:xfrm>
          <a:off x="12710160" y="8138160"/>
          <a:ext cx="10972800" cy="3749039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12893040" y="11887200"/>
            <a:ext cx="107899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0" i="0">
                <a:solidFill>
                  <a:srgbClr val="5E5E5E"/>
                </a:solidFill>
                <a:latin typeface="Beeline Sans"/>
              </a:rPr>
              <a:t>рейтинг по числу отзывов при среднем по участку 4,2: одна пятёрка — 4,27, тридцать — 4,80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12947904"/>
            <a:ext cx="1463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8C8C8C"/>
                </a:solidFill>
                <a:latin typeface="Beeline Sans"/>
              </a:rPr>
              <a:t>22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48640"/>
            <a:ext cx="1645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8C8C8C"/>
                </a:solidFill>
                <a:latin typeface="Beeline Sans"/>
              </a:rPr>
              <a:t>Второй этап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66A6096C-FC1D-1CE6-4D9A-E42A4FC258C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44260" y="531262"/>
            <a:ext cx="660947" cy="66094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" y="1133856"/>
            <a:ext cx="217627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600" b="1" i="0">
                <a:solidFill>
                  <a:srgbClr val="141414"/>
                </a:solidFill>
                <a:latin typeface="Beeline Sans"/>
              </a:rPr>
              <a:t>Рейтинг монтажников и лучшие на день</a:t>
            </a:r>
          </a:p>
        </p:txBody>
      </p:sp>
      <p:pic>
        <p:nvPicPr>
          <p:cNvPr id="7" name="Picture 6" descr="ratings_fu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" y="3017520"/>
            <a:ext cx="12728447" cy="7955279"/>
          </a:xfrm>
          <a:prstGeom prst="roundRect">
            <a:avLst>
              <a:gd name="adj" fmla="val 2000"/>
            </a:avLst>
          </a:prstGeom>
          <a:ln w="19050">
            <a:solidFill>
              <a:srgbClr val="F1F1F1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658368" y="11192256"/>
            <a:ext cx="12801600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1" i="0">
                <a:solidFill>
                  <a:srgbClr val="141414"/>
                </a:solidFill>
                <a:latin typeface="Beeline Sans"/>
              </a:rPr>
              <a:t>Рейтинг по отзывам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1795760"/>
            <a:ext cx="12801600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5E5E5E"/>
                </a:solidFill>
                <a:latin typeface="Beeline Sans"/>
              </a:rPr>
              <a:t>рейтинг каждого монтажника по видам работ из отзывов клиентов. Если отзывов мало, рейтинг ближе к среднему по парку; старые отзывы весят меньше. В демо отзывы синтетические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08608" y="2962656"/>
            <a:ext cx="9692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0" i="0">
                <a:solidFill>
                  <a:srgbClr val="5E5E5E"/>
                </a:solidFill>
                <a:latin typeface="Beeline Sans"/>
              </a:rPr>
              <a:t>■ </a:t>
            </a:r>
            <a:r>
              <a:rPr sz="2100" b="0" i="0">
                <a:solidFill>
                  <a:srgbClr val="141414"/>
                </a:solidFill>
                <a:latin typeface="Beeline Sans"/>
              </a:rPr>
              <a:t>бригад в работе   </a:t>
            </a:r>
            <a:r>
              <a:rPr sz="2100" b="0" i="0">
                <a:solidFill>
                  <a:srgbClr val="FFC800"/>
                </a:solidFill>
                <a:latin typeface="Beeline Sans"/>
              </a:rPr>
              <a:t>■ </a:t>
            </a:r>
            <a:r>
              <a:rPr sz="2100" b="0" i="0">
                <a:solidFill>
                  <a:srgbClr val="141414"/>
                </a:solidFill>
                <a:latin typeface="Beeline Sans"/>
              </a:rPr>
              <a:t>км за день   </a:t>
            </a:r>
            <a:r>
              <a:rPr sz="2100" b="0" i="0">
                <a:solidFill>
                  <a:srgbClr val="141414"/>
                </a:solidFill>
                <a:latin typeface="Beeline Sans"/>
              </a:rPr>
              <a:t>● </a:t>
            </a:r>
            <a:r>
              <a:rPr sz="2100" b="0" i="0">
                <a:solidFill>
                  <a:srgbClr val="141414"/>
                </a:solidFill>
                <a:latin typeface="Beeline Sans"/>
              </a:rPr>
              <a:t>рейтинг на заявке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008608" y="3438144"/>
            <a:ext cx="9692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0" i="0">
                <a:solidFill>
                  <a:srgbClr val="8C8C8C"/>
                </a:solidFill>
                <a:latin typeface="Beeline Sans"/>
              </a:rPr>
              <a:t>высота: сначала бригады, потом км (км всегда меньше одной бригады)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4238808" y="6190488"/>
            <a:ext cx="751179" cy="3867911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13" name="Connector 12"/>
          <p:cNvCxnSpPr/>
          <p:nvPr/>
        </p:nvCxnSpPr>
        <p:spPr>
          <a:xfrm>
            <a:off x="14238808" y="9628632"/>
            <a:ext cx="751179" cy="0"/>
          </a:xfrm>
          <a:prstGeom prst="line">
            <a:avLst/>
          </a:prstGeom>
          <a:ln w="190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14238808" y="9198864"/>
            <a:ext cx="751179" cy="0"/>
          </a:xfrm>
          <a:prstGeom prst="line">
            <a:avLst/>
          </a:prstGeom>
          <a:ln w="190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14238808" y="8769096"/>
            <a:ext cx="751179" cy="0"/>
          </a:xfrm>
          <a:prstGeom prst="line">
            <a:avLst/>
          </a:prstGeom>
          <a:ln w="190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14238808" y="8339328"/>
            <a:ext cx="751179" cy="0"/>
          </a:xfrm>
          <a:prstGeom prst="line">
            <a:avLst/>
          </a:prstGeom>
          <a:ln w="190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14238808" y="7909560"/>
            <a:ext cx="751179" cy="0"/>
          </a:xfrm>
          <a:prstGeom prst="line">
            <a:avLst/>
          </a:prstGeom>
          <a:ln w="190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14238808" y="7479792"/>
            <a:ext cx="751179" cy="0"/>
          </a:xfrm>
          <a:prstGeom prst="line">
            <a:avLst/>
          </a:prstGeom>
          <a:ln w="190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14238808" y="7050024"/>
            <a:ext cx="751179" cy="0"/>
          </a:xfrm>
          <a:prstGeom prst="line">
            <a:avLst/>
          </a:prstGeom>
          <a:ln w="190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14238808" y="6620256"/>
            <a:ext cx="751179" cy="0"/>
          </a:xfrm>
          <a:prstGeom prst="line">
            <a:avLst/>
          </a:prstGeom>
          <a:ln w="190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14238808" y="5836263"/>
            <a:ext cx="751179" cy="354224"/>
          </a:xfrm>
          <a:prstGeom prst="rect">
            <a:avLst/>
          </a:prstGeom>
          <a:solidFill>
            <a:srgbClr val="FFC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14008608" y="9290304"/>
            <a:ext cx="12115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Beeline Sans"/>
              </a:rPr>
              <a:t>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008608" y="5360775"/>
            <a:ext cx="121158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900" b="1" i="0">
                <a:solidFill>
                  <a:srgbClr val="141414"/>
                </a:solidFill>
                <a:latin typeface="Beeline Sans"/>
              </a:rPr>
              <a:t>169 км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008608" y="4023360"/>
            <a:ext cx="121158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900" b="1" i="0">
                <a:solidFill>
                  <a:srgbClr val="141414"/>
                </a:solidFill>
                <a:latin typeface="Beeline Sans"/>
              </a:rPr>
              <a:t>4,54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008608" y="10168128"/>
            <a:ext cx="12115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200" b="1" i="0">
                <a:solidFill>
                  <a:srgbClr val="141414"/>
                </a:solidFill>
                <a:latin typeface="Beeline Sans"/>
              </a:rPr>
              <a:t>11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5450388" y="6190488"/>
            <a:ext cx="751179" cy="3867911"/>
          </a:xfrm>
          <a:prstGeom prst="rect">
            <a:avLst/>
          </a:prstGeom>
          <a:solidFill>
            <a:srgbClr val="5E5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27" name="Connector 26"/>
          <p:cNvCxnSpPr/>
          <p:nvPr/>
        </p:nvCxnSpPr>
        <p:spPr>
          <a:xfrm>
            <a:off x="15450388" y="9628632"/>
            <a:ext cx="751179" cy="0"/>
          </a:xfrm>
          <a:prstGeom prst="line">
            <a:avLst/>
          </a:prstGeom>
          <a:ln w="190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15450388" y="9198864"/>
            <a:ext cx="751179" cy="0"/>
          </a:xfrm>
          <a:prstGeom prst="line">
            <a:avLst/>
          </a:prstGeom>
          <a:ln w="190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15450388" y="8769096"/>
            <a:ext cx="751179" cy="0"/>
          </a:xfrm>
          <a:prstGeom prst="line">
            <a:avLst/>
          </a:prstGeom>
          <a:ln w="190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15450388" y="8339328"/>
            <a:ext cx="751179" cy="0"/>
          </a:xfrm>
          <a:prstGeom prst="line">
            <a:avLst/>
          </a:prstGeom>
          <a:ln w="190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15450388" y="7909560"/>
            <a:ext cx="751179" cy="0"/>
          </a:xfrm>
          <a:prstGeom prst="line">
            <a:avLst/>
          </a:prstGeom>
          <a:ln w="190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15450388" y="7479792"/>
            <a:ext cx="751179" cy="0"/>
          </a:xfrm>
          <a:prstGeom prst="line">
            <a:avLst/>
          </a:prstGeom>
          <a:ln w="190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15450388" y="7050024"/>
            <a:ext cx="751179" cy="0"/>
          </a:xfrm>
          <a:prstGeom prst="line">
            <a:avLst/>
          </a:prstGeom>
          <a:ln w="190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15450388" y="6620256"/>
            <a:ext cx="751179" cy="0"/>
          </a:xfrm>
          <a:prstGeom prst="line">
            <a:avLst/>
          </a:prstGeom>
          <a:ln w="190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ectangle 34"/>
          <p:cNvSpPr/>
          <p:nvPr/>
        </p:nvSpPr>
        <p:spPr>
          <a:xfrm>
            <a:off x="15450388" y="5870950"/>
            <a:ext cx="751179" cy="319537"/>
          </a:xfrm>
          <a:prstGeom prst="rect">
            <a:avLst/>
          </a:prstGeom>
          <a:solidFill>
            <a:srgbClr val="FFC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15220188" y="9290304"/>
            <a:ext cx="12115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Beeline Sans"/>
              </a:rPr>
              <a:t>9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5220188" y="5395462"/>
            <a:ext cx="121158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900" b="1" i="0">
                <a:solidFill>
                  <a:srgbClr val="141414"/>
                </a:solidFill>
                <a:latin typeface="Beeline Sans"/>
              </a:rPr>
              <a:t>152 км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14614398" y="4572000"/>
            <a:ext cx="1211580" cy="77273"/>
          </a:xfrm>
          <a:prstGeom prst="line">
            <a:avLst/>
          </a:prstGeom>
          <a:ln w="44450">
            <a:solidFill>
              <a:srgbClr val="14141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15220188" y="4100633"/>
            <a:ext cx="121158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900" b="1" i="0">
                <a:solidFill>
                  <a:srgbClr val="141414"/>
                </a:solidFill>
                <a:latin typeface="Beeline Sans"/>
              </a:rPr>
              <a:t>4,53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5220188" y="10168128"/>
            <a:ext cx="12115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200" b="0" i="0">
                <a:solidFill>
                  <a:srgbClr val="141414"/>
                </a:solidFill>
                <a:latin typeface="Beeline Sans"/>
              </a:rPr>
              <a:t>14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6661968" y="6620256"/>
            <a:ext cx="751179" cy="3438144"/>
          </a:xfrm>
          <a:prstGeom prst="rect">
            <a:avLst/>
          </a:prstGeom>
          <a:solidFill>
            <a:srgbClr val="5E5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42" name="Connector 41"/>
          <p:cNvCxnSpPr/>
          <p:nvPr/>
        </p:nvCxnSpPr>
        <p:spPr>
          <a:xfrm>
            <a:off x="16661968" y="9628632"/>
            <a:ext cx="751179" cy="0"/>
          </a:xfrm>
          <a:prstGeom prst="line">
            <a:avLst/>
          </a:prstGeom>
          <a:ln w="190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16661968" y="9198864"/>
            <a:ext cx="751179" cy="0"/>
          </a:xfrm>
          <a:prstGeom prst="line">
            <a:avLst/>
          </a:prstGeom>
          <a:ln w="190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16661968" y="8769096"/>
            <a:ext cx="751179" cy="0"/>
          </a:xfrm>
          <a:prstGeom prst="line">
            <a:avLst/>
          </a:prstGeom>
          <a:ln w="190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16661968" y="8339328"/>
            <a:ext cx="751179" cy="0"/>
          </a:xfrm>
          <a:prstGeom prst="line">
            <a:avLst/>
          </a:prstGeom>
          <a:ln w="190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16661968" y="7909560"/>
            <a:ext cx="751179" cy="0"/>
          </a:xfrm>
          <a:prstGeom prst="line">
            <a:avLst/>
          </a:prstGeom>
          <a:ln w="190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16661968" y="7479792"/>
            <a:ext cx="751179" cy="0"/>
          </a:xfrm>
          <a:prstGeom prst="line">
            <a:avLst/>
          </a:prstGeom>
          <a:ln w="190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16661968" y="7050024"/>
            <a:ext cx="751179" cy="0"/>
          </a:xfrm>
          <a:prstGeom prst="line">
            <a:avLst/>
          </a:prstGeom>
          <a:ln w="190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Rectangle 48"/>
          <p:cNvSpPr/>
          <p:nvPr/>
        </p:nvSpPr>
        <p:spPr>
          <a:xfrm>
            <a:off x="16661968" y="6210953"/>
            <a:ext cx="751179" cy="409302"/>
          </a:xfrm>
          <a:prstGeom prst="rect">
            <a:avLst/>
          </a:prstGeom>
          <a:solidFill>
            <a:srgbClr val="FFC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16431767" y="9290304"/>
            <a:ext cx="12115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Beeline Sans"/>
              </a:rPr>
              <a:t>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6431767" y="5735465"/>
            <a:ext cx="121158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900" b="1" i="0">
                <a:solidFill>
                  <a:srgbClr val="141414"/>
                </a:solidFill>
                <a:latin typeface="Beeline Sans"/>
              </a:rPr>
              <a:t>195 км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15825978" y="4649273"/>
            <a:ext cx="1211580" cy="227526"/>
          </a:xfrm>
          <a:prstGeom prst="line">
            <a:avLst/>
          </a:prstGeom>
          <a:ln w="44450">
            <a:solidFill>
              <a:srgbClr val="14141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16431767" y="4328159"/>
            <a:ext cx="121158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900" b="1" i="0">
                <a:solidFill>
                  <a:srgbClr val="141414"/>
                </a:solidFill>
                <a:latin typeface="Beeline Sans"/>
              </a:rPr>
              <a:t>4,47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6431767" y="10168128"/>
            <a:ext cx="12115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200" b="0" i="0">
                <a:solidFill>
                  <a:srgbClr val="141414"/>
                </a:solidFill>
                <a:latin typeface="Beeline Sans"/>
              </a:rPr>
              <a:t>17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7873548" y="6620256"/>
            <a:ext cx="751179" cy="3438144"/>
          </a:xfrm>
          <a:prstGeom prst="rect">
            <a:avLst/>
          </a:prstGeom>
          <a:solidFill>
            <a:srgbClr val="5E5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56" name="Connector 55"/>
          <p:cNvCxnSpPr/>
          <p:nvPr/>
        </p:nvCxnSpPr>
        <p:spPr>
          <a:xfrm>
            <a:off x="17873548" y="9628632"/>
            <a:ext cx="751179" cy="0"/>
          </a:xfrm>
          <a:prstGeom prst="line">
            <a:avLst/>
          </a:prstGeom>
          <a:ln w="190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17873548" y="9198864"/>
            <a:ext cx="751179" cy="0"/>
          </a:xfrm>
          <a:prstGeom prst="line">
            <a:avLst/>
          </a:prstGeom>
          <a:ln w="190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17873548" y="8769096"/>
            <a:ext cx="751179" cy="0"/>
          </a:xfrm>
          <a:prstGeom prst="line">
            <a:avLst/>
          </a:prstGeom>
          <a:ln w="190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17873548" y="8339328"/>
            <a:ext cx="751179" cy="0"/>
          </a:xfrm>
          <a:prstGeom prst="line">
            <a:avLst/>
          </a:prstGeom>
          <a:ln w="190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17873548" y="7909560"/>
            <a:ext cx="751179" cy="0"/>
          </a:xfrm>
          <a:prstGeom prst="line">
            <a:avLst/>
          </a:prstGeom>
          <a:ln w="190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17873548" y="7479792"/>
            <a:ext cx="751179" cy="0"/>
          </a:xfrm>
          <a:prstGeom prst="line">
            <a:avLst/>
          </a:prstGeom>
          <a:ln w="190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17873548" y="7050024"/>
            <a:ext cx="751179" cy="0"/>
          </a:xfrm>
          <a:prstGeom prst="line">
            <a:avLst/>
          </a:prstGeom>
          <a:ln w="190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Rectangle 62"/>
          <p:cNvSpPr/>
          <p:nvPr/>
        </p:nvSpPr>
        <p:spPr>
          <a:xfrm>
            <a:off x="17873548" y="6227350"/>
            <a:ext cx="751179" cy="392905"/>
          </a:xfrm>
          <a:prstGeom prst="rect">
            <a:avLst/>
          </a:prstGeom>
          <a:solidFill>
            <a:srgbClr val="FFC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4" name="TextBox 63"/>
          <p:cNvSpPr txBox="1"/>
          <p:nvPr/>
        </p:nvSpPr>
        <p:spPr>
          <a:xfrm>
            <a:off x="17643348" y="9290304"/>
            <a:ext cx="12115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Beeline Sans"/>
              </a:rPr>
              <a:t>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7643348" y="5751862"/>
            <a:ext cx="121158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900" b="1" i="0">
                <a:solidFill>
                  <a:srgbClr val="141414"/>
                </a:solidFill>
                <a:latin typeface="Beeline Sans"/>
              </a:rPr>
              <a:t>187 км</a:t>
            </a:r>
          </a:p>
        </p:txBody>
      </p:sp>
      <p:cxnSp>
        <p:nvCxnSpPr>
          <p:cNvPr id="66" name="Connector 65"/>
          <p:cNvCxnSpPr/>
          <p:nvPr/>
        </p:nvCxnSpPr>
        <p:spPr>
          <a:xfrm>
            <a:off x="17037558" y="4876799"/>
            <a:ext cx="1211580" cy="133082"/>
          </a:xfrm>
          <a:prstGeom prst="line">
            <a:avLst/>
          </a:prstGeom>
          <a:ln w="44450">
            <a:solidFill>
              <a:srgbClr val="14141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TextBox 66"/>
          <p:cNvSpPr txBox="1"/>
          <p:nvPr/>
        </p:nvSpPr>
        <p:spPr>
          <a:xfrm>
            <a:off x="17643348" y="4461241"/>
            <a:ext cx="121158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900" b="1" i="0">
                <a:solidFill>
                  <a:srgbClr val="141414"/>
                </a:solidFill>
                <a:latin typeface="Beeline Sans"/>
              </a:rPr>
              <a:t>4,44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7643348" y="10168128"/>
            <a:ext cx="12115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200" b="0" i="0">
                <a:solidFill>
                  <a:srgbClr val="141414"/>
                </a:solidFill>
                <a:latin typeface="Beeline Sans"/>
              </a:rPr>
              <a:t>20</a:t>
            </a:r>
          </a:p>
        </p:txBody>
      </p:sp>
      <p:sp>
        <p:nvSpPr>
          <p:cNvPr id="69" name="Rectangle 68"/>
          <p:cNvSpPr/>
          <p:nvPr/>
        </p:nvSpPr>
        <p:spPr>
          <a:xfrm>
            <a:off x="19085128" y="6620256"/>
            <a:ext cx="751179" cy="3438144"/>
          </a:xfrm>
          <a:prstGeom prst="rect">
            <a:avLst/>
          </a:prstGeom>
          <a:solidFill>
            <a:srgbClr val="5E5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70" name="Connector 69"/>
          <p:cNvCxnSpPr/>
          <p:nvPr/>
        </p:nvCxnSpPr>
        <p:spPr>
          <a:xfrm>
            <a:off x="19085128" y="9628632"/>
            <a:ext cx="751179" cy="0"/>
          </a:xfrm>
          <a:prstGeom prst="line">
            <a:avLst/>
          </a:prstGeom>
          <a:ln w="190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>
            <a:off x="19085128" y="9198864"/>
            <a:ext cx="751179" cy="0"/>
          </a:xfrm>
          <a:prstGeom prst="line">
            <a:avLst/>
          </a:prstGeom>
          <a:ln w="190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>
            <a:off x="19085128" y="8769096"/>
            <a:ext cx="751179" cy="0"/>
          </a:xfrm>
          <a:prstGeom prst="line">
            <a:avLst/>
          </a:prstGeom>
          <a:ln w="190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>
            <a:off x="19085128" y="8339328"/>
            <a:ext cx="751179" cy="0"/>
          </a:xfrm>
          <a:prstGeom prst="line">
            <a:avLst/>
          </a:prstGeom>
          <a:ln w="190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>
            <a:off x="19085128" y="7909560"/>
            <a:ext cx="751179" cy="0"/>
          </a:xfrm>
          <a:prstGeom prst="line">
            <a:avLst/>
          </a:prstGeom>
          <a:ln w="190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>
            <a:off x="19085128" y="7479792"/>
            <a:ext cx="751179" cy="0"/>
          </a:xfrm>
          <a:prstGeom prst="line">
            <a:avLst/>
          </a:prstGeom>
          <a:ln w="190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>
            <a:off x="19085128" y="7050024"/>
            <a:ext cx="751179" cy="0"/>
          </a:xfrm>
          <a:prstGeom prst="line">
            <a:avLst/>
          </a:prstGeom>
          <a:ln w="190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Rectangle 76"/>
          <p:cNvSpPr/>
          <p:nvPr/>
        </p:nvSpPr>
        <p:spPr>
          <a:xfrm>
            <a:off x="19085128" y="6244798"/>
            <a:ext cx="751179" cy="375457"/>
          </a:xfrm>
          <a:prstGeom prst="rect">
            <a:avLst/>
          </a:prstGeom>
          <a:solidFill>
            <a:srgbClr val="FFC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8" name="TextBox 77"/>
          <p:cNvSpPr txBox="1"/>
          <p:nvPr/>
        </p:nvSpPr>
        <p:spPr>
          <a:xfrm>
            <a:off x="18854927" y="9290304"/>
            <a:ext cx="12115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Beeline Sans"/>
              </a:rPr>
              <a:t>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8854927" y="5769310"/>
            <a:ext cx="121158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900" b="1" i="0">
                <a:solidFill>
                  <a:srgbClr val="141414"/>
                </a:solidFill>
                <a:latin typeface="Beeline Sans"/>
              </a:rPr>
              <a:t>179 км</a:t>
            </a:r>
          </a:p>
        </p:txBody>
      </p:sp>
      <p:cxnSp>
        <p:nvCxnSpPr>
          <p:cNvPr id="80" name="Connector 79"/>
          <p:cNvCxnSpPr/>
          <p:nvPr/>
        </p:nvCxnSpPr>
        <p:spPr>
          <a:xfrm>
            <a:off x="18249138" y="5009881"/>
            <a:ext cx="1211580" cy="90152"/>
          </a:xfrm>
          <a:prstGeom prst="line">
            <a:avLst/>
          </a:prstGeom>
          <a:ln w="44450">
            <a:solidFill>
              <a:srgbClr val="14141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TextBox 80"/>
          <p:cNvSpPr txBox="1"/>
          <p:nvPr/>
        </p:nvSpPr>
        <p:spPr>
          <a:xfrm>
            <a:off x="18854927" y="4551393"/>
            <a:ext cx="121158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900" b="1" i="0">
                <a:solidFill>
                  <a:srgbClr val="141414"/>
                </a:solidFill>
                <a:latin typeface="Beeline Sans"/>
              </a:rPr>
              <a:t>4,42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8854927" y="10168128"/>
            <a:ext cx="12115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200" b="0" i="0">
                <a:solidFill>
                  <a:srgbClr val="141414"/>
                </a:solidFill>
                <a:latin typeface="Beeline Sans"/>
              </a:rPr>
              <a:t>23</a:t>
            </a:r>
          </a:p>
        </p:txBody>
      </p:sp>
      <p:sp>
        <p:nvSpPr>
          <p:cNvPr id="83" name="Rectangle 82"/>
          <p:cNvSpPr/>
          <p:nvPr/>
        </p:nvSpPr>
        <p:spPr>
          <a:xfrm>
            <a:off x="20296708" y="6620256"/>
            <a:ext cx="751179" cy="3438144"/>
          </a:xfrm>
          <a:prstGeom prst="rect">
            <a:avLst/>
          </a:prstGeom>
          <a:solidFill>
            <a:srgbClr val="5E5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84" name="Connector 83"/>
          <p:cNvCxnSpPr/>
          <p:nvPr/>
        </p:nvCxnSpPr>
        <p:spPr>
          <a:xfrm>
            <a:off x="20296708" y="9628632"/>
            <a:ext cx="751179" cy="0"/>
          </a:xfrm>
          <a:prstGeom prst="line">
            <a:avLst/>
          </a:prstGeom>
          <a:ln w="190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>
            <a:off x="20296708" y="9198864"/>
            <a:ext cx="751179" cy="0"/>
          </a:xfrm>
          <a:prstGeom prst="line">
            <a:avLst/>
          </a:prstGeom>
          <a:ln w="190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>
            <a:off x="20296708" y="8769096"/>
            <a:ext cx="751179" cy="0"/>
          </a:xfrm>
          <a:prstGeom prst="line">
            <a:avLst/>
          </a:prstGeom>
          <a:ln w="190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>
            <a:off x="20296708" y="8339328"/>
            <a:ext cx="751179" cy="0"/>
          </a:xfrm>
          <a:prstGeom prst="line">
            <a:avLst/>
          </a:prstGeom>
          <a:ln w="190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>
            <a:off x="20296708" y="7909560"/>
            <a:ext cx="751179" cy="0"/>
          </a:xfrm>
          <a:prstGeom prst="line">
            <a:avLst/>
          </a:prstGeom>
          <a:ln w="190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>
            <a:off x="20296708" y="7479792"/>
            <a:ext cx="751179" cy="0"/>
          </a:xfrm>
          <a:prstGeom prst="line">
            <a:avLst/>
          </a:prstGeom>
          <a:ln w="190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>
            <a:off x="20296708" y="7050024"/>
            <a:ext cx="751179" cy="0"/>
          </a:xfrm>
          <a:prstGeom prst="line">
            <a:avLst/>
          </a:prstGeom>
          <a:ln w="190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Rectangle 90"/>
          <p:cNvSpPr/>
          <p:nvPr/>
        </p:nvSpPr>
        <p:spPr>
          <a:xfrm>
            <a:off x="20296708" y="6238702"/>
            <a:ext cx="751179" cy="381553"/>
          </a:xfrm>
          <a:prstGeom prst="rect">
            <a:avLst/>
          </a:prstGeom>
          <a:solidFill>
            <a:srgbClr val="FFC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2" name="TextBox 91"/>
          <p:cNvSpPr txBox="1"/>
          <p:nvPr/>
        </p:nvSpPr>
        <p:spPr>
          <a:xfrm>
            <a:off x="20066508" y="9290304"/>
            <a:ext cx="12115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Beeline Sans"/>
              </a:rPr>
              <a:t>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20066508" y="5763214"/>
            <a:ext cx="121158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900" b="1" i="0">
                <a:solidFill>
                  <a:srgbClr val="141414"/>
                </a:solidFill>
                <a:latin typeface="Beeline Sans"/>
              </a:rPr>
              <a:t>182 км</a:t>
            </a:r>
          </a:p>
        </p:txBody>
      </p:sp>
      <p:cxnSp>
        <p:nvCxnSpPr>
          <p:cNvPr id="94" name="Connector 93"/>
          <p:cNvCxnSpPr/>
          <p:nvPr/>
        </p:nvCxnSpPr>
        <p:spPr>
          <a:xfrm>
            <a:off x="19460718" y="5100033"/>
            <a:ext cx="1211580" cy="60102"/>
          </a:xfrm>
          <a:prstGeom prst="line">
            <a:avLst/>
          </a:prstGeom>
          <a:ln w="44450">
            <a:solidFill>
              <a:srgbClr val="14141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TextBox 94"/>
          <p:cNvSpPr txBox="1"/>
          <p:nvPr/>
        </p:nvSpPr>
        <p:spPr>
          <a:xfrm>
            <a:off x="20066508" y="4611495"/>
            <a:ext cx="121158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900" b="1" i="0">
                <a:solidFill>
                  <a:srgbClr val="141414"/>
                </a:solidFill>
                <a:latin typeface="Beeline Sans"/>
              </a:rPr>
              <a:t>4,41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20066508" y="10168128"/>
            <a:ext cx="12115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200" b="0" i="0">
                <a:solidFill>
                  <a:srgbClr val="141414"/>
                </a:solidFill>
                <a:latin typeface="Beeline Sans"/>
              </a:rPr>
              <a:t>26</a:t>
            </a:r>
          </a:p>
        </p:txBody>
      </p:sp>
      <p:sp>
        <p:nvSpPr>
          <p:cNvPr id="97" name="Rectangle 96"/>
          <p:cNvSpPr/>
          <p:nvPr/>
        </p:nvSpPr>
        <p:spPr>
          <a:xfrm>
            <a:off x="21508288" y="6620256"/>
            <a:ext cx="751179" cy="3438144"/>
          </a:xfrm>
          <a:prstGeom prst="rect">
            <a:avLst/>
          </a:prstGeom>
          <a:solidFill>
            <a:srgbClr val="5E5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98" name="Connector 97"/>
          <p:cNvCxnSpPr/>
          <p:nvPr/>
        </p:nvCxnSpPr>
        <p:spPr>
          <a:xfrm>
            <a:off x="21508288" y="9628632"/>
            <a:ext cx="751179" cy="0"/>
          </a:xfrm>
          <a:prstGeom prst="line">
            <a:avLst/>
          </a:prstGeom>
          <a:ln w="190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Connector 98"/>
          <p:cNvCxnSpPr/>
          <p:nvPr/>
        </p:nvCxnSpPr>
        <p:spPr>
          <a:xfrm>
            <a:off x="21508288" y="9198864"/>
            <a:ext cx="751179" cy="0"/>
          </a:xfrm>
          <a:prstGeom prst="line">
            <a:avLst/>
          </a:prstGeom>
          <a:ln w="190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Connector 99"/>
          <p:cNvCxnSpPr/>
          <p:nvPr/>
        </p:nvCxnSpPr>
        <p:spPr>
          <a:xfrm>
            <a:off x="21508288" y="8769096"/>
            <a:ext cx="751179" cy="0"/>
          </a:xfrm>
          <a:prstGeom prst="line">
            <a:avLst/>
          </a:prstGeom>
          <a:ln w="190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 100"/>
          <p:cNvCxnSpPr/>
          <p:nvPr/>
        </p:nvCxnSpPr>
        <p:spPr>
          <a:xfrm>
            <a:off x="21508288" y="8339328"/>
            <a:ext cx="751179" cy="0"/>
          </a:xfrm>
          <a:prstGeom prst="line">
            <a:avLst/>
          </a:prstGeom>
          <a:ln w="190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Connector 101"/>
          <p:cNvCxnSpPr/>
          <p:nvPr/>
        </p:nvCxnSpPr>
        <p:spPr>
          <a:xfrm>
            <a:off x="21508288" y="7909560"/>
            <a:ext cx="751179" cy="0"/>
          </a:xfrm>
          <a:prstGeom prst="line">
            <a:avLst/>
          </a:prstGeom>
          <a:ln w="190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Connector 102"/>
          <p:cNvCxnSpPr/>
          <p:nvPr/>
        </p:nvCxnSpPr>
        <p:spPr>
          <a:xfrm>
            <a:off x="21508288" y="7479792"/>
            <a:ext cx="751179" cy="0"/>
          </a:xfrm>
          <a:prstGeom prst="line">
            <a:avLst/>
          </a:prstGeom>
          <a:ln w="190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 103"/>
          <p:cNvCxnSpPr/>
          <p:nvPr/>
        </p:nvCxnSpPr>
        <p:spPr>
          <a:xfrm>
            <a:off x="21508288" y="7050024"/>
            <a:ext cx="751179" cy="0"/>
          </a:xfrm>
          <a:prstGeom prst="line">
            <a:avLst/>
          </a:prstGeom>
          <a:ln w="190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" name="Rectangle 104"/>
          <p:cNvSpPr/>
          <p:nvPr/>
        </p:nvSpPr>
        <p:spPr>
          <a:xfrm>
            <a:off x="21508288" y="6235759"/>
            <a:ext cx="751179" cy="384496"/>
          </a:xfrm>
          <a:prstGeom prst="rect">
            <a:avLst/>
          </a:prstGeom>
          <a:solidFill>
            <a:srgbClr val="FFC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" name="TextBox 105"/>
          <p:cNvSpPr txBox="1"/>
          <p:nvPr/>
        </p:nvSpPr>
        <p:spPr>
          <a:xfrm>
            <a:off x="21278087" y="9290304"/>
            <a:ext cx="12115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Beeline Sans"/>
              </a:rPr>
              <a:t>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21278087" y="5760271"/>
            <a:ext cx="121158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900" b="1" i="0">
                <a:solidFill>
                  <a:srgbClr val="141414"/>
                </a:solidFill>
                <a:latin typeface="Beeline Sans"/>
              </a:rPr>
              <a:t>183 км</a:t>
            </a:r>
          </a:p>
        </p:txBody>
      </p:sp>
      <p:cxnSp>
        <p:nvCxnSpPr>
          <p:cNvPr id="108" name="Connector 107"/>
          <p:cNvCxnSpPr/>
          <p:nvPr/>
        </p:nvCxnSpPr>
        <p:spPr>
          <a:xfrm>
            <a:off x="20672298" y="5160135"/>
            <a:ext cx="1211579" cy="326265"/>
          </a:xfrm>
          <a:prstGeom prst="line">
            <a:avLst/>
          </a:prstGeom>
          <a:ln w="44450">
            <a:solidFill>
              <a:srgbClr val="14141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9" name="TextBox 108"/>
          <p:cNvSpPr txBox="1"/>
          <p:nvPr/>
        </p:nvSpPr>
        <p:spPr>
          <a:xfrm>
            <a:off x="21278087" y="4937760"/>
            <a:ext cx="121158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900" b="1" i="0">
                <a:solidFill>
                  <a:srgbClr val="141414"/>
                </a:solidFill>
                <a:latin typeface="Beeline Sans"/>
              </a:rPr>
              <a:t>4,33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21278087" y="10168128"/>
            <a:ext cx="12115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200" b="0" i="0">
                <a:solidFill>
                  <a:srgbClr val="141414"/>
                </a:solidFill>
                <a:latin typeface="Beeline Sans"/>
              </a:rPr>
              <a:t>29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22719868" y="6620256"/>
            <a:ext cx="751179" cy="3438144"/>
          </a:xfrm>
          <a:prstGeom prst="rect">
            <a:avLst/>
          </a:prstGeom>
          <a:solidFill>
            <a:srgbClr val="5E5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112" name="Connector 111"/>
          <p:cNvCxnSpPr/>
          <p:nvPr/>
        </p:nvCxnSpPr>
        <p:spPr>
          <a:xfrm>
            <a:off x="22719868" y="9628632"/>
            <a:ext cx="751179" cy="0"/>
          </a:xfrm>
          <a:prstGeom prst="line">
            <a:avLst/>
          </a:prstGeom>
          <a:ln w="190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Connector 112"/>
          <p:cNvCxnSpPr/>
          <p:nvPr/>
        </p:nvCxnSpPr>
        <p:spPr>
          <a:xfrm>
            <a:off x="22719868" y="9198864"/>
            <a:ext cx="751179" cy="0"/>
          </a:xfrm>
          <a:prstGeom prst="line">
            <a:avLst/>
          </a:prstGeom>
          <a:ln w="190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 113"/>
          <p:cNvCxnSpPr/>
          <p:nvPr/>
        </p:nvCxnSpPr>
        <p:spPr>
          <a:xfrm>
            <a:off x="22719868" y="8769096"/>
            <a:ext cx="751179" cy="0"/>
          </a:xfrm>
          <a:prstGeom prst="line">
            <a:avLst/>
          </a:prstGeom>
          <a:ln w="190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Connector 114"/>
          <p:cNvCxnSpPr/>
          <p:nvPr/>
        </p:nvCxnSpPr>
        <p:spPr>
          <a:xfrm>
            <a:off x="22719868" y="8339328"/>
            <a:ext cx="751179" cy="0"/>
          </a:xfrm>
          <a:prstGeom prst="line">
            <a:avLst/>
          </a:prstGeom>
          <a:ln w="190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" name="Connector 115"/>
          <p:cNvCxnSpPr/>
          <p:nvPr/>
        </p:nvCxnSpPr>
        <p:spPr>
          <a:xfrm>
            <a:off x="22719868" y="7909560"/>
            <a:ext cx="751179" cy="0"/>
          </a:xfrm>
          <a:prstGeom prst="line">
            <a:avLst/>
          </a:prstGeom>
          <a:ln w="190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Connector 116"/>
          <p:cNvCxnSpPr/>
          <p:nvPr/>
        </p:nvCxnSpPr>
        <p:spPr>
          <a:xfrm>
            <a:off x="22719868" y="7479792"/>
            <a:ext cx="751179" cy="0"/>
          </a:xfrm>
          <a:prstGeom prst="line">
            <a:avLst/>
          </a:prstGeom>
          <a:ln w="190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Connector 117"/>
          <p:cNvCxnSpPr/>
          <p:nvPr/>
        </p:nvCxnSpPr>
        <p:spPr>
          <a:xfrm>
            <a:off x="22719868" y="7050024"/>
            <a:ext cx="751179" cy="0"/>
          </a:xfrm>
          <a:prstGeom prst="line">
            <a:avLst/>
          </a:prstGeom>
          <a:ln w="190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9" name="Rectangle 118"/>
          <p:cNvSpPr/>
          <p:nvPr/>
        </p:nvSpPr>
        <p:spPr>
          <a:xfrm>
            <a:off x="22719868" y="6265190"/>
            <a:ext cx="751179" cy="355065"/>
          </a:xfrm>
          <a:prstGeom prst="rect">
            <a:avLst/>
          </a:prstGeom>
          <a:solidFill>
            <a:srgbClr val="FFC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0" name="TextBox 119"/>
          <p:cNvSpPr txBox="1"/>
          <p:nvPr/>
        </p:nvSpPr>
        <p:spPr>
          <a:xfrm>
            <a:off x="22489668" y="9290304"/>
            <a:ext cx="12115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Beeline Sans"/>
              </a:rPr>
              <a:t>8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22489668" y="5789702"/>
            <a:ext cx="121158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900" b="1" i="0">
                <a:solidFill>
                  <a:srgbClr val="141414"/>
                </a:solidFill>
                <a:latin typeface="Beeline Sans"/>
              </a:rPr>
              <a:t>169 км</a:t>
            </a:r>
          </a:p>
        </p:txBody>
      </p:sp>
      <p:cxnSp>
        <p:nvCxnSpPr>
          <p:cNvPr id="122" name="Connector 121"/>
          <p:cNvCxnSpPr/>
          <p:nvPr/>
        </p:nvCxnSpPr>
        <p:spPr>
          <a:xfrm flipV="1">
            <a:off x="21883877" y="5357611"/>
            <a:ext cx="1211581" cy="128789"/>
          </a:xfrm>
          <a:prstGeom prst="line">
            <a:avLst/>
          </a:prstGeom>
          <a:ln w="44450">
            <a:solidFill>
              <a:srgbClr val="14141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3" name="TextBox 122"/>
          <p:cNvSpPr txBox="1"/>
          <p:nvPr/>
        </p:nvSpPr>
        <p:spPr>
          <a:xfrm>
            <a:off x="22489668" y="4808971"/>
            <a:ext cx="121158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900" b="1" i="0">
                <a:solidFill>
                  <a:srgbClr val="141414"/>
                </a:solidFill>
                <a:latin typeface="Beeline Sans"/>
              </a:rPr>
              <a:t>4,36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22489668" y="10168128"/>
            <a:ext cx="12115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200" b="0" i="0">
                <a:solidFill>
                  <a:srgbClr val="141414"/>
                </a:solidFill>
                <a:latin typeface="Beeline Sans"/>
              </a:rPr>
              <a:t>все</a:t>
            </a:r>
          </a:p>
        </p:txBody>
      </p:sp>
      <p:sp>
        <p:nvSpPr>
          <p:cNvPr id="125" name="Oval 124"/>
          <p:cNvSpPr/>
          <p:nvPr/>
        </p:nvSpPr>
        <p:spPr>
          <a:xfrm>
            <a:off x="14495526" y="4453128"/>
            <a:ext cx="237744" cy="237744"/>
          </a:xfrm>
          <a:prstGeom prst="ellipse">
            <a:avLst/>
          </a:prstGeom>
          <a:solidFill>
            <a:srgbClr val="FFC800"/>
          </a:solidFill>
          <a:ln w="31750">
            <a:solidFill>
              <a:srgbClr val="1414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Oval 125"/>
          <p:cNvSpPr/>
          <p:nvPr/>
        </p:nvSpPr>
        <p:spPr>
          <a:xfrm>
            <a:off x="15707106" y="4530401"/>
            <a:ext cx="237744" cy="237744"/>
          </a:xfrm>
          <a:prstGeom prst="ellipse">
            <a:avLst/>
          </a:prstGeom>
          <a:solidFill>
            <a:srgbClr val="FFFFFF"/>
          </a:solidFill>
          <a:ln w="31750">
            <a:solidFill>
              <a:srgbClr val="1414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Oval 126"/>
          <p:cNvSpPr/>
          <p:nvPr/>
        </p:nvSpPr>
        <p:spPr>
          <a:xfrm>
            <a:off x="16918686" y="4757927"/>
            <a:ext cx="237744" cy="237744"/>
          </a:xfrm>
          <a:prstGeom prst="ellipse">
            <a:avLst/>
          </a:prstGeom>
          <a:solidFill>
            <a:srgbClr val="FFFFFF"/>
          </a:solidFill>
          <a:ln w="31750">
            <a:solidFill>
              <a:srgbClr val="1414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Oval 127"/>
          <p:cNvSpPr/>
          <p:nvPr/>
        </p:nvSpPr>
        <p:spPr>
          <a:xfrm>
            <a:off x="18130266" y="4891009"/>
            <a:ext cx="237744" cy="237744"/>
          </a:xfrm>
          <a:prstGeom prst="ellipse">
            <a:avLst/>
          </a:prstGeom>
          <a:solidFill>
            <a:srgbClr val="FFFFFF"/>
          </a:solidFill>
          <a:ln w="31750">
            <a:solidFill>
              <a:srgbClr val="1414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Oval 128"/>
          <p:cNvSpPr/>
          <p:nvPr/>
        </p:nvSpPr>
        <p:spPr>
          <a:xfrm>
            <a:off x="19341846" y="4981161"/>
            <a:ext cx="237744" cy="237744"/>
          </a:xfrm>
          <a:prstGeom prst="ellipse">
            <a:avLst/>
          </a:prstGeom>
          <a:solidFill>
            <a:srgbClr val="FFFFFF"/>
          </a:solidFill>
          <a:ln w="31750">
            <a:solidFill>
              <a:srgbClr val="1414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Oval 129"/>
          <p:cNvSpPr/>
          <p:nvPr/>
        </p:nvSpPr>
        <p:spPr>
          <a:xfrm>
            <a:off x="20553426" y="5041263"/>
            <a:ext cx="237744" cy="237744"/>
          </a:xfrm>
          <a:prstGeom prst="ellipse">
            <a:avLst/>
          </a:prstGeom>
          <a:solidFill>
            <a:srgbClr val="FFFFFF"/>
          </a:solidFill>
          <a:ln w="31750">
            <a:solidFill>
              <a:srgbClr val="1414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Oval 130"/>
          <p:cNvSpPr/>
          <p:nvPr/>
        </p:nvSpPr>
        <p:spPr>
          <a:xfrm>
            <a:off x="21765006" y="5367528"/>
            <a:ext cx="237744" cy="237744"/>
          </a:xfrm>
          <a:prstGeom prst="ellipse">
            <a:avLst/>
          </a:prstGeom>
          <a:solidFill>
            <a:srgbClr val="FFFFFF"/>
          </a:solidFill>
          <a:ln w="31750">
            <a:solidFill>
              <a:srgbClr val="1414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Oval 131"/>
          <p:cNvSpPr/>
          <p:nvPr/>
        </p:nvSpPr>
        <p:spPr>
          <a:xfrm>
            <a:off x="22976586" y="5238739"/>
            <a:ext cx="237744" cy="237744"/>
          </a:xfrm>
          <a:prstGeom prst="ellipse">
            <a:avLst/>
          </a:prstGeom>
          <a:solidFill>
            <a:srgbClr val="FFFFFF"/>
          </a:solidFill>
          <a:ln w="31750">
            <a:solidFill>
              <a:srgbClr val="1414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3" name="Connector 132"/>
          <p:cNvCxnSpPr/>
          <p:nvPr/>
        </p:nvCxnSpPr>
        <p:spPr>
          <a:xfrm>
            <a:off x="14008608" y="10058400"/>
            <a:ext cx="9692640" cy="0"/>
          </a:xfrm>
          <a:prstGeom prst="line">
            <a:avLst/>
          </a:prstGeom>
          <a:ln w="19050">
            <a:solidFill>
              <a:srgbClr val="A1A1A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4" name="TextBox 133"/>
          <p:cNvSpPr txBox="1"/>
          <p:nvPr/>
        </p:nvSpPr>
        <p:spPr>
          <a:xfrm>
            <a:off x="14008608" y="10607040"/>
            <a:ext cx="9692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000" b="0" i="0">
                <a:solidFill>
                  <a:srgbClr val="5E5E5E"/>
                </a:solidFill>
                <a:latin typeface="Beeline Sans"/>
              </a:rPr>
              <a:t>лучших K из 30 по рейтингу; выбрано 11: меньше лучших не закрывают день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4008608" y="11192256"/>
            <a:ext cx="9692640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1" i="0">
                <a:solidFill>
                  <a:srgbClr val="141414"/>
                </a:solidFill>
                <a:latin typeface="Beeline Sans"/>
              </a:rPr>
              <a:t>Лучшие на день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14008608" y="11795760"/>
            <a:ext cx="96926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5E5E5E"/>
                </a:solidFill>
                <a:latin typeface="Beeline Sans"/>
              </a:rPr>
              <a:t>берём лучших по рейтингу столько, чтобы хватило на все заявки. Чем шире выбор, тем меньше нужно бригад, но ниже средний рейтинг на заявке. Восток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658368" y="12947904"/>
            <a:ext cx="1463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8C8C8C"/>
                </a:solidFill>
                <a:latin typeface="Beeline Sans"/>
              </a:rPr>
              <a:t>23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48640"/>
            <a:ext cx="1645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8C8C8C"/>
                </a:solidFill>
                <a:latin typeface="Beeline Sans"/>
              </a:rPr>
              <a:t>Второй этап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66A6096C-FC1D-1CE6-4D9A-E42A4FC258C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44260" y="531262"/>
            <a:ext cx="660947" cy="66094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" y="1133856"/>
            <a:ext cx="217627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600" b="1" i="0">
                <a:solidFill>
                  <a:srgbClr val="141414"/>
                </a:solidFill>
                <a:latin typeface="Beeline Sans"/>
              </a:rPr>
              <a:t>Дом по адресу: этаж, лифт, подъезд, пропуск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3017520"/>
            <a:ext cx="71323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41414"/>
                </a:solidFill>
                <a:latin typeface="Beeline Sans"/>
              </a:rPr>
              <a:t>Откуда берём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3840480"/>
            <a:ext cx="7132320" cy="1792224"/>
          </a:xfrm>
          <a:prstGeom prst="roundRect">
            <a:avLst>
              <a:gd name="adj" fmla="val 5000"/>
            </a:avLst>
          </a:prstGeom>
          <a:solidFill>
            <a:srgbClr val="FFC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024128" y="3986784"/>
            <a:ext cx="65836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1" i="0">
                <a:solidFill>
                  <a:srgbClr val="141414"/>
                </a:solidFill>
                <a:latin typeface="Beeline Sans"/>
              </a:rPr>
              <a:t>Кадастровая оценка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" y="4608576"/>
            <a:ext cx="658368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141414"/>
                </a:solidFill>
                <a:latin typeface="Beeline Sans"/>
              </a:rPr>
              <a:t>этаж и подъезд каждой квартиры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5888736"/>
            <a:ext cx="7132320" cy="1792224"/>
          </a:xfrm>
          <a:prstGeom prst="roundRect">
            <a:avLst>
              <a:gd name="adj" fmla="val 5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1024128" y="6035040"/>
            <a:ext cx="65836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1" i="0">
                <a:solidFill>
                  <a:srgbClr val="141414"/>
                </a:solidFill>
                <a:latin typeface="Beeline Sans"/>
              </a:rPr>
              <a:t>Реформа ЖКХ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4128" y="6656832"/>
            <a:ext cx="658368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5E5E5E"/>
                </a:solidFill>
                <a:latin typeface="Beeline Sans"/>
              </a:rPr>
              <a:t>этажность, лифты, год постройки, материал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7936992"/>
            <a:ext cx="7132320" cy="1792224"/>
          </a:xfrm>
          <a:prstGeom prst="roundRect">
            <a:avLst>
              <a:gd name="adj" fmla="val 5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1024128" y="8083296"/>
            <a:ext cx="65836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1" i="0">
                <a:solidFill>
                  <a:srgbClr val="141414"/>
                </a:solidFill>
                <a:latin typeface="Beeline Sans"/>
              </a:rPr>
              <a:t>OpenStreetMap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4128" y="8705088"/>
            <a:ext cx="658368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5E5E5E"/>
                </a:solidFill>
                <a:latin typeface="Beeline Sans"/>
              </a:rPr>
              <a:t>подъезды с координатами и номерами квартир, офисы, шлагбаумы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955279" y="6492240"/>
            <a:ext cx="731521" cy="0"/>
          </a:xfrm>
          <a:prstGeom prst="line">
            <a:avLst/>
          </a:prstGeom>
          <a:ln w="55880">
            <a:solidFill>
              <a:srgbClr val="14141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8869680" y="3017520"/>
            <a:ext cx="65836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41414"/>
                </a:solidFill>
                <a:latin typeface="Beeline Sans"/>
              </a:rPr>
              <a:t>Что знаем о заявке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869680" y="3840480"/>
            <a:ext cx="6583680" cy="5888736"/>
          </a:xfrm>
          <a:prstGeom prst="roundRect">
            <a:avLst>
              <a:gd name="adj" fmla="val 5000"/>
            </a:avLst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290304" y="4114800"/>
            <a:ext cx="5852160" cy="5486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438912" indent="-438912">
              <a:buClr>
                <a:srgbClr val="FFC800"/>
              </a:buClr>
              <a:buFont typeface="Beeline Sans"/>
              <a:buChar char="—"/>
            </a:pPr>
            <a:r>
              <a:rPr sz="2400" b="0" i="0">
                <a:solidFill>
                  <a:srgbClr val="FFFFFF"/>
                </a:solidFill>
                <a:latin typeface="Beeline Sans"/>
              </a:rPr>
              <a:t>подъезд и этаж квартиры — точка на карте у нужного подъезда</a:t>
            </a:r>
          </a:p>
          <a:p>
            <a:pPr algn="l" marL="438912" indent="-438912">
              <a:spcBef>
                <a:spcPts val="1400"/>
              </a:spcBef>
              <a:buClr>
                <a:srgbClr val="FFC800"/>
              </a:buClr>
              <a:buFont typeface="Beeline Sans"/>
              <a:buChar char="—"/>
            </a:pPr>
            <a:r>
              <a:rPr sz="2400" b="0" i="0">
                <a:solidFill>
                  <a:srgbClr val="FFFFFF"/>
                </a:solidFill>
                <a:latin typeface="Beeline Sans"/>
              </a:rPr>
              <a:t>есть ли лифт</a:t>
            </a:r>
          </a:p>
          <a:p>
            <a:pPr algn="l" marL="438912" indent="-438912">
              <a:spcBef>
                <a:spcPts val="1400"/>
              </a:spcBef>
              <a:buClr>
                <a:srgbClr val="FFC800"/>
              </a:buClr>
              <a:buFont typeface="Beeline Sans"/>
              <a:buChar char="—"/>
            </a:pPr>
            <a:r>
              <a:rPr sz="2400" b="0" i="0">
                <a:solidFill>
                  <a:srgbClr val="FFFFFF"/>
                </a:solidFill>
                <a:latin typeface="Beeline Sans"/>
              </a:rPr>
              <a:t>год постройки: старый дом или новый</a:t>
            </a:r>
          </a:p>
          <a:p>
            <a:pPr algn="l" marL="438912" indent="-438912">
              <a:spcBef>
                <a:spcPts val="1400"/>
              </a:spcBef>
              <a:buClr>
                <a:srgbClr val="FFC800"/>
              </a:buClr>
              <a:buFont typeface="Beeline Sans"/>
              <a:buChar char="—"/>
            </a:pPr>
            <a:r>
              <a:rPr sz="2400" b="0" i="0">
                <a:solidFill>
                  <a:srgbClr val="FFFFFF"/>
                </a:solidFill>
                <a:latin typeface="Beeline Sans"/>
              </a:rPr>
              <a:t>пропуск в офисное здание</a:t>
            </a:r>
          </a:p>
          <a:p>
            <a:pPr algn="l" marL="438912" indent="-438912">
              <a:spcBef>
                <a:spcPts val="1400"/>
              </a:spcBef>
              <a:buClr>
                <a:srgbClr val="FFC800"/>
              </a:buClr>
              <a:buFont typeface="Beeline Sans"/>
              <a:buChar char="—"/>
            </a:pPr>
            <a:r>
              <a:rPr sz="2400" b="0" i="0">
                <a:solidFill>
                  <a:srgbClr val="FFFFFF"/>
                </a:solidFill>
                <a:latin typeface="Beeline Sans"/>
              </a:rPr>
              <a:t>шлагбаум или закрытый двор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15636240" y="6492240"/>
            <a:ext cx="731519" cy="0"/>
          </a:xfrm>
          <a:prstGeom prst="line">
            <a:avLst/>
          </a:prstGeom>
          <a:ln w="55880">
            <a:solidFill>
              <a:srgbClr val="14141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16550640" y="3017520"/>
            <a:ext cx="71323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41414"/>
                </a:solidFill>
                <a:latin typeface="Beeline Sans"/>
              </a:rPr>
              <a:t>Как меняется длительность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16550640" y="3840480"/>
          <a:ext cx="7132320" cy="5888736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3657600"/>
                <a:gridCol w="3474720"/>
              </a:tblGrid>
              <a:tr h="841248">
                <a:tc>
                  <a:txBody>
                    <a:bodyPr wrap="square"/>
                    <a:lstStyle/>
                    <a:p>
                      <a:pPr algn="l"/>
                      <a:r>
                        <a:rPr sz="2100" b="1" i="0">
                          <a:solidFill>
                            <a:srgbClr val="FFFFFF"/>
                          </a:solidFill>
                          <a:latin typeface="Beeline Sans"/>
                        </a:rPr>
                        <a:t>Поправка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100" b="1" i="0">
                          <a:solidFill>
                            <a:srgbClr val="FFFFFF"/>
                          </a:solidFill>
                          <a:latin typeface="Beeline Sans"/>
                        </a:rPr>
                        <a:t>Сколько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141414"/>
                    </a:solidFill>
                  </a:tcPr>
                </a:tc>
              </a:tr>
              <a:tr h="841248">
                <a:tc>
                  <a:txBody>
                    <a:bodyPr wrap="square"/>
                    <a:lstStyle/>
                    <a:p>
                      <a:pPr algn="l"/>
                      <a:r>
                        <a:rPr sz="2100" b="0" i="0">
                          <a:solidFill>
                            <a:srgbClr val="141414"/>
                          </a:solidFill>
                          <a:latin typeface="Beeline Sans"/>
                        </a:rPr>
                        <a:t>подъём без лифта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100" b="0" i="0">
                          <a:solidFill>
                            <a:srgbClr val="141414"/>
                          </a:solidFill>
                          <a:latin typeface="Beeline Sans"/>
                        </a:rPr>
                        <a:t>0,5 мин × этаж × проходы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841248">
                <a:tc>
                  <a:txBody>
                    <a:bodyPr wrap="square"/>
                    <a:lstStyle/>
                    <a:p>
                      <a:pPr algn="l"/>
                      <a:r>
                        <a:rPr sz="2100" b="0" i="0">
                          <a:solidFill>
                            <a:srgbClr val="141414"/>
                          </a:solidFill>
                          <a:latin typeface="Beeline Sans"/>
                        </a:rPr>
                        <a:t>дом до 1960 года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100" b="0" i="0">
                          <a:solidFill>
                            <a:srgbClr val="141414"/>
                          </a:solidFill>
                          <a:latin typeface="Beeline Sans"/>
                        </a:rPr>
                        <a:t>×1,15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1F1F1"/>
                    </a:solidFill>
                  </a:tcPr>
                </a:tc>
              </a:tr>
              <a:tr h="841248">
                <a:tc>
                  <a:txBody>
                    <a:bodyPr wrap="square"/>
                    <a:lstStyle/>
                    <a:p>
                      <a:pPr algn="l"/>
                      <a:r>
                        <a:rPr sz="2100" b="0" i="0">
                          <a:solidFill>
                            <a:srgbClr val="141414"/>
                          </a:solidFill>
                          <a:latin typeface="Beeline Sans"/>
                        </a:rPr>
                        <a:t>дом с 2015 года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100" b="0" i="0">
                          <a:solidFill>
                            <a:srgbClr val="141414"/>
                          </a:solidFill>
                          <a:latin typeface="Beeline Sans"/>
                        </a:rPr>
                        <a:t>×0,90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841248">
                <a:tc>
                  <a:txBody>
                    <a:bodyPr wrap="square"/>
                    <a:lstStyle/>
                    <a:p>
                      <a:pPr algn="l"/>
                      <a:r>
                        <a:rPr sz="2100" b="0" i="0">
                          <a:solidFill>
                            <a:srgbClr val="141414"/>
                          </a:solidFill>
                          <a:latin typeface="Beeline Sans"/>
                        </a:rPr>
                        <a:t>гигабит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100" b="0" i="0">
                          <a:solidFill>
                            <a:srgbClr val="141414"/>
                          </a:solidFill>
                          <a:latin typeface="Beeline Sans"/>
                        </a:rPr>
                        <a:t>+10 мин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1F1F1"/>
                    </a:solidFill>
                  </a:tcPr>
                </a:tc>
              </a:tr>
              <a:tr h="841248">
                <a:tc>
                  <a:txBody>
                    <a:bodyPr wrap="square"/>
                    <a:lstStyle/>
                    <a:p>
                      <a:pPr algn="l"/>
                      <a:r>
                        <a:rPr sz="2100" b="0" i="0">
                          <a:solidFill>
                            <a:srgbClr val="141414"/>
                          </a:solidFill>
                          <a:latin typeface="Beeline Sans"/>
                        </a:rPr>
                        <a:t>пропуск в офис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100" b="0" i="0">
                          <a:solidFill>
                            <a:srgbClr val="141414"/>
                          </a:solidFill>
                          <a:latin typeface="Beeline Sans"/>
                        </a:rPr>
                        <a:t>+5 мин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841248">
                <a:tc>
                  <a:txBody>
                    <a:bodyPr wrap="square"/>
                    <a:lstStyle/>
                    <a:p>
                      <a:pPr algn="l"/>
                      <a:r>
                        <a:rPr sz="2100" b="0" i="0">
                          <a:solidFill>
                            <a:srgbClr val="141414"/>
                          </a:solidFill>
                          <a:latin typeface="Beeline Sans"/>
                        </a:rPr>
                        <a:t>шлагбаум (машина)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100" b="0" i="0">
                          <a:solidFill>
                            <a:srgbClr val="141414"/>
                          </a:solidFill>
                          <a:latin typeface="Beeline Sans"/>
                        </a:rPr>
                        <a:t>+3 мин к дороге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1F1F1"/>
                    </a:solidFill>
                  </a:tcPr>
                </a:tc>
              </a:tr>
            </a:tbl>
          </a:graphicData>
        </a:graphic>
      </p:graphicFrame>
      <p:sp>
        <p:nvSpPr>
          <p:cNvPr id="24" name="TextBox 23"/>
          <p:cNvSpPr txBox="1"/>
          <p:nvPr/>
        </p:nvSpPr>
        <p:spPr>
          <a:xfrm>
            <a:off x="658368" y="12947904"/>
            <a:ext cx="1463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8C8C8C"/>
                </a:solidFill>
                <a:latin typeface="Beeline Sans"/>
              </a:rPr>
              <a:t>24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48640"/>
            <a:ext cx="1645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8C8C8C"/>
                </a:solidFill>
                <a:latin typeface="Beeline Sans"/>
              </a:rPr>
              <a:t>Второй этап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66A6096C-FC1D-1CE6-4D9A-E42A4FC258C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44260" y="531262"/>
            <a:ext cx="660947" cy="66094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" y="1133856"/>
            <a:ext cx="217627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600" b="1" i="0">
                <a:solidFill>
                  <a:srgbClr val="141414"/>
                </a:solidFill>
                <a:latin typeface="Beeline Sans"/>
              </a:rPr>
              <a:t>Сложность работ и уточнение по историческим данным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3108960"/>
            <a:ext cx="11521440" cy="9235440"/>
          </a:xfrm>
          <a:prstGeom prst="roundRect">
            <a:avLst>
              <a:gd name="adj" fmla="val 5000"/>
            </a:avLst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207008" y="3438144"/>
            <a:ext cx="106070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FFC800"/>
                </a:solidFill>
                <a:latin typeface="Beeline Sans"/>
              </a:rPr>
              <a:t>Длительность работы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07008" y="4169663"/>
            <a:ext cx="106070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0" i="0">
                <a:solidFill>
                  <a:srgbClr val="FFFFFF"/>
                </a:solidFill>
                <a:latin typeface="Beeline Sans Black"/>
              </a:rPr>
              <a:t>t = (норматив × k работы × k дома + минуты) × темп бригады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07008" y="5029200"/>
            <a:ext cx="1060704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A1A1A1"/>
                </a:solidFill>
                <a:latin typeface="Beeline Sans"/>
              </a:rPr>
              <a:t>k работы: подтип (гигабит, пакет услуг, нет связи). k дома: старый или новый. Минуты: этаж без лифта, пропуск, гигабит. В карточке заявки видно, из чего сложилось время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07008" y="6309360"/>
            <a:ext cx="106070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FFC800"/>
                </a:solidFill>
                <a:latin typeface="Beeline Sans"/>
              </a:rPr>
              <a:t>Каждый выезд: r = факт / прогноз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8" y="7040880"/>
            <a:ext cx="106070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0" i="0">
                <a:solidFill>
                  <a:srgbClr val="FFFFFF"/>
                </a:solidFill>
                <a:latin typeface="Beeline Sans Black"/>
              </a:rPr>
              <a:t>k ← k × exp( Σ ln r / (n + 8) 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07008" y="8503920"/>
            <a:ext cx="10607040" cy="365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438912" indent="-438912">
              <a:buClr>
                <a:srgbClr val="FFC800"/>
              </a:buClr>
              <a:buFont typeface="Beeline Sans"/>
              <a:buChar char="—"/>
            </a:pPr>
            <a:r>
              <a:rPr sz="2500" b="0" i="0">
                <a:solidFill>
                  <a:srgbClr val="FFFFFF"/>
                </a:solidFill>
                <a:latin typeface="Beeline Sans"/>
              </a:rPr>
              <a:t>8 условных выездов «как сейчас»: пока фактов мало, k почти не меняется</a:t>
            </a:r>
          </a:p>
          <a:p>
            <a:pPr algn="l" marL="438912" indent="-438912">
              <a:spcBef>
                <a:spcPts val="1400"/>
              </a:spcBef>
              <a:buClr>
                <a:srgbClr val="FFC800"/>
              </a:buClr>
              <a:buFont typeface="Beeline Sans"/>
              <a:buChar char="—"/>
            </a:pPr>
            <a:r>
              <a:rPr sz="2500" b="0" i="0">
                <a:solidFill>
                  <a:srgbClr val="FFFFFF"/>
                </a:solidFill>
                <a:latin typeface="Beeline Sans"/>
              </a:rPr>
              <a:t>по шагам: подтип работы, затем тип дома, затем темп каждой бригады</a:t>
            </a:r>
          </a:p>
          <a:p>
            <a:pPr algn="l" marL="438912" indent="-438912">
              <a:spcBef>
                <a:spcPts val="1400"/>
              </a:spcBef>
              <a:buClr>
                <a:srgbClr val="FFC800"/>
              </a:buClr>
              <a:buFont typeface="Beeline Sans"/>
              <a:buChar char="—"/>
            </a:pPr>
            <a:r>
              <a:rPr sz="2500" b="0" i="0">
                <a:solidFill>
                  <a:srgbClr val="FFFFFF"/>
                </a:solidFill>
                <a:latin typeface="Beeline Sans"/>
              </a:rPr>
              <a:t>минуты не уточняем: по длительности всей работы их не отделить</a:t>
            </a:r>
          </a:p>
          <a:p>
            <a:pPr algn="l" marL="438912" indent="-438912">
              <a:spcBef>
                <a:spcPts val="1400"/>
              </a:spcBef>
              <a:buClr>
                <a:srgbClr val="FFC800"/>
              </a:buClr>
              <a:buFont typeface="Beeline Sans"/>
              <a:buChar char="—"/>
            </a:pPr>
            <a:r>
              <a:rPr sz="2500" b="0" i="0">
                <a:solidFill>
                  <a:srgbClr val="FFFFFF"/>
                </a:solidFill>
                <a:latin typeface="Beeline Sans"/>
              </a:rPr>
              <a:t>факты: история выездов и отметки «Приехал / Закончил» с экрана инженера</a:t>
            </a:r>
          </a:p>
        </p:txBody>
      </p:sp>
      <p:graphicFrame>
        <p:nvGraphicFramePr>
          <p:cNvPr id="14" name="Chart 13"/>
          <p:cNvGraphicFramePr>
            <a:graphicFrameLocks noGrp="1"/>
          </p:cNvGraphicFramePr>
          <p:nvPr/>
        </p:nvGraphicFramePr>
        <p:xfrm>
          <a:off x="12710160" y="3017520"/>
          <a:ext cx="10972800" cy="60350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12893040" y="9052560"/>
            <a:ext cx="107899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0" i="0">
                <a:solidFill>
                  <a:srgbClr val="5E5E5E"/>
                </a:solidFill>
                <a:latin typeface="Beeline Sans"/>
              </a:rPr>
              <a:t>проверка: синтетическая история, 30 дней; учим на 24, проверяем на 6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2710160" y="9784080"/>
            <a:ext cx="5303520" cy="2560320"/>
          </a:xfrm>
          <a:prstGeom prst="roundRect">
            <a:avLst>
              <a:gd name="adj" fmla="val 5000"/>
            </a:avLst>
          </a:prstGeom>
          <a:solidFill>
            <a:srgbClr val="FFC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13075920" y="9912096"/>
            <a:ext cx="475488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0" i="0">
                <a:solidFill>
                  <a:srgbClr val="141414"/>
                </a:solidFill>
                <a:latin typeface="Beeline Sans Black"/>
              </a:rPr>
              <a:t>11,4 → 9,6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075920" y="10936224"/>
            <a:ext cx="475488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0" i="0">
                <a:solidFill>
                  <a:srgbClr val="141414"/>
                </a:solidFill>
                <a:latin typeface="Beeline Sans"/>
              </a:rPr>
              <a:t>мин — ошибка прогноза длительности на отложенных днях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8288000" y="9784080"/>
            <a:ext cx="5303520" cy="2560320"/>
          </a:xfrm>
          <a:prstGeom prst="roundRect">
            <a:avLst>
              <a:gd name="adj" fmla="val 5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18653760" y="9912096"/>
            <a:ext cx="475488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0" i="0">
                <a:solidFill>
                  <a:srgbClr val="141414"/>
                </a:solidFill>
                <a:latin typeface="Beeline Sans Black"/>
              </a:rPr>
              <a:t>9 бригад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653760" y="10936224"/>
            <a:ext cx="475488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0" i="0">
                <a:solidFill>
                  <a:srgbClr val="141414"/>
                </a:solidFill>
                <a:latin typeface="Beeline Sans"/>
              </a:rPr>
              <a:t>на Востоке по 3600 выездам: работы дольше норматива, и план это учитывает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" y="12947904"/>
            <a:ext cx="1463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8C8C8C"/>
                </a:solidFill>
                <a:latin typeface="Beeline Sans"/>
              </a:rPr>
              <a:t>25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48640"/>
            <a:ext cx="1645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8C8C8C"/>
                </a:solidFill>
                <a:latin typeface="Beeline Sans"/>
              </a:rPr>
              <a:t>Второй этап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66A6096C-FC1D-1CE6-4D9A-E42A4FC258C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44260" y="531262"/>
            <a:ext cx="660947" cy="66094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" y="1133856"/>
            <a:ext cx="217627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600" b="1" i="0">
                <a:solidFill>
                  <a:srgbClr val="141414"/>
                </a:solidFill>
                <a:latin typeface="Beeline Sans"/>
              </a:rPr>
              <a:t>Старт из дома: дорога до первого адреса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658368" y="3017520"/>
          <a:ext cx="14630400" cy="84124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58368" y="11521440"/>
            <a:ext cx="146304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0" i="0">
                <a:solidFill>
                  <a:srgbClr val="8C8C8C"/>
                </a:solidFill>
                <a:latin typeface="Beeline Sans"/>
              </a:rPr>
              <a:t>минут в среднем до первого адреса бригады — те же адреса плана; «из офиса» — если бы бригады выезжали из офиса участка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5819120" y="3108960"/>
            <a:ext cx="7863840" cy="2468880"/>
          </a:xfrm>
          <a:prstGeom prst="roundRect">
            <a:avLst>
              <a:gd name="adj" fmla="val 5000"/>
            </a:avLst>
          </a:prstGeom>
          <a:solidFill>
            <a:srgbClr val="FFC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16276320" y="3291840"/>
            <a:ext cx="71323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200" b="0" i="0">
                <a:solidFill>
                  <a:srgbClr val="141414"/>
                </a:solidFill>
                <a:latin typeface="Beeline Sans Black"/>
              </a:rPr>
              <a:t>18 мин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76320" y="4425696"/>
            <a:ext cx="71323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141414"/>
                </a:solidFill>
                <a:latin typeface="Beeline Sans"/>
              </a:rPr>
              <a:t>в среднем до первого адреса из дома; из офиса было бы 32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5819120" y="5852160"/>
            <a:ext cx="7863840" cy="2468880"/>
          </a:xfrm>
          <a:prstGeom prst="roundRect">
            <a:avLst>
              <a:gd name="adj" fmla="val 5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16276320" y="6035040"/>
            <a:ext cx="71323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200" b="0" i="0">
                <a:solidFill>
                  <a:srgbClr val="141414"/>
                </a:solidFill>
                <a:latin typeface="Beeline Sans Black"/>
              </a:rPr>
              <a:t>−62%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76320" y="7168896"/>
            <a:ext cx="71323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141414"/>
                </a:solidFill>
                <a:latin typeface="Beeline Sans"/>
              </a:rPr>
              <a:t>утреннего пробега: 217 км вместо 574 по шести участкам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5819120" y="8595360"/>
            <a:ext cx="7863840" cy="2468880"/>
          </a:xfrm>
          <a:prstGeom prst="roundRect">
            <a:avLst>
              <a:gd name="adj" fmla="val 5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16276320" y="8778240"/>
            <a:ext cx="71323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200" b="0" i="0">
                <a:solidFill>
                  <a:srgbClr val="141414"/>
                </a:solidFill>
                <a:latin typeface="Beeline Sans Black"/>
              </a:rPr>
              <a:t>с места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76320" y="9912096"/>
            <a:ext cx="71323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141414"/>
                </a:solidFill>
                <a:latin typeface="Beeline Sans"/>
              </a:rPr>
              <a:t>перепланирование — от того, где бригада сейчас: дома, в пути или у клиента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" y="12947904"/>
            <a:ext cx="1463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8C8C8C"/>
                </a:solidFill>
                <a:latin typeface="Beeline Sans"/>
              </a:rPr>
              <a:t>26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48640"/>
            <a:ext cx="1645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8C8C8C"/>
                </a:solidFill>
                <a:latin typeface="Beeline Sans"/>
              </a:rPr>
              <a:t>Второй этап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66A6096C-FC1D-1CE6-4D9A-E42A4FC258C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44260" y="531262"/>
            <a:ext cx="660947" cy="66094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" y="1133856"/>
            <a:ext cx="217627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600" b="1" i="0">
                <a:solidFill>
                  <a:srgbClr val="141414"/>
                </a:solidFill>
                <a:latin typeface="Beeline Sans"/>
              </a:rPr>
              <a:t>Старт из дома и авария в пути</a:t>
            </a:r>
          </a:p>
        </p:txBody>
      </p:sp>
      <p:pic>
        <p:nvPicPr>
          <p:cNvPr id="7" name="Picture 6" descr="homes_fu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3017520"/>
            <a:ext cx="11247119" cy="7029449"/>
          </a:xfrm>
          <a:prstGeom prst="roundRect">
            <a:avLst>
              <a:gd name="adj" fmla="val 2000"/>
            </a:avLst>
          </a:prstGeom>
          <a:ln w="19050">
            <a:solidFill>
              <a:srgbClr val="F1F1F1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658368" y="10369296"/>
            <a:ext cx="11247119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1" i="0">
                <a:solidFill>
                  <a:srgbClr val="141414"/>
                </a:solidFill>
                <a:latin typeface="Beeline Sans"/>
              </a:rPr>
              <a:t>Старт из дома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0972800"/>
            <a:ext cx="11247119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5E5E5E"/>
                </a:solidFill>
                <a:latin typeface="Beeline Sans"/>
              </a:rPr>
              <a:t>каждая бригада начинает день из дома — значки на карте. Справа — откуда выезжает бригада и сколько ехать до первого адреса</a:t>
            </a:r>
          </a:p>
        </p:txBody>
      </p:sp>
      <p:pic>
        <p:nvPicPr>
          <p:cNvPr id="10" name="Picture 9" descr="tur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454128" y="3017520"/>
            <a:ext cx="11247119" cy="7029449"/>
          </a:xfrm>
          <a:prstGeom prst="roundRect">
            <a:avLst>
              <a:gd name="adj" fmla="val 2000"/>
            </a:avLst>
          </a:prstGeom>
          <a:ln w="19050">
            <a:solidFill>
              <a:srgbClr val="F1F1F1"/>
            </a:solidFill>
          </a:ln>
        </p:spPr>
      </p:pic>
      <p:sp>
        <p:nvSpPr>
          <p:cNvPr id="11" name="TextBox 10"/>
          <p:cNvSpPr txBox="1"/>
          <p:nvPr/>
        </p:nvSpPr>
        <p:spPr>
          <a:xfrm>
            <a:off x="12454128" y="10369296"/>
            <a:ext cx="11247119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1" i="0">
                <a:solidFill>
                  <a:srgbClr val="141414"/>
                </a:solidFill>
                <a:latin typeface="Beeline Sans"/>
              </a:rPr>
              <a:t>Авария застала бригаду в пути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454128" y="10972800"/>
            <a:ext cx="11247119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5E5E5E"/>
                </a:solidFill>
                <a:latin typeface="Beeline Sans"/>
              </a:rPr>
              <a:t>бригада ехала к клиенту, рядом случилась авария. План пересчитан от места, где бригада сейчас: она сворачивает к аварии, брошенный переезд — красным пунктиром, её следующие заявки берут другие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12947904"/>
            <a:ext cx="1463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8C8C8C"/>
                </a:solidFill>
                <a:latin typeface="Beeline Sans"/>
              </a:rPr>
              <a:t>27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48640"/>
            <a:ext cx="1645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8C8C8C"/>
                </a:solidFill>
                <a:latin typeface="Beeline Sans"/>
              </a:rPr>
              <a:t>Второй этап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66A6096C-FC1D-1CE6-4D9A-E42A4FC258C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44260" y="531262"/>
            <a:ext cx="660947" cy="66094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" y="1133856"/>
            <a:ext cx="217627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600" b="1" i="0">
                <a:solidFill>
                  <a:srgbClr val="141414"/>
                </a:solidFill>
                <a:latin typeface="Beeline Sans"/>
              </a:rPr>
              <a:t>Сколько людей нужно</a:t>
            </a:r>
          </a:p>
        </p:txBody>
      </p:sp>
      <p:pic>
        <p:nvPicPr>
          <p:cNvPr id="7" name="Picture 6" descr="curv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3017520"/>
            <a:ext cx="6278262" cy="5932957"/>
          </a:xfrm>
          <a:prstGeom prst="roundRect">
            <a:avLst>
              <a:gd name="adj" fmla="val 2000"/>
            </a:avLst>
          </a:prstGeom>
          <a:ln w="19050">
            <a:solidFill>
              <a:srgbClr val="F1F1F1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658368" y="9272015"/>
            <a:ext cx="6278262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1" i="0">
                <a:solidFill>
                  <a:srgbClr val="141414"/>
                </a:solidFill>
                <a:latin typeface="Beeline Sans"/>
              </a:rPr>
              <a:t>Бригады и пробег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9875519"/>
            <a:ext cx="6278262" cy="2926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5E5E5E"/>
                </a:solidFill>
                <a:latin typeface="Beeline Sans"/>
              </a:rPr>
              <a:t>пробег при разном числе бригад. Меньше минимума часть заявок не закрыть; видно, сколько км даёт каждая дополнительная бригада</a:t>
            </a:r>
          </a:p>
        </p:txBody>
      </p:sp>
      <p:pic>
        <p:nvPicPr>
          <p:cNvPr id="10" name="Picture 9" descr="pric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93830" y="3017520"/>
            <a:ext cx="4824411" cy="5934026"/>
          </a:xfrm>
          <a:prstGeom prst="roundRect">
            <a:avLst>
              <a:gd name="adj" fmla="val 2000"/>
            </a:avLst>
          </a:prstGeom>
          <a:ln w="19050">
            <a:solidFill>
              <a:srgbClr val="F1F1F1"/>
            </a:solidFill>
          </a:ln>
        </p:spPr>
      </p:pic>
      <p:sp>
        <p:nvSpPr>
          <p:cNvPr id="11" name="TextBox 10"/>
          <p:cNvSpPr txBox="1"/>
          <p:nvPr/>
        </p:nvSpPr>
        <p:spPr>
          <a:xfrm>
            <a:off x="7393830" y="9272015"/>
            <a:ext cx="4824411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1" i="0">
                <a:solidFill>
                  <a:srgbClr val="141414"/>
                </a:solidFill>
                <a:latin typeface="Beeline Sans"/>
              </a:rPr>
              <a:t>Цена правил (Северо-восток)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93830" y="9875519"/>
            <a:ext cx="4824411" cy="2926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5E5E5E"/>
                </a:solidFill>
                <a:latin typeface="Beeline Sans"/>
              </a:rPr>
              <a:t>тот же день, посчитанный заново без одного правила: все умеют всё, все на машинах, без обеда, без учёта оборудования. Видно, во что обходится каждое правило</a:t>
            </a:r>
          </a:p>
        </p:txBody>
      </p:sp>
      <p:pic>
        <p:nvPicPr>
          <p:cNvPr id="13" name="Picture 12" descr="shift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675441" y="3017520"/>
            <a:ext cx="4943093" cy="5931711"/>
          </a:xfrm>
          <a:prstGeom prst="roundRect">
            <a:avLst>
              <a:gd name="adj" fmla="val 2000"/>
            </a:avLst>
          </a:prstGeom>
          <a:ln w="19050">
            <a:solidFill>
              <a:srgbClr val="F1F1F1"/>
            </a:solidFill>
          </a:ln>
        </p:spPr>
      </p:pic>
      <p:sp>
        <p:nvSpPr>
          <p:cNvPr id="14" name="TextBox 13"/>
          <p:cNvSpPr txBox="1"/>
          <p:nvPr/>
        </p:nvSpPr>
        <p:spPr>
          <a:xfrm>
            <a:off x="12675441" y="9272015"/>
            <a:ext cx="4943093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1" i="0">
                <a:solidFill>
                  <a:srgbClr val="141414"/>
                </a:solidFill>
                <a:latin typeface="Beeline Sans"/>
              </a:rPr>
              <a:t>Смены 5/2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675441" y="9875519"/>
            <a:ext cx="4943093" cy="2926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5E5E5E"/>
                </a:solidFill>
                <a:latin typeface="Beeline Sans"/>
              </a:rPr>
              <a:t>те же бригады по графику 5/2: смены с 10 до 19 и с 13 до 22 по очереди. Внизу видно, какие заявки не поместились, почему и какой бригады не хватает</a:t>
            </a:r>
          </a:p>
        </p:txBody>
      </p:sp>
      <p:pic>
        <p:nvPicPr>
          <p:cNvPr id="16" name="Picture 15" descr="lunch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075735" y="3017520"/>
            <a:ext cx="5625512" cy="5934916"/>
          </a:xfrm>
          <a:prstGeom prst="roundRect">
            <a:avLst>
              <a:gd name="adj" fmla="val 2000"/>
            </a:avLst>
          </a:prstGeom>
          <a:ln w="19050">
            <a:solidFill>
              <a:srgbClr val="F1F1F1"/>
            </a:solidFill>
          </a:ln>
        </p:spPr>
      </p:pic>
      <p:sp>
        <p:nvSpPr>
          <p:cNvPr id="17" name="TextBox 16"/>
          <p:cNvSpPr txBox="1"/>
          <p:nvPr/>
        </p:nvSpPr>
        <p:spPr>
          <a:xfrm>
            <a:off x="18075735" y="9272015"/>
            <a:ext cx="5625512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1" i="0">
                <a:solidFill>
                  <a:srgbClr val="141414"/>
                </a:solidFill>
                <a:latin typeface="Beeline Sans"/>
              </a:rPr>
              <a:t>Обед и оборудование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075735" y="9875519"/>
            <a:ext cx="5625512" cy="2926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5E5E5E"/>
                </a:solidFill>
                <a:latin typeface="Beeline Sans"/>
              </a:rPr>
              <a:t>обед 45 минут между 13:00 и 16:00, на диаграмме дня он жёлтый. В таблице: когда обедает каждая бригада и что взять утром на весь маршрут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12947904"/>
            <a:ext cx="1463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8C8C8C"/>
                </a:solidFill>
                <a:latin typeface="Beeline Sans"/>
              </a:rPr>
              <a:t>28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48640"/>
            <a:ext cx="1645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8C8C8C"/>
                </a:solidFill>
                <a:latin typeface="Beeline Sans"/>
              </a:rPr>
              <a:t>Второй этап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66A6096C-FC1D-1CE6-4D9A-E42A4FC258C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44260" y="531262"/>
            <a:ext cx="660947" cy="66094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" y="1133856"/>
            <a:ext cx="217627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600" b="1" i="0">
                <a:solidFill>
                  <a:srgbClr val="141414"/>
                </a:solidFill>
                <a:latin typeface="Beeline Sans"/>
              </a:rPr>
              <a:t>Экран инженера и маршрутный лист</a:t>
            </a:r>
          </a:p>
        </p:txBody>
      </p:sp>
      <p:pic>
        <p:nvPicPr>
          <p:cNvPr id="7" name="Picture 6" descr="eng_phone_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338" y="2651760"/>
            <a:ext cx="4602780" cy="83210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58368" y="10698480"/>
            <a:ext cx="3657600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1" i="0">
                <a:solidFill>
                  <a:srgbClr val="141414"/>
                </a:solidFill>
                <a:latin typeface="Beeline Sans"/>
              </a:rPr>
              <a:t>День бригады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1338560"/>
            <a:ext cx="365760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5E5E5E"/>
                </a:solidFill>
                <a:latin typeface="Beeline Sans"/>
              </a:rPr>
              <a:t>адреса по порядку, смена и пробег; внизу следующий адрес и кнопка «Приехал»</a:t>
            </a:r>
          </a:p>
        </p:txBody>
      </p:sp>
      <p:pic>
        <p:nvPicPr>
          <p:cNvPr id="10" name="Picture 9" descr="eng_phone_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82290" y="2651760"/>
            <a:ext cx="4602780" cy="83210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846320" y="10698480"/>
            <a:ext cx="3657600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1" i="0">
                <a:solidFill>
                  <a:srgbClr val="141414"/>
                </a:solidFill>
                <a:latin typeface="Beeline Sans"/>
              </a:rPr>
              <a:t>На адресе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46320" y="11338560"/>
            <a:ext cx="365760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5E5E5E"/>
                </a:solidFill>
                <a:latin typeface="Beeline Sans"/>
              </a:rPr>
              <a:t>подъезд, этаж, кому позвонить; кнопка «Закончил» на карточке и внизу</a:t>
            </a:r>
          </a:p>
        </p:txBody>
      </p:sp>
      <p:pic>
        <p:nvPicPr>
          <p:cNvPr id="13" name="Picture 12" descr="eng_phone_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70242" y="2651760"/>
            <a:ext cx="4602780" cy="832104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034272" y="10698480"/>
            <a:ext cx="3657600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1" i="0">
                <a:solidFill>
                  <a:srgbClr val="141414"/>
                </a:solidFill>
                <a:latin typeface="Beeline Sans"/>
              </a:rPr>
              <a:t>Отметки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34272" y="11338560"/>
            <a:ext cx="365760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5E5E5E"/>
                </a:solidFill>
                <a:latin typeface="Beeline Sans"/>
              </a:rPr>
              <a:t>опоздание сразу видят инженер и диспетчер</a:t>
            </a:r>
          </a:p>
        </p:txBody>
      </p:sp>
      <p:pic>
        <p:nvPicPr>
          <p:cNvPr id="16" name="Picture 15" descr="eng_sheet_paper_top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167359" y="3200400"/>
            <a:ext cx="10881360" cy="682524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3624560" y="10698480"/>
            <a:ext cx="9692640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1" i="0">
                <a:solidFill>
                  <a:srgbClr val="141414"/>
                </a:solidFill>
                <a:latin typeface="Beeline Sans"/>
              </a:rPr>
              <a:t>Маршрутный лист А4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624560" y="11338560"/>
            <a:ext cx="96926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5E5E5E"/>
                </a:solidFill>
                <a:latin typeface="Beeline Sans"/>
              </a:rPr>
              <a:t>оборудование на маршрут, обзвон накануне, адреса по порядку, обед, подпись клиента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12947904"/>
            <a:ext cx="1463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8C8C8C"/>
                </a:solidFill>
                <a:latin typeface="Beeline Sans"/>
              </a:rPr>
              <a:t>29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414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7F5C13C3-1F94-10AF-8FD7-D4DCE99B2C16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V="1">
            <a:off x="0" y="-2401"/>
            <a:ext cx="24379736" cy="13718401"/>
          </a:xfrm>
          <a:prstGeom prst="rect">
            <a:avLst/>
          </a:prstGeom>
        </p:spPr>
      </p:pic>
      <p:sp>
        <p:nvSpPr>
          <p:cNvPr id="205" name="01">
            <a:extLst>
              <a:ext uri="{FF2B5EF4-FFF2-40B4-BE49-F238E27FC236}">
                <a16:creationId xmlns:a16="http://schemas.microsoft.com/office/drawing/2014/main" id="{2D0F6E16-E2E7-C956-A9B6-63D7BCB0538D}"/>
              </a:ext>
            </a:extLst>
          </p:cNvPr>
          <p:cNvSpPr txBox="1"/>
          <p:nvPr/>
        </p:nvSpPr>
        <p:spPr>
          <a:xfrm>
            <a:off x="616227" y="-889000"/>
            <a:ext cx="14698858" cy="982833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>
            <a:spAutoFit/>
          </a:bodyPr>
          <a:lstStyle>
            <a:lvl1pPr algn="l">
              <a:defRPr sz="63200" b="1">
                <a:solidFill>
                  <a:srgbClr val="FFFFFF"/>
                </a:solidFill>
                <a:latin typeface="Beeline Sans"/>
                <a:ea typeface="Beeline Sans"/>
                <a:cs typeface="Beeline Sans"/>
                <a:sym typeface="Beeline Sans"/>
              </a:defRPr>
            </a:lvl1pPr>
          </a:lstStyle>
          <a:p>
            <a:r>
              <a:rPr dirty="0"/>
              <a:t>05</a:t>
            </a:r>
            <a:endParaRPr dirty="0"/>
          </a:p>
        </p:txBody>
      </p:sp>
      <p:sp>
        <p:nvSpPr>
          <p:cNvPr id="206" name="медиа-давление и бюджет">
            <a:extLst>
              <a:ext uri="{FF2B5EF4-FFF2-40B4-BE49-F238E27FC236}">
                <a16:creationId xmlns:a16="http://schemas.microsoft.com/office/drawing/2014/main" id="{D17FC182-CFD1-F8DC-459F-9C689C3755FB}"/>
              </a:ext>
            </a:extLst>
          </p:cNvPr>
          <p:cNvSpPr txBox="1"/>
          <p:nvPr/>
        </p:nvSpPr>
        <p:spPr>
          <a:xfrm>
            <a:off x="13405764" y="5525710"/>
            <a:ext cx="10978236" cy="342657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wrap="none">
            <a:spAutoFit/>
          </a:bodyPr>
          <a:lstStyle>
            <a:lvl1pPr algn="l">
              <a:lnSpc>
                <a:spcPct val="90000"/>
              </a:lnSpc>
              <a:defRPr sz="12000" b="1">
                <a:solidFill>
                  <a:srgbClr val="FFFFFF"/>
                </a:solidFill>
                <a:latin typeface="Beeline Sans"/>
                <a:ea typeface="Beeline Sans"/>
                <a:cs typeface="Beeline Sans"/>
                <a:sym typeface="Beeline Sans"/>
              </a:defRPr>
            </a:lvl1pPr>
          </a:lstStyle>
          <a:p>
            <a:r>
              <a:rPr lang="ru-RU" dirty="0"/>
              <a:t>результаты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4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48640"/>
            <a:ext cx="1645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A1A1A1"/>
                </a:solidFill>
                <a:latin typeface="Beeline Sans"/>
              </a:rPr>
              <a:t>Результаты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66A6096C-FC1D-1CE6-4D9A-E42A4FC258C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44260" y="531262"/>
            <a:ext cx="660947" cy="66094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" y="1133856"/>
            <a:ext cx="217627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600" b="1" i="0">
                <a:solidFill>
                  <a:srgbClr val="FFFFFF"/>
                </a:solidFill>
                <a:latin typeface="Beeline Sans"/>
              </a:rPr>
              <a:t>Планы шести участков в новой модели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58368" y="3017520"/>
          <a:ext cx="23042880" cy="64008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4389120"/>
                <a:gridCol w="2377440"/>
                <a:gridCol w="3474720"/>
                <a:gridCol w="3291840"/>
                <a:gridCol w="3474720"/>
                <a:gridCol w="6035040"/>
              </a:tblGrid>
              <a:tr h="914400">
                <a:tc>
                  <a:txBody>
                    <a:bodyPr wrap="square"/>
                    <a:lstStyle/>
                    <a:p>
                      <a:pPr algn="l"/>
                      <a:r>
                        <a:rPr sz="2500" b="1" i="0">
                          <a:solidFill>
                            <a:srgbClr val="141414"/>
                          </a:solidFill>
                          <a:latin typeface="Beeline Sans"/>
                        </a:rPr>
                        <a:t>Участок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C8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500" b="1" i="0">
                          <a:solidFill>
                            <a:srgbClr val="141414"/>
                          </a:solidFill>
                          <a:latin typeface="Beeline Sans"/>
                        </a:rPr>
                        <a:t>Бригад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C8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500" b="1" i="0">
                          <a:solidFill>
                            <a:srgbClr val="141414"/>
                          </a:solidFill>
                          <a:latin typeface="Beeline Sans"/>
                        </a:rPr>
                        <a:t>Минимум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C8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500" b="1" i="0">
                          <a:solidFill>
                            <a:srgbClr val="141414"/>
                          </a:solidFill>
                          <a:latin typeface="Beeline Sans"/>
                        </a:rPr>
                        <a:t>Пробег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C8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500" b="1" i="0">
                          <a:solidFill>
                            <a:srgbClr val="141414"/>
                          </a:solidFill>
                          <a:latin typeface="Beeline Sans"/>
                        </a:rPr>
                        <a:t>Назначено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C8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500" b="1" i="0">
                          <a:solidFill>
                            <a:srgbClr val="141414"/>
                          </a:solidFill>
                          <a:latin typeface="Beeline Sans"/>
                        </a:rPr>
                        <a:t>Базовый вариант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C800"/>
                    </a:solidFill>
                  </a:tcPr>
                </a:tc>
              </a:tr>
              <a:tr h="914400">
                <a:tc>
                  <a:txBody>
                    <a:bodyPr wrap="square"/>
                    <a:lstStyle/>
                    <a:p>
                      <a:pPr algn="l"/>
                      <a:r>
                        <a:rPr sz="2500" b="1" i="0">
                          <a:solidFill>
                            <a:srgbClr val="FFFFFF"/>
                          </a:solidFill>
                          <a:latin typeface="Beeline Sans"/>
                        </a:rPr>
                        <a:t>Восток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500" b="1" i="0">
                          <a:solidFill>
                            <a:srgbClr val="FFC800"/>
                          </a:solidFill>
                          <a:latin typeface="Beeline Sans"/>
                        </a:rPr>
                        <a:t>8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500" b="0" i="0">
                          <a:solidFill>
                            <a:srgbClr val="FFFFFF"/>
                          </a:solidFill>
                          <a:latin typeface="Beeline Sans"/>
                        </a:rPr>
                        <a:t>8 доказан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500" b="0" i="0">
                          <a:solidFill>
                            <a:srgbClr val="FFFFFF"/>
                          </a:solidFill>
                          <a:latin typeface="Beeline Sans"/>
                        </a:rPr>
                        <a:t>187,4 км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500" b="0" i="0">
                          <a:solidFill>
                            <a:srgbClr val="FFFFFF"/>
                          </a:solidFill>
                          <a:latin typeface="Beeline Sans"/>
                        </a:rPr>
                        <a:t>66 из 66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500" b="0" i="0">
                          <a:solidFill>
                            <a:srgbClr val="FFFFFF"/>
                          </a:solidFill>
                          <a:latin typeface="Beeline Sans"/>
                        </a:rPr>
                        <a:t>12 бр., не выполнено 28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141414"/>
                    </a:solidFill>
                  </a:tcPr>
                </a:tc>
              </a:tr>
              <a:tr h="914400">
                <a:tc>
                  <a:txBody>
                    <a:bodyPr wrap="square"/>
                    <a:lstStyle/>
                    <a:p>
                      <a:pPr algn="l"/>
                      <a:r>
                        <a:rPr sz="2500" b="1" i="0">
                          <a:solidFill>
                            <a:srgbClr val="FFFFFF"/>
                          </a:solidFill>
                          <a:latin typeface="Beeline Sans"/>
                        </a:rPr>
                        <a:t>Югоцентр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26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500" b="1" i="0">
                          <a:solidFill>
                            <a:srgbClr val="FFC800"/>
                          </a:solidFill>
                          <a:latin typeface="Beeline Sans"/>
                        </a:rPr>
                        <a:t>7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26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500" b="0" i="0">
                          <a:solidFill>
                            <a:srgbClr val="FFFFFF"/>
                          </a:solidFill>
                          <a:latin typeface="Beeline Sans"/>
                        </a:rPr>
                        <a:t>7 доказан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26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500" b="0" i="0">
                          <a:solidFill>
                            <a:srgbClr val="FFFFFF"/>
                          </a:solidFill>
                          <a:latin typeface="Beeline Sans"/>
                        </a:rPr>
                        <a:t>159,8 км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26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500" b="0" i="0">
                          <a:solidFill>
                            <a:srgbClr val="FFFFFF"/>
                          </a:solidFill>
                          <a:latin typeface="Beeline Sans"/>
                        </a:rPr>
                        <a:t>56 из 56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26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500" b="0" i="0">
                          <a:solidFill>
                            <a:srgbClr val="FFFFFF"/>
                          </a:solidFill>
                          <a:latin typeface="Beeline Sans"/>
                        </a:rPr>
                        <a:t>11 бр., не выполнено 19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262626"/>
                    </a:solidFill>
                  </a:tcPr>
                </a:tc>
              </a:tr>
              <a:tr h="914400">
                <a:tc>
                  <a:txBody>
                    <a:bodyPr wrap="square"/>
                    <a:lstStyle/>
                    <a:p>
                      <a:pPr algn="l"/>
                      <a:r>
                        <a:rPr sz="2500" b="1" i="0">
                          <a:solidFill>
                            <a:srgbClr val="FFFFFF"/>
                          </a:solidFill>
                          <a:latin typeface="Beeline Sans"/>
                        </a:rPr>
                        <a:t>Юго-восток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500" b="1" i="0">
                          <a:solidFill>
                            <a:srgbClr val="FFC800"/>
                          </a:solidFill>
                          <a:latin typeface="Beeline Sans"/>
                        </a:rPr>
                        <a:t>12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500" b="0" i="0">
                          <a:solidFill>
                            <a:srgbClr val="FFFFFF"/>
                          </a:solidFill>
                          <a:latin typeface="Beeline Sans"/>
                        </a:rPr>
                        <a:t>12 доказан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500" b="0" i="0">
                          <a:solidFill>
                            <a:srgbClr val="FFFFFF"/>
                          </a:solidFill>
                          <a:latin typeface="Beeline Sans"/>
                        </a:rPr>
                        <a:t>747,8 км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500" b="0" i="0">
                          <a:solidFill>
                            <a:srgbClr val="FFFFFF"/>
                          </a:solidFill>
                          <a:latin typeface="Beeline Sans"/>
                        </a:rPr>
                        <a:t>81 из 83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500" b="0" i="0">
                          <a:solidFill>
                            <a:srgbClr val="FFFFFF"/>
                          </a:solidFill>
                          <a:latin typeface="Beeline Sans"/>
                        </a:rPr>
                        <a:t>12 бр., не выполнено 37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141414"/>
                    </a:solidFill>
                  </a:tcPr>
                </a:tc>
              </a:tr>
              <a:tr h="914400">
                <a:tc>
                  <a:txBody>
                    <a:bodyPr wrap="square"/>
                    <a:lstStyle/>
                    <a:p>
                      <a:pPr algn="l"/>
                      <a:r>
                        <a:rPr sz="2500" b="1" i="0">
                          <a:solidFill>
                            <a:srgbClr val="FFFFFF"/>
                          </a:solidFill>
                          <a:latin typeface="Beeline Sans"/>
                        </a:rPr>
                        <a:t>Север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26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500" b="1" i="0">
                          <a:solidFill>
                            <a:srgbClr val="FFC800"/>
                          </a:solidFill>
                          <a:latin typeface="Beeline Sans"/>
                        </a:rPr>
                        <a:t>9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26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500" b="0" i="0">
                          <a:solidFill>
                            <a:srgbClr val="FFFFFF"/>
                          </a:solidFill>
                          <a:latin typeface="Beeline Sans"/>
                        </a:rPr>
                        <a:t>9 доказан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26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500" b="0" i="0">
                          <a:solidFill>
                            <a:srgbClr val="FFFFFF"/>
                          </a:solidFill>
                          <a:latin typeface="Beeline Sans"/>
                        </a:rPr>
                        <a:t>229,3 км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26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500" b="0" i="0">
                          <a:solidFill>
                            <a:srgbClr val="FFFFFF"/>
                          </a:solidFill>
                          <a:latin typeface="Beeline Sans"/>
                        </a:rPr>
                        <a:t>73 из 73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26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500" b="0" i="0">
                          <a:solidFill>
                            <a:srgbClr val="FFFFFF"/>
                          </a:solidFill>
                          <a:latin typeface="Beeline Sans"/>
                        </a:rPr>
                        <a:t>12 бр., не выполнено 30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262626"/>
                    </a:solidFill>
                  </a:tcPr>
                </a:tc>
              </a:tr>
              <a:tr h="914400">
                <a:tc>
                  <a:txBody>
                    <a:bodyPr wrap="square"/>
                    <a:lstStyle/>
                    <a:p>
                      <a:pPr algn="l"/>
                      <a:r>
                        <a:rPr sz="2500" b="1" i="0">
                          <a:solidFill>
                            <a:srgbClr val="FFFFFF"/>
                          </a:solidFill>
                          <a:latin typeface="Beeline Sans"/>
                        </a:rPr>
                        <a:t>Запад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500" b="1" i="0">
                          <a:solidFill>
                            <a:srgbClr val="FFC800"/>
                          </a:solidFill>
                          <a:latin typeface="Beeline Sans"/>
                        </a:rPr>
                        <a:t>7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500" b="0" i="0">
                          <a:solidFill>
                            <a:srgbClr val="FFFFFF"/>
                          </a:solidFill>
                          <a:latin typeface="Beeline Sans"/>
                        </a:rPr>
                        <a:t>7 доказан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500" b="0" i="0">
                          <a:solidFill>
                            <a:srgbClr val="FFFFFF"/>
                          </a:solidFill>
                          <a:latin typeface="Beeline Sans"/>
                        </a:rPr>
                        <a:t>257,0 км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500" b="0" i="0">
                          <a:solidFill>
                            <a:srgbClr val="FFFFFF"/>
                          </a:solidFill>
                          <a:latin typeface="Beeline Sans"/>
                        </a:rPr>
                        <a:t>59 из 60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500" b="0" i="0">
                          <a:solidFill>
                            <a:srgbClr val="FFFFFF"/>
                          </a:solidFill>
                          <a:latin typeface="Beeline Sans"/>
                        </a:rPr>
                        <a:t>11 бр., не выполнено 15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141414"/>
                    </a:solidFill>
                  </a:tcPr>
                </a:tc>
              </a:tr>
              <a:tr h="914400">
                <a:tc>
                  <a:txBody>
                    <a:bodyPr wrap="square"/>
                    <a:lstStyle/>
                    <a:p>
                      <a:pPr algn="l"/>
                      <a:r>
                        <a:rPr sz="2500" b="1" i="0">
                          <a:solidFill>
                            <a:srgbClr val="FFFFFF"/>
                          </a:solidFill>
                          <a:latin typeface="Beeline Sans"/>
                        </a:rPr>
                        <a:t>Северо-восток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26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500" b="1" i="0">
                          <a:solidFill>
                            <a:srgbClr val="FFC800"/>
                          </a:solidFill>
                          <a:latin typeface="Beeline Sans"/>
                        </a:rPr>
                        <a:t>11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26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500" b="0" i="0">
                          <a:solidFill>
                            <a:srgbClr val="FFFFFF"/>
                          </a:solidFill>
                          <a:latin typeface="Beeline Sans"/>
                        </a:rPr>
                        <a:t>11 доказан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26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500" b="0" i="0">
                          <a:solidFill>
                            <a:srgbClr val="FFFFFF"/>
                          </a:solidFill>
                          <a:latin typeface="Beeline Sans"/>
                        </a:rPr>
                        <a:t>237,4 км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26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500" b="0" i="0">
                          <a:solidFill>
                            <a:srgbClr val="FFFFFF"/>
                          </a:solidFill>
                          <a:latin typeface="Beeline Sans"/>
                        </a:rPr>
                        <a:t>76 из 76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26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500" b="0" i="0">
                          <a:solidFill>
                            <a:srgbClr val="FFFFFF"/>
                          </a:solidFill>
                          <a:latin typeface="Beeline Sans"/>
                        </a:rPr>
                        <a:t>12 бр., не выполнено 40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262626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58368" y="9875520"/>
            <a:ext cx="23042880" cy="2560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0" i="0">
                <a:solidFill>
                  <a:srgbClr val="A1A1A1"/>
                </a:solidFill>
                <a:latin typeface="Beeline Sans"/>
              </a:rPr>
              <a:t>*Модель второго этапа: обед, оборудование, длительность по сложности, старт из дома, общественный транспорт по расписаниям, пробки по часам и сетке. Решатель работает 3 с; для Востока взят лучший из пяти запусков по 10 с, для Юго-востока лучший из трёх запусков по 30 с и лучшего известного ответа. Нижняя граница считается генерацией столбцов.</a:t>
            </a:r>
          </a:p>
          <a:p>
            <a:pPr algn="l">
              <a:spcBef>
                <a:spcPts val="800"/>
              </a:spcBef>
            </a:pPr>
            <a:r>
              <a:rPr sz="2100" b="0" i="0">
                <a:solidFill>
                  <a:srgbClr val="A1A1A1"/>
                </a:solidFill>
                <a:latin typeface="Beeline Sans"/>
              </a:rPr>
              <a:t>«Доказан» — граница равна плану, меньше бригад нельзя.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2947904"/>
            <a:ext cx="1463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A1A1A1"/>
                </a:solidFill>
                <a:latin typeface="Beeline Sans"/>
              </a:rPr>
              <a:t>31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48640"/>
            <a:ext cx="1645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8C8C8C"/>
                </a:solidFill>
                <a:latin typeface="Beeline Sans"/>
              </a:rPr>
              <a:t>Результаты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66A6096C-FC1D-1CE6-4D9A-E42A4FC258C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44260" y="531262"/>
            <a:ext cx="660947" cy="66094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" y="1133856"/>
            <a:ext cx="217627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600" b="1" i="0">
                <a:solidFill>
                  <a:srgbClr val="141414"/>
                </a:solidFill>
                <a:latin typeface="Beeline Sans"/>
              </a:rPr>
              <a:t>Число бригад на реальном дне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5453359" y="914400"/>
            <a:ext cx="7315200" cy="1828800"/>
          </a:xfrm>
          <a:prstGeom prst="roundRect">
            <a:avLst>
              <a:gd name="adj" fmla="val 5000"/>
            </a:avLst>
          </a:prstGeom>
          <a:solidFill>
            <a:srgbClr val="FFF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5727680" y="914400"/>
            <a:ext cx="68580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1" i="0">
                <a:solidFill>
                  <a:srgbClr val="141414"/>
                </a:solidFill>
                <a:latin typeface="Beeline Sans"/>
              </a:rPr>
              <a:t>модель первого этапа: </a:t>
            </a:r>
            <a:r>
              <a:rPr sz="1800" b="0" i="0">
                <a:solidFill>
                  <a:srgbClr val="141414"/>
                </a:solidFill>
                <a:latin typeface="Beeline Sans"/>
              </a:rPr>
              <a:t>смена 10–22 без обеда, транспорт по средней скорости, пробки одним коэффициентом</a:t>
            </a:r>
          </a:p>
          <a:p>
            <a:pPr algn="l">
              <a:spcBef>
                <a:spcPts val="400"/>
              </a:spcBef>
            </a:pPr>
            <a:r>
              <a:rPr sz="1800" b="1" i="0">
                <a:solidFill>
                  <a:srgbClr val="141414"/>
                </a:solidFill>
                <a:latin typeface="Beeline Sans"/>
              </a:rPr>
              <a:t>в текущей модели: </a:t>
            </a:r>
            <a:r>
              <a:rPr sz="1800" b="0" i="0">
                <a:solidFill>
                  <a:srgbClr val="141414"/>
                </a:solidFill>
                <a:latin typeface="Beeline Sans"/>
              </a:rPr>
              <a:t>машина — 8, 7 и 10 бригад; общественный транспорт — 12, 11 и 12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58368" y="3017520"/>
          <a:ext cx="15544800" cy="94183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16642080" y="3017520"/>
            <a:ext cx="7059168" cy="2926080"/>
          </a:xfrm>
          <a:prstGeom prst="roundRect">
            <a:avLst>
              <a:gd name="adj" fmla="val 5000"/>
            </a:avLst>
          </a:prstGeom>
          <a:solidFill>
            <a:srgbClr val="FFC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7099280" y="3200400"/>
            <a:ext cx="621792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800" b="0" i="0">
                <a:solidFill>
                  <a:srgbClr val="141414"/>
                </a:solidFill>
                <a:latin typeface="Beeline Sans Black"/>
              </a:rPr>
              <a:t>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099280" y="4700016"/>
            <a:ext cx="62179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300" b="0" i="0">
                <a:solidFill>
                  <a:srgbClr val="141414"/>
                </a:solidFill>
                <a:latin typeface="Beeline Sans"/>
              </a:rPr>
              <a:t>опозданий и невыполненных заявок в нашем плане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6642080" y="6217920"/>
            <a:ext cx="7059168" cy="2926080"/>
          </a:xfrm>
          <a:prstGeom prst="roundRect">
            <a:avLst>
              <a:gd name="adj" fmla="val 5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17099280" y="6400800"/>
            <a:ext cx="621792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800" b="0" i="0">
                <a:solidFill>
                  <a:srgbClr val="141414"/>
                </a:solidFill>
                <a:latin typeface="Beeline Sans Black"/>
              </a:rPr>
              <a:t>10–35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099280" y="7900416"/>
            <a:ext cx="62179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300" b="0" i="0">
                <a:solidFill>
                  <a:srgbClr val="141414"/>
                </a:solidFill>
                <a:latin typeface="Beeline Sans"/>
              </a:rPr>
              <a:t>заявок не выполняет базовый вариант, хотя использует все бригады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6642080" y="9418320"/>
            <a:ext cx="7059168" cy="2926080"/>
          </a:xfrm>
          <a:prstGeom prst="roundRect">
            <a:avLst>
              <a:gd name="adj" fmla="val 5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17099280" y="9601200"/>
            <a:ext cx="621792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800" b="0" i="0">
                <a:solidFill>
                  <a:srgbClr val="141414"/>
                </a:solidFill>
                <a:latin typeface="Beeline Sans Black"/>
              </a:rPr>
              <a:t>2–35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7099280" y="11100816"/>
            <a:ext cx="62179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300" b="0" i="0">
                <a:solidFill>
                  <a:srgbClr val="141414"/>
                </a:solidFill>
                <a:latin typeface="Beeline Sans"/>
              </a:rPr>
              <a:t>опозданий в реальном плане, если считать по нормативам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12947904"/>
            <a:ext cx="1463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8C8C8C"/>
                </a:solidFill>
                <a:latin typeface="Beeline Sans"/>
              </a:rPr>
              <a:t>32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48640"/>
            <a:ext cx="1645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8C8C8C"/>
                </a:solidFill>
                <a:latin typeface="Beeline Sans"/>
              </a:rPr>
              <a:t>Результаты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66A6096C-FC1D-1CE6-4D9A-E42A4FC258C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44260" y="531262"/>
            <a:ext cx="660947" cy="66094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" y="1133856"/>
            <a:ext cx="217627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600" b="1" i="0">
                <a:solidFill>
                  <a:srgbClr val="141414"/>
                </a:solidFill>
                <a:latin typeface="Beeline Sans"/>
              </a:rPr>
              <a:t>Реальный день и наш план, Восток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5453359" y="914400"/>
            <a:ext cx="7315200" cy="1828800"/>
          </a:xfrm>
          <a:prstGeom prst="roundRect">
            <a:avLst>
              <a:gd name="adj" fmla="val 5000"/>
            </a:avLst>
          </a:prstGeom>
          <a:solidFill>
            <a:srgbClr val="FFF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5727680" y="914400"/>
            <a:ext cx="68580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1" i="0">
                <a:solidFill>
                  <a:srgbClr val="141414"/>
                </a:solidFill>
                <a:latin typeface="Beeline Sans"/>
              </a:rPr>
              <a:t>модель первого этапа: </a:t>
            </a:r>
            <a:r>
              <a:rPr sz="1800" b="0" i="0">
                <a:solidFill>
                  <a:srgbClr val="141414"/>
                </a:solidFill>
                <a:latin typeface="Beeline Sans"/>
              </a:rPr>
              <a:t>смена 10–22 без обеда, транспорт по средней скорости, пробки одним коэффициентом</a:t>
            </a:r>
          </a:p>
          <a:p>
            <a:pPr algn="l">
              <a:spcBef>
                <a:spcPts val="400"/>
              </a:spcBef>
            </a:pPr>
            <a:r>
              <a:rPr sz="1800" b="1" i="0">
                <a:solidFill>
                  <a:srgbClr val="141414"/>
                </a:solidFill>
                <a:latin typeface="Beeline Sans"/>
              </a:rPr>
              <a:t>в текущей модели: </a:t>
            </a:r>
            <a:r>
              <a:rPr sz="1800" b="0" i="0">
                <a:solidFill>
                  <a:srgbClr val="141414"/>
                </a:solidFill>
                <a:latin typeface="Beeline Sans"/>
              </a:rPr>
              <a:t>12 бригад, 130 км, 1 заявка без исполнителя: по расписаниям и с обедом общественный транспорт медленнее</a:t>
            </a:r>
          </a:p>
        </p:txBody>
      </p:sp>
      <p:pic>
        <p:nvPicPr>
          <p:cNvPr id="9" name="Picture 8" descr="map_vostok_pt_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3031644"/>
            <a:ext cx="11338560" cy="7835590"/>
          </a:xfrm>
          <a:prstGeom prst="roundRect">
            <a:avLst>
              <a:gd name="adj" fmla="val 3000"/>
            </a:avLst>
          </a:prstGeom>
        </p:spPr>
      </p:pic>
      <p:sp>
        <p:nvSpPr>
          <p:cNvPr id="10" name="Rounded Rectangle 9"/>
          <p:cNvSpPr/>
          <p:nvPr/>
        </p:nvSpPr>
        <p:spPr>
          <a:xfrm>
            <a:off x="658368" y="11155680"/>
            <a:ext cx="11338560" cy="1188720"/>
          </a:xfrm>
          <a:prstGeom prst="roundRect">
            <a:avLst>
              <a:gd name="adj" fmla="val 5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024128" y="11155680"/>
            <a:ext cx="10789920" cy="11887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400" b="1" i="0">
                <a:solidFill>
                  <a:srgbClr val="141414"/>
                </a:solidFill>
                <a:latin typeface="Beeline Sans"/>
              </a:rPr>
              <a:t>Диспетчер   </a:t>
            </a:r>
            <a:r>
              <a:rPr sz="2400" b="0" i="0">
                <a:solidFill>
                  <a:srgbClr val="141414"/>
                </a:solidFill>
                <a:latin typeface="Beeline Sans"/>
              </a:rPr>
              <a:t>12 бригад, 229 км, 3 опоздания, 2 заявки без бригады (□)</a:t>
            </a:r>
          </a:p>
        </p:txBody>
      </p:sp>
      <p:pic>
        <p:nvPicPr>
          <p:cNvPr id="12" name="Picture 11" descr="map_vostok_pt_our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362688" y="3031644"/>
            <a:ext cx="11338560" cy="7835590"/>
          </a:xfrm>
          <a:prstGeom prst="roundRect">
            <a:avLst>
              <a:gd name="adj" fmla="val 3000"/>
            </a:avLst>
          </a:prstGeom>
        </p:spPr>
      </p:pic>
      <p:sp>
        <p:nvSpPr>
          <p:cNvPr id="13" name="Rounded Rectangle 12"/>
          <p:cNvSpPr/>
          <p:nvPr/>
        </p:nvSpPr>
        <p:spPr>
          <a:xfrm>
            <a:off x="12362688" y="11155680"/>
            <a:ext cx="11338560" cy="1188720"/>
          </a:xfrm>
          <a:prstGeom prst="roundRect">
            <a:avLst>
              <a:gd name="adj" fmla="val 5000"/>
            </a:avLst>
          </a:prstGeom>
          <a:solidFill>
            <a:srgbClr val="FFC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12728448" y="11155680"/>
            <a:ext cx="10789920" cy="11887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400" b="1" i="0">
                <a:solidFill>
                  <a:srgbClr val="141414"/>
                </a:solidFill>
                <a:latin typeface="Beeline Sans"/>
              </a:rPr>
              <a:t>Наш план   </a:t>
            </a:r>
            <a:r>
              <a:rPr sz="2400" b="0" i="0">
                <a:solidFill>
                  <a:srgbClr val="141414"/>
                </a:solidFill>
                <a:latin typeface="Beeline Sans"/>
              </a:rPr>
              <a:t>8 бригад, 167 км, без опозданий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12618720"/>
            <a:ext cx="228600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0" i="0">
                <a:solidFill>
                  <a:srgbClr val="8C8C8C"/>
                </a:solidFill>
                <a:latin typeface="Beeline Sans"/>
              </a:rPr>
              <a:t>*Общественный транспорт, навыки как в реальный день. Линии соединяют заявки в порядке объезда.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12947904"/>
            <a:ext cx="1463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8C8C8C"/>
                </a:solidFill>
                <a:latin typeface="Beeline Sans"/>
              </a:rPr>
              <a:t>33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48640"/>
            <a:ext cx="1645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8C8C8C"/>
                </a:solidFill>
                <a:latin typeface="Beeline Sans"/>
              </a:rPr>
              <a:t>Результаты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66A6096C-FC1D-1CE6-4D9A-E42A4FC258C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44260" y="531262"/>
            <a:ext cx="660947" cy="66094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" y="1133856"/>
            <a:ext cx="217627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600" b="1" i="0">
                <a:solidFill>
                  <a:srgbClr val="141414"/>
                </a:solidFill>
                <a:latin typeface="Beeline Sans"/>
              </a:rPr>
              <a:t>Загрузка бригад по времени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5453359" y="914400"/>
            <a:ext cx="7315200" cy="1828800"/>
          </a:xfrm>
          <a:prstGeom prst="roundRect">
            <a:avLst>
              <a:gd name="adj" fmla="val 5000"/>
            </a:avLst>
          </a:prstGeom>
          <a:solidFill>
            <a:srgbClr val="FFF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5727680" y="914400"/>
            <a:ext cx="68580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1" i="0">
                <a:solidFill>
                  <a:srgbClr val="141414"/>
                </a:solidFill>
                <a:latin typeface="Beeline Sans"/>
              </a:rPr>
              <a:t>модель первого этапа: </a:t>
            </a:r>
            <a:r>
              <a:rPr sz="1800" b="0" i="0">
                <a:solidFill>
                  <a:srgbClr val="141414"/>
                </a:solidFill>
                <a:latin typeface="Beeline Sans"/>
              </a:rPr>
              <a:t>смена 10–22 без обеда, транспорт по средней скорости, пробки одним коэффициентом</a:t>
            </a:r>
          </a:p>
          <a:p>
            <a:pPr algn="l">
              <a:spcBef>
                <a:spcPts val="400"/>
              </a:spcBef>
            </a:pPr>
            <a:r>
              <a:rPr sz="1800" b="1" i="0">
                <a:solidFill>
                  <a:srgbClr val="141414"/>
                </a:solidFill>
                <a:latin typeface="Beeline Sans"/>
              </a:rPr>
              <a:t>в текущей модели: </a:t>
            </a:r>
            <a:r>
              <a:rPr sz="1800" b="0" i="0">
                <a:solidFill>
                  <a:srgbClr val="141414"/>
                </a:solidFill>
                <a:latin typeface="Beeline Sans"/>
              </a:rPr>
              <a:t>Восток, смешанный транспорт — 8 бригад, 187,4 км (демо-план)</a:t>
            </a:r>
          </a:p>
        </p:txBody>
      </p:sp>
      <p:pic>
        <p:nvPicPr>
          <p:cNvPr id="9" name="Picture 8" descr="gantt_vostok_mix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3304581"/>
            <a:ext cx="23042879" cy="7838356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658368" y="11795760"/>
            <a:ext cx="621792" cy="402336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463040" y="11704320"/>
            <a:ext cx="3657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 i="0">
                <a:solidFill>
                  <a:srgbClr val="141414"/>
                </a:solidFill>
                <a:latin typeface="Beeline Sans"/>
              </a:rPr>
              <a:t>авария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493008" y="11795760"/>
            <a:ext cx="621792" cy="402336"/>
          </a:xfrm>
          <a:prstGeom prst="rect">
            <a:avLst/>
          </a:prstGeom>
          <a:solidFill>
            <a:srgbClr val="FFC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4297680" y="11704320"/>
            <a:ext cx="3657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 i="0">
                <a:solidFill>
                  <a:srgbClr val="141414"/>
                </a:solidFill>
                <a:latin typeface="Beeline Sans"/>
              </a:rPr>
              <a:t>подключение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287768" y="11795760"/>
            <a:ext cx="621792" cy="402336"/>
          </a:xfrm>
          <a:prstGeom prst="rect">
            <a:avLst/>
          </a:prstGeom>
          <a:solidFill>
            <a:srgbClr val="A1A1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8092440" y="11704320"/>
            <a:ext cx="3657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 i="0">
                <a:solidFill>
                  <a:srgbClr val="141414"/>
                </a:solidFill>
                <a:latin typeface="Beeline Sans"/>
              </a:rPr>
              <a:t>ремонт и дозаказ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408407" y="11704320"/>
            <a:ext cx="12070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300" b="0" i="0">
                <a:solidFill>
                  <a:srgbClr val="5E5E5E"/>
                </a:solidFill>
                <a:latin typeface="Beeline Sans"/>
              </a:rPr>
              <a:t>серая полоса — дорога, пунктир — ожидание окна. Восток, смешанный транспорт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12947904"/>
            <a:ext cx="1463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8C8C8C"/>
                </a:solidFill>
                <a:latin typeface="Beeline Sans"/>
              </a:rPr>
              <a:t>34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48640"/>
            <a:ext cx="1645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8C8C8C"/>
                </a:solidFill>
                <a:latin typeface="Beeline Sans"/>
              </a:rPr>
              <a:t>Результаты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66A6096C-FC1D-1CE6-4D9A-E42A4FC258C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44260" y="531262"/>
            <a:ext cx="660947" cy="66094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" y="1133856"/>
            <a:ext cx="217627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600" b="1" i="0">
                <a:solidFill>
                  <a:srgbClr val="141414"/>
                </a:solidFill>
                <a:latin typeface="Beeline Sans"/>
              </a:rPr>
              <a:t>Сравнение с OR-Tools, PyVRP и VROOM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5453359" y="914400"/>
            <a:ext cx="7315200" cy="1828800"/>
          </a:xfrm>
          <a:prstGeom prst="roundRect">
            <a:avLst>
              <a:gd name="adj" fmla="val 5000"/>
            </a:avLst>
          </a:prstGeom>
          <a:solidFill>
            <a:srgbClr val="FFF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5727680" y="914400"/>
            <a:ext cx="68580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1" i="0">
                <a:solidFill>
                  <a:srgbClr val="141414"/>
                </a:solidFill>
                <a:latin typeface="Beeline Sans"/>
              </a:rPr>
              <a:t>модель первого этапа: </a:t>
            </a:r>
            <a:r>
              <a:rPr sz="1800" b="0" i="0">
                <a:solidFill>
                  <a:srgbClr val="141414"/>
                </a:solidFill>
                <a:latin typeface="Beeline Sans"/>
              </a:rPr>
              <a:t>смена 10–22 без обеда, транспорт по средней скорости, пробки одним коэффициентом</a:t>
            </a:r>
          </a:p>
          <a:p>
            <a:pPr algn="l">
              <a:spcBef>
                <a:spcPts val="400"/>
              </a:spcBef>
            </a:pPr>
            <a:r>
              <a:rPr sz="1800" b="1" i="0">
                <a:solidFill>
                  <a:srgbClr val="141414"/>
                </a:solidFill>
                <a:latin typeface="Beeline Sans"/>
              </a:rPr>
              <a:t>в текущей модели: </a:t>
            </a:r>
            <a:r>
              <a:rPr sz="1800" b="0" i="0">
                <a:solidFill>
                  <a:srgbClr val="141414"/>
                </a:solidFill>
                <a:latin typeface="Beeline Sans"/>
              </a:rPr>
              <a:t>сравнение с библиотеками не повторяли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58368" y="3017520"/>
          <a:ext cx="14081760" cy="84124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15288767" y="3017520"/>
            <a:ext cx="8412480" cy="9418320"/>
          </a:xfrm>
          <a:prstGeom prst="roundRect">
            <a:avLst>
              <a:gd name="adj" fmla="val 5000"/>
            </a:avLst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5800832" y="3474720"/>
            <a:ext cx="7406640" cy="8778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FFC800"/>
                </a:solidFill>
                <a:latin typeface="Beeline Sans"/>
              </a:rPr>
              <a:t>Все заявки выполнены</a:t>
            </a:r>
          </a:p>
          <a:p>
            <a:pPr algn="l">
              <a:spcBef>
                <a:spcPts val="1800"/>
              </a:spcBef>
            </a:pPr>
            <a:r>
              <a:rPr sz="2400" b="0" i="0">
                <a:solidFill>
                  <a:srgbClr val="FFFFFF"/>
                </a:solidFill>
                <a:latin typeface="Beeline Sans"/>
              </a:rPr>
              <a:t>у нас и у PyVRP в 84 задачах из 88, у VROOM в 79, у OR-Tools в 78. В 4 задачах выполнить все заявки нельзя.</a:t>
            </a:r>
          </a:p>
          <a:p>
            <a:pPr algn="l">
              <a:spcBef>
                <a:spcPts val="1800"/>
              </a:spcBef>
            </a:pPr>
            <a:r>
              <a:rPr sz="3000" b="1" i="0">
                <a:solidFill>
                  <a:srgbClr val="FFC800"/>
                </a:solidFill>
                <a:latin typeface="Beeline Sans"/>
              </a:rPr>
              <a:t>На контрольном дне</a:t>
            </a:r>
          </a:p>
          <a:p>
            <a:pPr algn="l">
              <a:spcBef>
                <a:spcPts val="1800"/>
              </a:spcBef>
            </a:pPr>
            <a:r>
              <a:rPr sz="2400" b="0" i="0">
                <a:solidFill>
                  <a:srgbClr val="FFFFFF"/>
                </a:solidFill>
                <a:latin typeface="Beeline Sans"/>
              </a:rPr>
              <a:t>в 24 задачах PyVRP использует 198 бригад, наш оптимизатор 188 при доказанном минимуме 187.</a:t>
            </a:r>
          </a:p>
          <a:p>
            <a:pPr algn="l">
              <a:spcBef>
                <a:spcPts val="1800"/>
              </a:spcBef>
            </a:pPr>
            <a:r>
              <a:rPr sz="3000" b="1" i="0">
                <a:solidFill>
                  <a:srgbClr val="FFC800"/>
                </a:solidFill>
                <a:latin typeface="Beeline Sans"/>
              </a:rPr>
              <a:t>Почему свой оптимизатор</a:t>
            </a:r>
          </a:p>
          <a:p>
            <a:pPr algn="l">
              <a:spcBef>
                <a:spcPts val="1800"/>
              </a:spcBef>
            </a:pPr>
            <a:r>
              <a:rPr sz="2400" b="0" i="0">
                <a:solidFill>
                  <a:srgbClr val="FFFFFF"/>
                </a:solidFill>
                <a:latin typeface="Beeline Sans"/>
              </a:rPr>
              <a:t>библиотеки учитывают число бригад как слагаемое общей стоимости. Мы сокращаем парк отдельной фазой.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12947904"/>
            <a:ext cx="1463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8C8C8C"/>
                </a:solidFill>
                <a:latin typeface="Beeline Sans"/>
              </a:rPr>
              <a:t>35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4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48640"/>
            <a:ext cx="1645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A1A1A1"/>
                </a:solidFill>
                <a:latin typeface="Beeline Sans"/>
              </a:rPr>
              <a:t>Результаты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66A6096C-FC1D-1CE6-4D9A-E42A4FC258C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44260" y="531262"/>
            <a:ext cx="660947" cy="66094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" y="1133856"/>
            <a:ext cx="217627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600" b="1" i="0">
                <a:solidFill>
                  <a:srgbClr val="FFFFFF"/>
                </a:solidFill>
                <a:latin typeface="Beeline Sans"/>
              </a:rPr>
              <a:t>Доказанная оптимальность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5453359" y="914400"/>
            <a:ext cx="7315200" cy="1828800"/>
          </a:xfrm>
          <a:prstGeom prst="roundRect">
            <a:avLst>
              <a:gd name="adj" fmla="val 5000"/>
            </a:avLst>
          </a:prstGeom>
          <a:solidFill>
            <a:srgbClr val="5E5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5727680" y="914400"/>
            <a:ext cx="68580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Beeline Sans"/>
              </a:rPr>
              <a:t>модель первого этапа: </a:t>
            </a:r>
            <a:r>
              <a:rPr sz="1800" b="0" i="0">
                <a:solidFill>
                  <a:srgbClr val="FFFFFF"/>
                </a:solidFill>
                <a:latin typeface="Beeline Sans"/>
              </a:rPr>
              <a:t>смена 10–22 без обеда, транспорт по средней скорости, пробки одним коэффициентом</a:t>
            </a:r>
          </a:p>
          <a:p>
            <a:pPr algn="l">
              <a:spcBef>
                <a:spcPts val="400"/>
              </a:spcBef>
            </a:pPr>
            <a:r>
              <a:rPr sz="1800" b="1" i="0">
                <a:solidFill>
                  <a:srgbClr val="FFC800"/>
                </a:solidFill>
                <a:latin typeface="Beeline Sans"/>
              </a:rPr>
              <a:t>в текущей модели: </a:t>
            </a:r>
            <a:r>
              <a:rPr sz="1800" b="0" i="0">
                <a:solidFill>
                  <a:srgbClr val="FFFFFF"/>
                </a:solidFill>
                <a:latin typeface="Beeline Sans"/>
              </a:rPr>
              <a:t>минимум бригад доказан в 70 из 88 задач (16 из 24, 33 из 40, 21 из 24), с запусками по 30 с — в 73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3200400"/>
            <a:ext cx="7315200" cy="5486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1207007" y="3566160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141414"/>
                </a:solidFill>
                <a:latin typeface="Beeline Sans"/>
              </a:rPr>
              <a:t>Контрольный день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207007" y="4572000"/>
            <a:ext cx="2962656" cy="3657600"/>
          </a:xfrm>
          <a:prstGeom prst="roundRect">
            <a:avLst>
              <a:gd name="adj" fmla="val 5000"/>
            </a:avLst>
          </a:prstGeom>
          <a:solidFill>
            <a:srgbClr val="FFC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1426464" y="4791456"/>
            <a:ext cx="265176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400" b="0" i="0">
                <a:solidFill>
                  <a:srgbClr val="141414"/>
                </a:solidFill>
                <a:latin typeface="Beeline Sans Black"/>
              </a:rPr>
              <a:t>24/24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26464" y="6400800"/>
            <a:ext cx="265176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0" i="0">
                <a:solidFill>
                  <a:srgbClr val="141414"/>
                </a:solidFill>
                <a:latin typeface="Beeline Sans"/>
              </a:rPr>
              <a:t>задач:</a:t>
            </a:r>
          </a:p>
          <a:p>
            <a:pPr algn="l">
              <a:spcBef>
                <a:spcPts val="0"/>
              </a:spcBef>
            </a:pPr>
            <a:r>
              <a:rPr sz="2100" b="0" i="0">
                <a:solidFill>
                  <a:srgbClr val="141414"/>
                </a:solidFill>
                <a:latin typeface="Beeline Sans"/>
              </a:rPr>
              <a:t>доказан</a:t>
            </a:r>
          </a:p>
          <a:p>
            <a:pPr algn="l">
              <a:spcBef>
                <a:spcPts val="0"/>
              </a:spcBef>
            </a:pPr>
            <a:r>
              <a:rPr sz="2100" b="0" i="0">
                <a:solidFill>
                  <a:srgbClr val="141414"/>
                </a:solidFill>
                <a:latin typeface="Beeline Sans"/>
              </a:rPr>
              <a:t>минимум бригад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35424" y="4791456"/>
            <a:ext cx="32004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400" b="0" i="0">
                <a:solidFill>
                  <a:srgbClr val="141414"/>
                </a:solidFill>
                <a:latin typeface="Beeline Sans Black"/>
              </a:rPr>
              <a:t>24/24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35424" y="6400800"/>
            <a:ext cx="320040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0" i="0">
                <a:solidFill>
                  <a:srgbClr val="141414"/>
                </a:solidFill>
                <a:latin typeface="Beeline Sans"/>
              </a:rPr>
              <a:t>задач:</a:t>
            </a:r>
          </a:p>
          <a:p>
            <a:pPr algn="l">
              <a:spcBef>
                <a:spcPts val="0"/>
              </a:spcBef>
            </a:pPr>
            <a:r>
              <a:rPr sz="2100" b="0" i="0">
                <a:solidFill>
                  <a:srgbClr val="141414"/>
                </a:solidFill>
                <a:latin typeface="Beeline Sans"/>
              </a:rPr>
              <a:t>весь план</a:t>
            </a:r>
          </a:p>
          <a:p>
            <a:pPr algn="l">
              <a:spcBef>
                <a:spcPts val="0"/>
              </a:spcBef>
            </a:pPr>
            <a:r>
              <a:rPr sz="2100" b="0" i="0">
                <a:solidFill>
                  <a:srgbClr val="141414"/>
                </a:solidFill>
                <a:latin typeface="Beeline Sans"/>
              </a:rPr>
              <a:t>теоретически</a:t>
            </a:r>
          </a:p>
          <a:p>
            <a:pPr algn="l">
              <a:spcBef>
                <a:spcPts val="0"/>
              </a:spcBef>
            </a:pPr>
            <a:r>
              <a:rPr sz="2100" b="0" i="0">
                <a:solidFill>
                  <a:srgbClr val="141414"/>
                </a:solidFill>
                <a:latin typeface="Beeline Sans"/>
              </a:rPr>
              <a:t>оптимален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430768" y="3200400"/>
            <a:ext cx="7315200" cy="5486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979408" y="3566160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141414"/>
                </a:solidFill>
                <a:latin typeface="Beeline Sans"/>
              </a:rPr>
              <a:t>Реальные дни 28–29.09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79408" y="4572000"/>
            <a:ext cx="2962656" cy="3657600"/>
          </a:xfrm>
          <a:prstGeom prst="roundRect">
            <a:avLst>
              <a:gd name="adj" fmla="val 5000"/>
            </a:avLst>
          </a:prstGeom>
          <a:solidFill>
            <a:srgbClr val="FFC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198864" y="4791456"/>
            <a:ext cx="265176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400" b="0" i="0">
                <a:solidFill>
                  <a:srgbClr val="141414"/>
                </a:solidFill>
                <a:latin typeface="Beeline Sans Black"/>
              </a:rPr>
              <a:t>40/40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98864" y="6400800"/>
            <a:ext cx="265176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0" i="0">
                <a:solidFill>
                  <a:srgbClr val="141414"/>
                </a:solidFill>
                <a:latin typeface="Beeline Sans"/>
              </a:rPr>
              <a:t>задач:</a:t>
            </a:r>
          </a:p>
          <a:p>
            <a:pPr algn="l">
              <a:spcBef>
                <a:spcPts val="0"/>
              </a:spcBef>
            </a:pPr>
            <a:r>
              <a:rPr sz="2100" b="0" i="0">
                <a:solidFill>
                  <a:srgbClr val="141414"/>
                </a:solidFill>
                <a:latin typeface="Beeline Sans"/>
              </a:rPr>
              <a:t>доказан</a:t>
            </a:r>
          </a:p>
          <a:p>
            <a:pPr algn="l">
              <a:spcBef>
                <a:spcPts val="0"/>
              </a:spcBef>
            </a:pPr>
            <a:r>
              <a:rPr sz="2100" b="0" i="0">
                <a:solidFill>
                  <a:srgbClr val="141414"/>
                </a:solidFill>
                <a:latin typeface="Beeline Sans"/>
              </a:rPr>
              <a:t>минимум бригад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307824" y="4791456"/>
            <a:ext cx="32004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400" b="0" i="0">
                <a:solidFill>
                  <a:srgbClr val="141414"/>
                </a:solidFill>
                <a:latin typeface="Beeline Sans Black"/>
              </a:rPr>
              <a:t>36/40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307824" y="6400800"/>
            <a:ext cx="320040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0" i="0">
                <a:solidFill>
                  <a:srgbClr val="141414"/>
                </a:solidFill>
                <a:latin typeface="Beeline Sans"/>
              </a:rPr>
              <a:t>задач:</a:t>
            </a:r>
          </a:p>
          <a:p>
            <a:pPr algn="l">
              <a:spcBef>
                <a:spcPts val="0"/>
              </a:spcBef>
            </a:pPr>
            <a:r>
              <a:rPr sz="2100" b="0" i="0">
                <a:solidFill>
                  <a:srgbClr val="141414"/>
                </a:solidFill>
                <a:latin typeface="Beeline Sans"/>
              </a:rPr>
              <a:t>весь план</a:t>
            </a:r>
          </a:p>
          <a:p>
            <a:pPr algn="l">
              <a:spcBef>
                <a:spcPts val="0"/>
              </a:spcBef>
            </a:pPr>
            <a:r>
              <a:rPr sz="2100" b="0" i="0">
                <a:solidFill>
                  <a:srgbClr val="141414"/>
                </a:solidFill>
                <a:latin typeface="Beeline Sans"/>
              </a:rPr>
              <a:t>теоретически</a:t>
            </a:r>
          </a:p>
          <a:p>
            <a:pPr algn="l">
              <a:spcBef>
                <a:spcPts val="0"/>
              </a:spcBef>
            </a:pPr>
            <a:r>
              <a:rPr sz="2100" b="0" i="0">
                <a:solidFill>
                  <a:srgbClr val="141414"/>
                </a:solidFill>
                <a:latin typeface="Beeline Sans"/>
              </a:rPr>
              <a:t>оптимален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6203167" y="3200400"/>
            <a:ext cx="7315200" cy="5486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16751808" y="3566160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141414"/>
                </a:solidFill>
                <a:latin typeface="Beeline Sans"/>
              </a:rPr>
              <a:t>Сгенерированные участки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6751808" y="4572000"/>
            <a:ext cx="2962656" cy="3657600"/>
          </a:xfrm>
          <a:prstGeom prst="roundRect">
            <a:avLst>
              <a:gd name="adj" fmla="val 5000"/>
            </a:avLst>
          </a:prstGeom>
          <a:solidFill>
            <a:srgbClr val="FFC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16971264" y="4791456"/>
            <a:ext cx="265176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400" b="0" i="0">
                <a:solidFill>
                  <a:srgbClr val="141414"/>
                </a:solidFill>
                <a:latin typeface="Beeline Sans Black"/>
              </a:rPr>
              <a:t>24/24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6971264" y="6400800"/>
            <a:ext cx="265176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0" i="0">
                <a:solidFill>
                  <a:srgbClr val="141414"/>
                </a:solidFill>
                <a:latin typeface="Beeline Sans"/>
              </a:rPr>
              <a:t>задач:</a:t>
            </a:r>
          </a:p>
          <a:p>
            <a:pPr algn="l">
              <a:spcBef>
                <a:spcPts val="0"/>
              </a:spcBef>
            </a:pPr>
            <a:r>
              <a:rPr sz="2100" b="0" i="0">
                <a:solidFill>
                  <a:srgbClr val="141414"/>
                </a:solidFill>
                <a:latin typeface="Beeline Sans"/>
              </a:rPr>
              <a:t>доказан</a:t>
            </a:r>
          </a:p>
          <a:p>
            <a:pPr algn="l">
              <a:spcBef>
                <a:spcPts val="0"/>
              </a:spcBef>
            </a:pPr>
            <a:r>
              <a:rPr sz="2100" b="0" i="0">
                <a:solidFill>
                  <a:srgbClr val="141414"/>
                </a:solidFill>
                <a:latin typeface="Beeline Sans"/>
              </a:rPr>
              <a:t>минимум бригад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0080224" y="4791456"/>
            <a:ext cx="32004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400" b="0" i="0">
                <a:solidFill>
                  <a:srgbClr val="141414"/>
                </a:solidFill>
                <a:latin typeface="Beeline Sans Black"/>
              </a:rPr>
              <a:t>21/24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0080224" y="6400800"/>
            <a:ext cx="320040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0" i="0">
                <a:solidFill>
                  <a:srgbClr val="141414"/>
                </a:solidFill>
                <a:latin typeface="Beeline Sans"/>
              </a:rPr>
              <a:t>задач:</a:t>
            </a:r>
          </a:p>
          <a:p>
            <a:pPr algn="l">
              <a:spcBef>
                <a:spcPts val="0"/>
              </a:spcBef>
            </a:pPr>
            <a:r>
              <a:rPr sz="2100" b="0" i="0">
                <a:solidFill>
                  <a:srgbClr val="141414"/>
                </a:solidFill>
                <a:latin typeface="Beeline Sans"/>
              </a:rPr>
              <a:t>весь план</a:t>
            </a:r>
          </a:p>
          <a:p>
            <a:pPr algn="l">
              <a:spcBef>
                <a:spcPts val="0"/>
              </a:spcBef>
            </a:pPr>
            <a:r>
              <a:rPr sz="2100" b="0" i="0">
                <a:solidFill>
                  <a:srgbClr val="141414"/>
                </a:solidFill>
                <a:latin typeface="Beeline Sans"/>
              </a:rPr>
              <a:t>теоретически</a:t>
            </a:r>
          </a:p>
          <a:p>
            <a:pPr algn="l">
              <a:spcBef>
                <a:spcPts val="0"/>
              </a:spcBef>
            </a:pPr>
            <a:r>
              <a:rPr sz="2100" b="0" i="0">
                <a:solidFill>
                  <a:srgbClr val="141414"/>
                </a:solidFill>
                <a:latin typeface="Beeline Sans"/>
              </a:rPr>
              <a:t>оптимален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8368" y="9418320"/>
            <a:ext cx="23042880" cy="2926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FFC800"/>
                </a:solidFill>
                <a:latin typeface="Beeline Sans"/>
              </a:rPr>
              <a:t>Нижняя граница </a:t>
            </a:r>
            <a:r>
              <a:rPr sz="2600" b="0" i="0">
                <a:solidFill>
                  <a:srgbClr val="FFFFFF"/>
                </a:solidFill>
                <a:latin typeface="Beeline Sans"/>
              </a:rPr>
              <a:t>нужна только для доказательства: она показывает, что выбранный подход близок к теоретическому пределу. Для работы оптимизатора и интеграции её считать не нужно. Граница считается 1–3 минуты, полное доказательство — от минуты до часа.</a:t>
            </a:r>
          </a:p>
          <a:p>
            <a:pPr algn="l">
              <a:spcBef>
                <a:spcPts val="2000"/>
              </a:spcBef>
            </a:pPr>
            <a:r>
              <a:rPr sz="2600" b="1" i="0">
                <a:solidFill>
                  <a:srgbClr val="FFC800"/>
                </a:solidFill>
                <a:latin typeface="Beeline Sans"/>
              </a:rPr>
              <a:t>До оптимума </a:t>
            </a:r>
            <a:r>
              <a:rPr sz="2600" b="0" i="0">
                <a:solidFill>
                  <a:srgbClr val="FFFFFF"/>
                </a:solidFill>
                <a:latin typeface="Beeline Sans"/>
              </a:rPr>
              <a:t>в 81 задаче из 88 лучший план совпал с теоретической нижней границей. В остальных 7 он отстаёт от нижней границы по км в среднем на 0,8% (не больше 3,3%), по всем 88 задачам в пределах 0,06%.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8368" y="12947904"/>
            <a:ext cx="1463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A1A1A1"/>
                </a:solidFill>
                <a:latin typeface="Beeline Sans"/>
              </a:rPr>
              <a:t>36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48640"/>
            <a:ext cx="1645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8C8C8C"/>
                </a:solidFill>
                <a:latin typeface="Beeline Sans"/>
              </a:rPr>
              <a:t>Результаты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66A6096C-FC1D-1CE6-4D9A-E42A4FC258C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44260" y="531262"/>
            <a:ext cx="660947" cy="66094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" y="1133856"/>
            <a:ext cx="217627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600" b="1" i="0">
                <a:solidFill>
                  <a:srgbClr val="141414"/>
                </a:solidFill>
                <a:latin typeface="Beeline Sans"/>
              </a:rPr>
              <a:t>Скорость работы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5453359" y="914400"/>
            <a:ext cx="7315200" cy="1133856"/>
          </a:xfrm>
          <a:prstGeom prst="roundRect">
            <a:avLst>
              <a:gd name="adj" fmla="val 5000"/>
            </a:avLst>
          </a:prstGeom>
          <a:solidFill>
            <a:srgbClr val="FFF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5727680" y="914400"/>
            <a:ext cx="6858000" cy="11338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1" i="0">
                <a:solidFill>
                  <a:srgbClr val="141414"/>
                </a:solidFill>
                <a:latin typeface="Beeline Sans"/>
              </a:rPr>
              <a:t>модель первого этапа: </a:t>
            </a:r>
            <a:r>
              <a:rPr sz="1800" b="0" i="0">
                <a:solidFill>
                  <a:srgbClr val="141414"/>
                </a:solidFill>
                <a:latin typeface="Beeline Sans"/>
              </a:rPr>
              <a:t>смена 10–22 без обеда, транспорт по средней скорости, пробки одним коэффициентом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58368" y="3017520"/>
          <a:ext cx="13167360" cy="83210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58368" y="11521440"/>
            <a:ext cx="131673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 i="0">
                <a:solidFill>
                  <a:srgbClr val="8C8C8C"/>
                </a:solidFill>
                <a:latin typeface="Beeline Sans"/>
              </a:rPr>
              <a:t>*Доля запусков по 3 с (8 потоков, сиды 1–3): 88 задач, 264 запуска.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4447520" y="3017520"/>
            <a:ext cx="9253728" cy="2871216"/>
          </a:xfrm>
          <a:prstGeom prst="roundRect">
            <a:avLst>
              <a:gd name="adj" fmla="val 5000"/>
            </a:avLst>
          </a:prstGeom>
          <a:solidFill>
            <a:srgbClr val="FFC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14904720" y="3236976"/>
            <a:ext cx="292608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400" b="0" i="0">
                <a:solidFill>
                  <a:srgbClr val="141414"/>
                </a:solidFill>
                <a:latin typeface="Beeline Sans Black"/>
              </a:rPr>
              <a:t>100%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922240" y="3383279"/>
            <a:ext cx="5486400" cy="228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300" b="0" i="0">
                <a:solidFill>
                  <a:srgbClr val="141414"/>
                </a:solidFill>
                <a:latin typeface="Beeline Sans"/>
              </a:rPr>
              <a:t>контрольный день: все 24 плана оптимальны целиком — и по бригадам, и по км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4447520" y="6163056"/>
            <a:ext cx="9253728" cy="2871216"/>
          </a:xfrm>
          <a:prstGeom prst="roundRect">
            <a:avLst>
              <a:gd name="adj" fmla="val 5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14904720" y="6382512"/>
            <a:ext cx="292608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400" b="0" i="0">
                <a:solidFill>
                  <a:srgbClr val="141414"/>
                </a:solidFill>
                <a:latin typeface="Beeline Sans Black"/>
              </a:rPr>
              <a:t>92%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922240" y="6528816"/>
            <a:ext cx="5486400" cy="228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300" b="0" i="0">
                <a:solidFill>
                  <a:srgbClr val="141414"/>
                </a:solidFill>
                <a:latin typeface="Beeline Sans"/>
              </a:rPr>
              <a:t>задач (81 из 88): план оптимален целиком; по всем 88 — в пределах 0,06% от нижней границы по км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4447520" y="9308592"/>
            <a:ext cx="9253728" cy="2871216"/>
          </a:xfrm>
          <a:prstGeom prst="roundRect">
            <a:avLst>
              <a:gd name="adj" fmla="val 5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14904720" y="9528048"/>
            <a:ext cx="292608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400" b="0" i="0">
                <a:solidFill>
                  <a:srgbClr val="141414"/>
                </a:solidFill>
                <a:latin typeface="Beeline Sans Black"/>
              </a:rPr>
              <a:t>&lt; 1 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922240" y="9674352"/>
            <a:ext cx="5486400" cy="228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300" b="0" i="0">
                <a:solidFill>
                  <a:srgbClr val="141414"/>
                </a:solidFill>
                <a:latin typeface="Beeline Sans"/>
              </a:rPr>
              <a:t>время решателя на 1000 участков на одном ноутбуке при 3 секундах на участок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12947904"/>
            <a:ext cx="1463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8C8C8C"/>
                </a:solidFill>
                <a:latin typeface="Beeline Sans"/>
              </a:rPr>
              <a:t>37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48640"/>
            <a:ext cx="1645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8C8C8C"/>
                </a:solidFill>
                <a:latin typeface="Beeline Sans"/>
              </a:rPr>
              <a:t>Результаты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66A6096C-FC1D-1CE6-4D9A-E42A4FC258C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44260" y="531262"/>
            <a:ext cx="660947" cy="66094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" y="1133856"/>
            <a:ext cx="217627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600" b="1" i="0">
                <a:solidFill>
                  <a:srgbClr val="141414"/>
                </a:solidFill>
                <a:latin typeface="Beeline Sans"/>
              </a:rPr>
              <a:t>Что пробовали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58368" y="3017520"/>
          <a:ext cx="23042880" cy="9070848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4630400"/>
                <a:gridCol w="8412480"/>
              </a:tblGrid>
              <a:tr h="1133856">
                <a:tc>
                  <a:txBody>
                    <a:bodyPr wrap="square"/>
                    <a:lstStyle/>
                    <a:p>
                      <a:pPr algn="l"/>
                      <a:r>
                        <a:rPr sz="2500" b="1" i="0">
                          <a:solidFill>
                            <a:srgbClr val="FFFFFF"/>
                          </a:solidFill>
                          <a:latin typeface="Beeline Sans"/>
                        </a:rPr>
                        <a:t>Подход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2500" b="1" i="0">
                          <a:solidFill>
                            <a:srgbClr val="FFFFFF"/>
                          </a:solidFill>
                          <a:latin typeface="Beeline Sans"/>
                        </a:rPr>
                        <a:t>Результат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141414"/>
                    </a:solidFill>
                  </a:tcPr>
                </a:tc>
              </a:tr>
              <a:tr h="1133856">
                <a:tc>
                  <a:txBody>
                    <a:bodyPr wrap="square"/>
                    <a:lstStyle/>
                    <a:p>
                      <a:pPr algn="l"/>
                      <a:r>
                        <a:rPr sz="2500" b="0" i="0">
                          <a:solidFill>
                            <a:srgbClr val="141414"/>
                          </a:solidFill>
                          <a:latin typeface="Beeline Sans"/>
                        </a:rPr>
                        <a:t>Жадные: сортировка по окну, ближайший сосед, заметание, экономия Кларка–Райта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2500" b="0" i="0">
                          <a:solidFill>
                            <a:srgbClr val="141414"/>
                          </a:solidFill>
                          <a:latin typeface="Beeline Sans"/>
                        </a:rPr>
                        <a:t>много бригад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1133856">
                <a:tc>
                  <a:txBody>
                    <a:bodyPr wrap="square"/>
                    <a:lstStyle/>
                    <a:p>
                      <a:pPr algn="l"/>
                      <a:r>
                        <a:rPr sz="2500" b="0" i="0">
                          <a:solidFill>
                            <a:srgbClr val="141414"/>
                          </a:solidFill>
                          <a:latin typeface="Beeline Sans"/>
                        </a:rPr>
                        <a:t>Графовые: покрытие путями, поток, венгерский по слотам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2500" b="0" i="0">
                          <a:solidFill>
                            <a:srgbClr val="141414"/>
                          </a:solidFill>
                          <a:latin typeface="Beeline Sans"/>
                        </a:rPr>
                        <a:t>слабее; венгерский оставили для назначения бригад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1F1F1"/>
                    </a:solidFill>
                  </a:tcPr>
                </a:tc>
              </a:tr>
              <a:tr h="1133856">
                <a:tc>
                  <a:txBody>
                    <a:bodyPr wrap="square"/>
                    <a:lstStyle/>
                    <a:p>
                      <a:pPr algn="l"/>
                      <a:r>
                        <a:rPr sz="2500" b="0" i="0">
                          <a:solidFill>
                            <a:srgbClr val="141414"/>
                          </a:solidFill>
                          <a:latin typeface="Beeline Sans"/>
                        </a:rPr>
                        <a:t>Табу-поиск, лучевой поиск, облегчённый HGS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2500" b="0" i="0">
                          <a:solidFill>
                            <a:srgbClr val="141414"/>
                          </a:solidFill>
                          <a:latin typeface="Beeline Sans"/>
                        </a:rPr>
                        <a:t>хуже отжига и ALNS за 1 секунду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1133856">
                <a:tc>
                  <a:txBody>
                    <a:bodyPr wrap="square"/>
                    <a:lstStyle/>
                    <a:p>
                      <a:pPr algn="l"/>
                      <a:r>
                        <a:rPr sz="2500" b="0" i="0">
                          <a:solidFill>
                            <a:srgbClr val="141414"/>
                          </a:solidFill>
                          <a:latin typeface="Beeline Sans"/>
                        </a:rPr>
                        <a:t>OR-Tools, PyVRP, VROOM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2500" b="0" i="0">
                          <a:solidFill>
                            <a:srgbClr val="141414"/>
                          </a:solidFill>
                          <a:latin typeface="Beeline Sans"/>
                        </a:rPr>
                        <a:t>в среднем на 0,5–0,7 бригады больше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1F1F1"/>
                    </a:solidFill>
                  </a:tcPr>
                </a:tc>
              </a:tr>
              <a:tr h="1133856">
                <a:tc>
                  <a:txBody>
                    <a:bodyPr wrap="square"/>
                    <a:lstStyle/>
                    <a:p>
                      <a:pPr algn="l"/>
                      <a:r>
                        <a:rPr sz="2500" b="0" i="0">
                          <a:solidFill>
                            <a:srgbClr val="141414"/>
                          </a:solidFill>
                          <a:latin typeface="Beeline Sans"/>
                        </a:rPr>
                        <a:t>Собрать план из лучших маршрутов разных запусков (точный подбор CP-SAT)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2500" b="0" i="0">
                          <a:solidFill>
                            <a:srgbClr val="141414"/>
                          </a:solidFill>
                          <a:latin typeface="Beeline Sans"/>
                        </a:rPr>
                        <a:t>почти без выигрыша: короче лишь в 4 задачах из 30, максимум на 3,4 км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1133856">
                <a:tc>
                  <a:txBody>
                    <a:bodyPr wrap="square"/>
                    <a:lstStyle/>
                    <a:p>
                      <a:pPr algn="l"/>
                      <a:r>
                        <a:rPr sz="2500" b="0" i="0">
                          <a:solidFill>
                            <a:srgbClr val="141414"/>
                          </a:solidFill>
                          <a:latin typeface="Beeline Sans"/>
                        </a:rPr>
                        <a:t>Подсказки по видам транспорта, план по кластерам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1F1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2500" b="0" i="0">
                          <a:solidFill>
                            <a:srgbClr val="141414"/>
                          </a:solidFill>
                          <a:latin typeface="Beeline Sans"/>
                        </a:rPr>
                        <a:t>в среднем без выигрыша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1F1F1"/>
                    </a:solidFill>
                  </a:tcPr>
                </a:tc>
              </a:tr>
              <a:tr h="1133856">
                <a:tc>
                  <a:txBody>
                    <a:bodyPr wrap="square"/>
                    <a:lstStyle/>
                    <a:p>
                      <a:pPr algn="l"/>
                      <a:r>
                        <a:rPr sz="2500" b="1" i="0">
                          <a:solidFill>
                            <a:srgbClr val="141414"/>
                          </a:solidFill>
                          <a:latin typeface="Beeline Sans"/>
                        </a:rPr>
                        <a:t>Отжиг, ALNS, SISR в 8 параллельных потоках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2500" b="1" i="0">
                          <a:solidFill>
                            <a:srgbClr val="141414"/>
                          </a:solidFill>
                          <a:latin typeface="Beeline Sans"/>
                        </a:rPr>
                        <a:t>используем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58368" y="12947904"/>
            <a:ext cx="1463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8C8C8C"/>
                </a:solidFill>
                <a:latin typeface="Beeline Sans"/>
              </a:rPr>
              <a:t>38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48640"/>
            <a:ext cx="1645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8C8C8C"/>
                </a:solidFill>
                <a:latin typeface="Beeline Sans"/>
              </a:rPr>
              <a:t>Результаты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66A6096C-FC1D-1CE6-4D9A-E42A4FC258C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44260" y="531262"/>
            <a:ext cx="660947" cy="66094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" y="1133856"/>
            <a:ext cx="217627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600" b="1" i="0">
                <a:solidFill>
                  <a:srgbClr val="141414"/>
                </a:solidFill>
                <a:latin typeface="Beeline Sans"/>
              </a:rPr>
              <a:t>Эффект и ограничения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3017520"/>
            <a:ext cx="7315200" cy="3017520"/>
          </a:xfrm>
          <a:prstGeom prst="roundRect">
            <a:avLst>
              <a:gd name="adj" fmla="val 5000"/>
            </a:avLst>
          </a:prstGeom>
          <a:solidFill>
            <a:srgbClr val="FFC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207007" y="3200400"/>
            <a:ext cx="64008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0" b="0" i="0">
                <a:solidFill>
                  <a:srgbClr val="141414"/>
                </a:solidFill>
                <a:latin typeface="Beeline Sans Black"/>
              </a:rPr>
              <a:t>35 → 27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07007" y="4846320"/>
            <a:ext cx="64008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 i="0">
                <a:solidFill>
                  <a:srgbClr val="141414"/>
                </a:solidFill>
                <a:latin typeface="Beeline Sans"/>
              </a:rPr>
              <a:t>бригад на трёх участках организаторов, новая модель, смешанный транспорт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430768" y="3017520"/>
            <a:ext cx="7315200" cy="3017520"/>
          </a:xfrm>
          <a:prstGeom prst="roundRect">
            <a:avLst>
              <a:gd name="adj" fmla="val 5000"/>
            </a:avLst>
          </a:prstGeom>
          <a:solidFill>
            <a:srgbClr val="FFC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979408" y="3200400"/>
            <a:ext cx="64008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0" b="0" i="0">
                <a:solidFill>
                  <a:srgbClr val="141414"/>
                </a:solidFill>
                <a:latin typeface="Beeline Sans Black"/>
              </a:rPr>
              <a:t>6 из 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79408" y="4846320"/>
            <a:ext cx="64008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 i="0">
                <a:solidFill>
                  <a:srgbClr val="141414"/>
                </a:solidFill>
                <a:latin typeface="Beeline Sans"/>
              </a:rPr>
              <a:t>участков: меньше бригад нельзя, доказано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6203167" y="3017520"/>
            <a:ext cx="7315200" cy="3017520"/>
          </a:xfrm>
          <a:prstGeom prst="roundRect">
            <a:avLst>
              <a:gd name="adj" fmla="val 5000"/>
            </a:avLst>
          </a:prstGeom>
          <a:solidFill>
            <a:srgbClr val="FFC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16751808" y="3200400"/>
            <a:ext cx="64008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0" b="0" i="0">
                <a:solidFill>
                  <a:srgbClr val="141414"/>
                </a:solidFill>
                <a:latin typeface="Beeline Sans Black"/>
              </a:rPr>
              <a:t>203 из 205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751808" y="4846320"/>
            <a:ext cx="64008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 i="0">
                <a:solidFill>
                  <a:srgbClr val="141414"/>
                </a:solidFill>
                <a:latin typeface="Beeline Sans"/>
              </a:rPr>
              <a:t>заявок на трёх участках организаторов; базовый вариант — 121 на всех бригадах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6309360"/>
            <a:ext cx="23042880" cy="1280160"/>
          </a:xfrm>
          <a:prstGeom prst="roundRect">
            <a:avLst>
              <a:gd name="adj" fmla="val 5000"/>
            </a:avLst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1097280" y="6400800"/>
            <a:ext cx="22311360" cy="10972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600" b="1" i="0">
                <a:solidFill>
                  <a:srgbClr val="FFC800"/>
                </a:solidFill>
                <a:latin typeface="Beeline Sans"/>
              </a:rPr>
              <a:t>В модели первого этапа </a:t>
            </a:r>
            <a:r>
              <a:rPr sz="2600" b="0" i="0">
                <a:solidFill>
                  <a:srgbClr val="FFFFFF"/>
                </a:solidFill>
                <a:latin typeface="Beeline Sans"/>
              </a:rPr>
              <a:t>(смена 10–22 без обеда) теоретический оптимум по бригадам — во всех 88 тестовых задачах, по км — в 81 из 88.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7863840"/>
            <a:ext cx="11338560" cy="4480560"/>
          </a:xfrm>
          <a:prstGeom prst="roundRect">
            <a:avLst>
              <a:gd name="adj" fmla="val 5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1207007" y="8138160"/>
            <a:ext cx="102412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141414"/>
                </a:solidFill>
                <a:latin typeface="Beeline Sans"/>
              </a:rPr>
              <a:t>Ограничения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07007" y="9052560"/>
            <a:ext cx="10241280" cy="320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438912" indent="-438912">
              <a:buClr>
                <a:srgbClr val="141414"/>
              </a:buClr>
              <a:buFont typeface="Beeline Sans"/>
              <a:buChar char="—"/>
            </a:pPr>
            <a:r>
              <a:rPr sz="2500" b="0" i="0">
                <a:solidFill>
                  <a:srgbClr val="141414"/>
                </a:solidFill>
                <a:latin typeface="Beeline Sans"/>
              </a:rPr>
              <a:t>цифры с пометкой «модель первого этапа» — смена 10–22 без обеда</a:t>
            </a:r>
          </a:p>
          <a:p>
            <a:pPr algn="l" marL="438912" indent="-438912">
              <a:spcBef>
                <a:spcPts val="1600"/>
              </a:spcBef>
              <a:buClr>
                <a:srgbClr val="141414"/>
              </a:buClr>
              <a:buFont typeface="Beeline Sans"/>
              <a:buChar char="—"/>
            </a:pPr>
            <a:r>
              <a:rPr sz="2500" b="0" i="0">
                <a:solidFill>
                  <a:srgbClr val="141414"/>
                </a:solidFill>
                <a:latin typeface="Beeline Sans"/>
              </a:rPr>
              <a:t>в новой модели минимум бригад доказан на всех шести участках, оптимум по км не доказываем</a:t>
            </a:r>
          </a:p>
          <a:p>
            <a:pPr algn="l" marL="438912" indent="-438912">
              <a:spcBef>
                <a:spcPts val="1600"/>
              </a:spcBef>
              <a:buClr>
                <a:srgbClr val="141414"/>
              </a:buClr>
              <a:buFont typeface="Beeline Sans"/>
              <a:buChar char="—"/>
            </a:pPr>
            <a:r>
              <a:rPr sz="2500" b="0" i="0">
                <a:solidFill>
                  <a:srgbClr val="141414"/>
                </a:solidFill>
                <a:latin typeface="Beeline Sans"/>
              </a:rPr>
              <a:t>аварии из файла с окном на весь день: ожидание штрафуем, но не запрещаем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2362688" y="7863840"/>
            <a:ext cx="11338560" cy="4480560"/>
          </a:xfrm>
          <a:prstGeom prst="roundRect">
            <a:avLst>
              <a:gd name="adj" fmla="val 5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12911328" y="8138160"/>
            <a:ext cx="102412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141414"/>
                </a:solidFill>
                <a:latin typeface="Beeline Sans"/>
              </a:rPr>
              <a:t>Что дальше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911328" y="9052560"/>
            <a:ext cx="10241280" cy="320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438912" indent="-438912">
              <a:buClr>
                <a:srgbClr val="141414"/>
              </a:buClr>
              <a:buFont typeface="Beeline Sans"/>
              <a:buChar char="—"/>
            </a:pPr>
            <a:r>
              <a:rPr sz="2500" b="0" i="0">
                <a:solidFill>
                  <a:srgbClr val="141414"/>
                </a:solidFill>
                <a:latin typeface="Beeline Sans"/>
              </a:rPr>
              <a:t>стоимость бригады в км как настройка диспетчера</a:t>
            </a:r>
          </a:p>
          <a:p>
            <a:pPr algn="l" marL="438912" indent="-438912">
              <a:spcBef>
                <a:spcPts val="1600"/>
              </a:spcBef>
              <a:buClr>
                <a:srgbClr val="141414"/>
              </a:buClr>
              <a:buFont typeface="Beeline Sans"/>
              <a:buChar char="—"/>
            </a:pPr>
            <a:r>
              <a:rPr sz="2500" b="0" i="0">
                <a:solidFill>
                  <a:srgbClr val="141414"/>
                </a:solidFill>
                <a:latin typeface="Beeline Sans"/>
              </a:rPr>
              <a:t>планирование на несколько дней, пополнение оборудования днём</a:t>
            </a:r>
          </a:p>
          <a:p>
            <a:pPr algn="l" marL="438912" indent="-438912">
              <a:spcBef>
                <a:spcPts val="1600"/>
              </a:spcBef>
              <a:buClr>
                <a:srgbClr val="141414"/>
              </a:buClr>
              <a:buFont typeface="Beeline Sans"/>
              <a:buChar char="—"/>
            </a:pPr>
            <a:r>
              <a:rPr sz="2500" b="0" i="0">
                <a:solidFill>
                  <a:srgbClr val="141414"/>
                </a:solidFill>
                <a:latin typeface="Beeline Sans"/>
              </a:rPr>
              <a:t>точное время общественного транспорта на момент выезда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12947904"/>
            <a:ext cx="1463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8C8C8C"/>
                </a:solidFill>
                <a:latin typeface="Beeline Sans"/>
              </a:rPr>
              <a:t>39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48640"/>
            <a:ext cx="1645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8C8C8C"/>
                </a:solidFill>
                <a:latin typeface="Beeline Sans"/>
              </a:rPr>
              <a:t>Результаты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66A6096C-FC1D-1CE6-4D9A-E42A4FC258C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44260" y="531262"/>
            <a:ext cx="660947" cy="66094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" y="1133856"/>
            <a:ext cx="217627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600" b="1" i="0">
                <a:solidFill>
                  <a:srgbClr val="141414"/>
                </a:solidFill>
                <a:latin typeface="Beeline Sans"/>
              </a:rPr>
              <a:t>Технологии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3017520"/>
            <a:ext cx="7315200" cy="2743200"/>
          </a:xfrm>
          <a:prstGeom prst="roundRect">
            <a:avLst>
              <a:gd name="adj" fmla="val 5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207007" y="3419856"/>
            <a:ext cx="62179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41414"/>
                </a:solidFill>
                <a:latin typeface="Beeline Sans"/>
              </a:rPr>
              <a:t>Оптимизатор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07007" y="4151376"/>
            <a:ext cx="630936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 i="0">
                <a:solidFill>
                  <a:srgbClr val="5E5E5E"/>
                </a:solidFill>
                <a:latin typeface="Beeline Sans"/>
              </a:rPr>
              <a:t>C++17, свои эвристики, 8 потоков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430768" y="3017520"/>
            <a:ext cx="7315200" cy="2743200"/>
          </a:xfrm>
          <a:prstGeom prst="roundRect">
            <a:avLst>
              <a:gd name="adj" fmla="val 5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979408" y="3419856"/>
            <a:ext cx="62179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41414"/>
                </a:solidFill>
                <a:latin typeface="Beeline Sans"/>
              </a:rPr>
              <a:t>Оценка нижней границы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79408" y="4151376"/>
            <a:ext cx="630936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 i="0">
                <a:solidFill>
                  <a:srgbClr val="5E5E5E"/>
                </a:solidFill>
                <a:latin typeface="Beeline Sans"/>
              </a:rPr>
              <a:t>Python, HiGHS, CP-SAT: генерация столбцов и точные задачи; нужна только для оценки качества плана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6203167" y="3017520"/>
            <a:ext cx="7315200" cy="2743200"/>
          </a:xfrm>
          <a:prstGeom prst="roundRect">
            <a:avLst>
              <a:gd name="adj" fmla="val 5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16751808" y="3419856"/>
            <a:ext cx="62179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41414"/>
                </a:solidFill>
                <a:latin typeface="Beeline Sans"/>
              </a:rPr>
              <a:t>Дороги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751808" y="4151376"/>
            <a:ext cx="630936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 i="0">
                <a:solidFill>
                  <a:srgbClr val="5E5E5E"/>
                </a:solidFill>
                <a:latin typeface="Beeline Sans"/>
              </a:rPr>
              <a:t>OSRM в Docker, OpenStreetMap Москвы и области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6126479"/>
            <a:ext cx="7315200" cy="2743200"/>
          </a:xfrm>
          <a:prstGeom prst="roundRect">
            <a:avLst>
              <a:gd name="adj" fmla="val 5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1207007" y="6528816"/>
            <a:ext cx="62179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41414"/>
                </a:solidFill>
                <a:latin typeface="Beeline Sans"/>
              </a:rPr>
              <a:t>Тесты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07007" y="7260336"/>
            <a:ext cx="630936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 i="0">
                <a:solidFill>
                  <a:srgbClr val="5E5E5E"/>
                </a:solidFill>
                <a:latin typeface="Beeline Sans"/>
              </a:rPr>
              <a:t>около 390 модульных, сквозных и браузерных тестов (pytest, Playwright)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430768" y="6126479"/>
            <a:ext cx="7315200" cy="2743200"/>
          </a:xfrm>
          <a:prstGeom prst="roundRect">
            <a:avLst>
              <a:gd name="adj" fmla="val 5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8979408" y="6528816"/>
            <a:ext cx="62179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41414"/>
                </a:solidFill>
                <a:latin typeface="Beeline Sans"/>
              </a:rPr>
              <a:t>Интерфейс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79408" y="7260336"/>
            <a:ext cx="630936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 i="0">
                <a:solidFill>
                  <a:srgbClr val="5E5E5E"/>
                </a:solidFill>
                <a:latin typeface="Beeline Sans"/>
              </a:rPr>
              <a:t>экран диспетчера по сценариям, экран инженера на телефоне, сервер пересчёта событий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6203167" y="6126479"/>
            <a:ext cx="7315200" cy="2743200"/>
          </a:xfrm>
          <a:prstGeom prst="roundRect">
            <a:avLst>
              <a:gd name="adj" fmla="val 5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16751808" y="6528816"/>
            <a:ext cx="62179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41414"/>
                </a:solidFill>
                <a:latin typeface="Beeline Sans"/>
              </a:rPr>
              <a:t>Данные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751808" y="7260336"/>
            <a:ext cx="630936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 i="0">
                <a:solidFill>
                  <a:srgbClr val="5E5E5E"/>
                </a:solidFill>
                <a:latin typeface="Beeline Sans"/>
              </a:rPr>
              <a:t>на входе заявки и бригады в xlsx или CSV, на выходе plan.xlsx и plan.json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9601200"/>
            <a:ext cx="23042880" cy="2743200"/>
          </a:xfrm>
          <a:prstGeom prst="roundRect">
            <a:avLst>
              <a:gd name="adj" fmla="val 5000"/>
            </a:avLst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1207008" y="9966960"/>
            <a:ext cx="2194560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FFC800"/>
                </a:solidFill>
                <a:latin typeface="Beeline Sans"/>
              </a:rPr>
              <a:t>Запуск: одна команда на участок</a:t>
            </a:r>
          </a:p>
          <a:p>
            <a:pPr algn="l">
              <a:spcBef>
                <a:spcPts val="800"/>
              </a:spcBef>
            </a:pPr>
            <a:r>
              <a:rPr sz="2500" b="0" i="0">
                <a:solidFill>
                  <a:srgbClr val="FFFFFF"/>
                </a:solidFill>
                <a:latin typeface="Beeline Sans"/>
              </a:rPr>
              <a:t>python -m dispatch plan "Восток заявки.xlsx" -b "Восток бригады.xlsx" -o out/Восток</a:t>
            </a:r>
          </a:p>
          <a:p>
            <a:pPr algn="l">
              <a:spcBef>
                <a:spcPts val="800"/>
              </a:spcBef>
            </a:pPr>
            <a:r>
              <a:rPr sz="2500" b="0" i="0">
                <a:solidFill>
                  <a:srgbClr val="A1A1A1"/>
                </a:solidFill>
                <a:latin typeface="Beeline Sans"/>
              </a:rPr>
              <a:t>в папке результата план, метрики, причины неназначения и объяснения; демо целиком — docker compose up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368" y="12947904"/>
            <a:ext cx="1463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8C8C8C"/>
                </a:solidFill>
                <a:latin typeface="Beeline Sans"/>
              </a:rPr>
              <a:t>40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4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601" name="спасибо">
            <a:extLst>
              <a:ext uri="{FF2B5EF4-FFF2-40B4-BE49-F238E27FC236}">
                <a16:creationId xmlns:a16="http://schemas.microsoft.com/office/drawing/2014/main" id="{956FE607-2AAF-233D-56EB-85446070CA4B}"/>
              </a:ext>
            </a:extLst>
          </p:cNvPr>
          <p:cNvSpPr txBox="1"/>
          <p:nvPr/>
        </p:nvSpPr>
        <p:spPr>
          <a:xfrm>
            <a:off x="807330" y="9998690"/>
            <a:ext cx="21578977" cy="3022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>
            <a:spAutoFit/>
          </a:bodyPr>
          <a:lstStyle>
            <a:lvl1pPr algn="l">
              <a:lnSpc>
                <a:spcPct val="90000"/>
              </a:lnSpc>
              <a:defRPr sz="21200" b="1">
                <a:solidFill>
                  <a:srgbClr val="FFFFFF"/>
                </a:solidFill>
                <a:latin typeface="Beeline Sans"/>
                <a:ea typeface="Beeline Sans"/>
                <a:cs typeface="Beeline Sans"/>
                <a:sym typeface="Beeline Sans"/>
              </a:defRPr>
            </a:lvl1pPr>
          </a:lstStyle>
          <a:p>
            <a:r>
              <a:rPr dirty="0" err="1"/>
              <a:t>спасибо</a:t>
            </a:r>
            <a:endParaRPr dirty="0"/>
          </a:p>
        </p:txBody>
      </p:sp>
      <p:pic>
        <p:nvPicPr>
          <p:cNvPr id="603" name="Изображение" descr="Изображение">
            <a:extLst>
              <a:ext uri="{FF2B5EF4-FFF2-40B4-BE49-F238E27FC236}">
                <a16:creationId xmlns:a16="http://schemas.microsoft.com/office/drawing/2014/main" id="{B60C4DF0-D2EC-FCAA-6E47-DB9D6B7772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330" y="971501"/>
            <a:ext cx="4779520" cy="899856"/>
          </a:xfrm>
          <a:prstGeom prst="rect">
            <a:avLst/>
          </a:prstGeom>
          <a:ln w="12700">
            <a:miter lim="400000"/>
          </a:ln>
        </p:spPr>
      </p:pic>
      <p:sp>
        <p:nvSpPr>
          <p:cNvPr id="604" name="TextBox 603"/>
          <p:cNvSpPr txBox="1"/>
          <p:nvPr/>
        </p:nvSpPr>
        <p:spPr>
          <a:xfrm>
            <a:off x="804672" y="4206240"/>
            <a:ext cx="73152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Beeline Sans"/>
              </a:rPr>
              <a:t>Никита Подгузов</a:t>
            </a:r>
          </a:p>
        </p:txBody>
      </p:sp>
      <p:sp>
        <p:nvSpPr>
          <p:cNvPr id="605" name="TextBox 604"/>
          <p:cNvSpPr txBox="1"/>
          <p:nvPr/>
        </p:nvSpPr>
        <p:spPr>
          <a:xfrm>
            <a:off x="804672" y="5120640"/>
            <a:ext cx="73152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0" i="0">
                <a:solidFill>
                  <a:srgbClr val="A1A1A1"/>
                </a:solidFill>
                <a:latin typeface="Beeline Sans"/>
              </a:rPr>
              <a:t>капитан, бекенд-разработчик</a:t>
            </a:r>
          </a:p>
        </p:txBody>
      </p:sp>
      <p:sp>
        <p:nvSpPr>
          <p:cNvPr id="606" name="TextBox 605"/>
          <p:cNvSpPr txBox="1"/>
          <p:nvPr/>
        </p:nvSpPr>
        <p:spPr>
          <a:xfrm>
            <a:off x="804672" y="5852160"/>
            <a:ext cx="73152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FFC800"/>
                </a:solidFill>
                <a:latin typeface="Beeline Sans"/>
              </a:rPr>
              <a:t>@Nikitosh</a:t>
            </a:r>
          </a:p>
        </p:txBody>
      </p:sp>
      <p:sp>
        <p:nvSpPr>
          <p:cNvPr id="607" name="TextBox 606"/>
          <p:cNvSpPr txBox="1"/>
          <p:nvPr/>
        </p:nvSpPr>
        <p:spPr>
          <a:xfrm>
            <a:off x="8668512" y="4206240"/>
            <a:ext cx="73152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Beeline Sans"/>
              </a:rPr>
              <a:t>Ксения Шор</a:t>
            </a:r>
          </a:p>
        </p:txBody>
      </p:sp>
      <p:sp>
        <p:nvSpPr>
          <p:cNvPr id="608" name="TextBox 607"/>
          <p:cNvSpPr txBox="1"/>
          <p:nvPr/>
        </p:nvSpPr>
        <p:spPr>
          <a:xfrm>
            <a:off x="8668512" y="5120640"/>
            <a:ext cx="73152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0" i="0">
                <a:solidFill>
                  <a:srgbClr val="A1A1A1"/>
                </a:solidFill>
                <a:latin typeface="Beeline Sans"/>
              </a:rPr>
              <a:t>дизайнер</a:t>
            </a:r>
          </a:p>
        </p:txBody>
      </p:sp>
      <p:sp>
        <p:nvSpPr>
          <p:cNvPr id="609" name="TextBox 608"/>
          <p:cNvSpPr txBox="1"/>
          <p:nvPr/>
        </p:nvSpPr>
        <p:spPr>
          <a:xfrm>
            <a:off x="8668512" y="5852160"/>
            <a:ext cx="73152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FFC800"/>
                </a:solidFill>
                <a:latin typeface="Beeline Sans"/>
              </a:rPr>
              <a:t>@KseniiaShor</a:t>
            </a:r>
          </a:p>
        </p:txBody>
      </p:sp>
      <p:sp>
        <p:nvSpPr>
          <p:cNvPr id="610" name="TextBox 609"/>
          <p:cNvSpPr txBox="1"/>
          <p:nvPr/>
        </p:nvSpPr>
        <p:spPr>
          <a:xfrm>
            <a:off x="804672" y="2468880"/>
            <a:ext cx="146304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800" b="0" i="0">
                <a:solidFill>
                  <a:srgbClr val="FFC800"/>
                </a:solidFill>
                <a:latin typeface="Beeline Sans Black"/>
              </a:rPr>
              <a:t>Команда Trdelnik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414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FC899562-5539-A2EC-13B6-25296BF6F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V="1">
            <a:off x="0" y="-2401"/>
            <a:ext cx="24379736" cy="13718401"/>
          </a:xfrm>
          <a:prstGeom prst="rect">
            <a:avLst/>
          </a:prstGeom>
        </p:spPr>
      </p:pic>
      <p:sp>
        <p:nvSpPr>
          <p:cNvPr id="205" name="01"/>
          <p:cNvSpPr txBox="1"/>
          <p:nvPr/>
        </p:nvSpPr>
        <p:spPr>
          <a:xfrm>
            <a:off x="12105657" y="1474027"/>
            <a:ext cx="12278343" cy="88011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>
            <a:spAutoFit/>
          </a:bodyPr>
          <a:lstStyle>
            <a:lvl1pPr algn="l">
              <a:defRPr sz="63200" b="1">
                <a:solidFill>
                  <a:srgbClr val="FFFFFF"/>
                </a:solidFill>
                <a:latin typeface="Beeline Sans"/>
                <a:ea typeface="Beeline Sans"/>
                <a:cs typeface="Beeline Sans"/>
                <a:sym typeface="Beeline Sans"/>
              </a:defRPr>
            </a:lvl1pPr>
          </a:lstStyle>
          <a:p>
            <a:r>
              <a:rPr dirty="0"/>
              <a:t>П</a:t>
            </a:r>
          </a:p>
        </p:txBody>
      </p:sp>
      <p:sp>
        <p:nvSpPr>
          <p:cNvPr id="206" name="медиа-давление и бюджет"/>
          <p:cNvSpPr txBox="1"/>
          <p:nvPr/>
        </p:nvSpPr>
        <p:spPr>
          <a:xfrm>
            <a:off x="2391927" y="5144710"/>
            <a:ext cx="12923158" cy="342657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wrap="none">
            <a:spAutoFit/>
          </a:bodyPr>
          <a:lstStyle>
            <a:lvl1pPr algn="l">
              <a:lnSpc>
                <a:spcPct val="90000"/>
              </a:lnSpc>
              <a:defRPr sz="12000" b="1">
                <a:solidFill>
                  <a:srgbClr val="FFFFFF"/>
                </a:solidFill>
                <a:latin typeface="Beeline Sans"/>
                <a:ea typeface="Beeline Sans"/>
                <a:cs typeface="Beeline Sans"/>
                <a:sym typeface="Beeline Sans"/>
              </a:defRPr>
            </a:lvl1pPr>
          </a:lstStyle>
          <a:p>
            <a:r>
              <a:rPr lang="ru-RU" dirty="0"/>
              <a:t>приложение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48640"/>
            <a:ext cx="1645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8C8C8C"/>
                </a:solidFill>
                <a:latin typeface="Beeline Sans"/>
              </a:rPr>
              <a:t>Задача и данные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66A6096C-FC1D-1CE6-4D9A-E42A4FC258C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44260" y="531262"/>
            <a:ext cx="660947" cy="66094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" y="1133856"/>
            <a:ext cx="217627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600" b="1" i="0">
                <a:solidFill>
                  <a:srgbClr val="141414"/>
                </a:solidFill>
                <a:latin typeface="Beeline Sans"/>
              </a:rPr>
              <a:t>Исходные данные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3108960"/>
            <a:ext cx="23042880" cy="1920240"/>
          </a:xfrm>
          <a:prstGeom prst="roundRect">
            <a:avLst>
              <a:gd name="adj" fmla="val 5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207007" y="3108960"/>
            <a:ext cx="3474720" cy="1920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0" b="0" i="0">
                <a:solidFill>
                  <a:srgbClr val="141414"/>
                </a:solidFill>
                <a:latin typeface="Beeline Sans Black"/>
              </a:rPr>
              <a:t>205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64607" y="3438144"/>
            <a:ext cx="182880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141414"/>
                </a:solidFill>
                <a:latin typeface="Beeline Sans"/>
              </a:rPr>
              <a:t>заявок в трёх CSV-файлах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64607" y="4206240"/>
            <a:ext cx="182880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 i="0">
                <a:solidFill>
                  <a:srgbClr val="5E5E5E"/>
                </a:solidFill>
                <a:latin typeface="Beeline Sans"/>
              </a:rPr>
              <a:t>кодировка CP1251, адрес офиса в последней строке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847088" y="5266944"/>
            <a:ext cx="20665439" cy="1920240"/>
          </a:xfrm>
          <a:prstGeom prst="roundRect">
            <a:avLst>
              <a:gd name="adj" fmla="val 5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2395728" y="5266944"/>
            <a:ext cx="3474720" cy="1920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0" b="0" i="0">
                <a:solidFill>
                  <a:srgbClr val="141414"/>
                </a:solidFill>
                <a:latin typeface="Beeline Sans Black"/>
              </a:rPr>
              <a:t>205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53327" y="5596128"/>
            <a:ext cx="15910559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141414"/>
                </a:solidFill>
                <a:latin typeface="Beeline Sans"/>
              </a:rPr>
              <a:t>адресов переведены в координаты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53327" y="6364224"/>
            <a:ext cx="15910559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 i="0">
                <a:solidFill>
                  <a:srgbClr val="5E5E5E"/>
                </a:solidFill>
                <a:latin typeface="Beeline Sans"/>
              </a:rPr>
              <a:t>Nominatim, результат сохранён в репозитории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035808" y="7424927"/>
            <a:ext cx="18288000" cy="1920240"/>
          </a:xfrm>
          <a:prstGeom prst="roundRect">
            <a:avLst>
              <a:gd name="adj" fmla="val 5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3584448" y="7424927"/>
            <a:ext cx="3474720" cy="1920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0" b="0" i="0">
                <a:solidFill>
                  <a:srgbClr val="141414"/>
                </a:solidFill>
                <a:latin typeface="Beeline Sans Black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42048" y="7754111"/>
            <a:ext cx="135331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141414"/>
                </a:solidFill>
                <a:latin typeface="Beeline Sans"/>
              </a:rPr>
              <a:t>матрицы времени и расстояний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42048" y="8522207"/>
            <a:ext cx="135331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 i="0">
                <a:solidFill>
                  <a:srgbClr val="5E5E5E"/>
                </a:solidFill>
                <a:latin typeface="Beeline Sans"/>
              </a:rPr>
              <a:t>машина, пешком, велосипед, общественный транспорт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224528" y="9582912"/>
            <a:ext cx="15910559" cy="1920240"/>
          </a:xfrm>
          <a:prstGeom prst="roundRect">
            <a:avLst>
              <a:gd name="adj" fmla="val 5000"/>
            </a:avLst>
          </a:prstGeom>
          <a:solidFill>
            <a:srgbClr val="FFC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4773168" y="9582912"/>
            <a:ext cx="3474720" cy="1920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0" b="0" i="0">
                <a:solidFill>
                  <a:srgbClr val="141414"/>
                </a:solidFill>
                <a:latin typeface="Beeline Sans Black"/>
              </a:rPr>
              <a:t>88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30767" y="9912096"/>
            <a:ext cx="111556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141414"/>
                </a:solidFill>
                <a:latin typeface="Beeline Sans"/>
              </a:rPr>
              <a:t>тестовых задач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30767" y="10680192"/>
            <a:ext cx="111556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 i="0">
                <a:solidFill>
                  <a:srgbClr val="141414"/>
                </a:solidFill>
                <a:latin typeface="Beeline Sans"/>
              </a:rPr>
              <a:t>24 на контрольный день (3 участка, 4 варианта транспорта, 2 варианта навыков), 40 на реальные дни 28–29.09, 24 на сгенерированных участках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12252960"/>
            <a:ext cx="230428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0" i="0">
                <a:solidFill>
                  <a:srgbClr val="8C8C8C"/>
                </a:solidFill>
                <a:latin typeface="Beeline Sans"/>
              </a:rPr>
              <a:t>*Контрольный день 17.08: контрольная выгрузка организаторов за реальный день. Реальные дни: выгрузки за 28–29.09. Сгенерированные участки: адреса из OpenStreetMap.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12947904"/>
            <a:ext cx="1463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8C8C8C"/>
                </a:solidFill>
                <a:latin typeface="Beeline Sans"/>
              </a:rPr>
              <a:t>43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48640"/>
            <a:ext cx="1645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8C8C8C"/>
                </a:solidFill>
                <a:latin typeface="Beeline Sans"/>
              </a:rPr>
              <a:t>Задача и данные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66A6096C-FC1D-1CE6-4D9A-E42A4FC258C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44260" y="531262"/>
            <a:ext cx="660947" cy="66094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" y="1133856"/>
            <a:ext cx="217627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600" b="1" i="0">
                <a:solidFill>
                  <a:srgbClr val="141414"/>
                </a:solidFill>
                <a:latin typeface="Beeline Sans"/>
              </a:rPr>
              <a:t>Генерация данных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2962656"/>
            <a:ext cx="107899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41414"/>
                </a:solidFill>
                <a:latin typeface="Beeline Sans"/>
              </a:rPr>
              <a:t>Чего не хватало в данных организаторов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3840480"/>
            <a:ext cx="10789920" cy="2651760"/>
          </a:xfrm>
          <a:prstGeom prst="roundRect">
            <a:avLst>
              <a:gd name="adj" fmla="val 5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060704" y="4059936"/>
            <a:ext cx="14630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0" i="0">
                <a:solidFill>
                  <a:srgbClr val="141414"/>
                </a:solidFill>
                <a:latin typeface="Beeline Sans Black"/>
              </a:rPr>
              <a:t>#1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4096512"/>
            <a:ext cx="8686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141414"/>
                </a:solidFill>
                <a:latin typeface="Beeline Sans"/>
              </a:rPr>
              <a:t>Бригады и навыки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68880" y="4700016"/>
            <a:ext cx="868680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5E5E5E"/>
                </a:solidFill>
                <a:latin typeface="Beeline Sans"/>
              </a:rPr>
              <a:t>Состав бригад и их дома в области берём с контрольного дня. Навыки в двух вариантах: то, что бригада реально выполняла в тот день, или все три.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" y="6711696"/>
            <a:ext cx="10789920" cy="2651760"/>
          </a:xfrm>
          <a:prstGeom prst="roundRect">
            <a:avLst>
              <a:gd name="adj" fmla="val 5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1060704" y="6931152"/>
            <a:ext cx="14630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0" i="0">
                <a:solidFill>
                  <a:srgbClr val="141414"/>
                </a:solidFill>
                <a:latin typeface="Beeline Sans Black"/>
              </a:rPr>
              <a:t>#2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68880" y="6967728"/>
            <a:ext cx="8686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141414"/>
                </a:solidFill>
                <a:latin typeface="Beeline Sans"/>
              </a:rPr>
              <a:t>Транспорт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68880" y="7571231"/>
            <a:ext cx="868680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5E5E5E"/>
                </a:solidFill>
                <a:latin typeface="Beeline Sans"/>
              </a:rPr>
              <a:t>Четыре варианта: все на общественном транспорте, все на машине и два смешанных. В смешанных бригады из области на машине, московские: 60% общественный транспорт, 25% машина, 10% велосипед, 5% пешком. Итого 8 задач на каждый день участка.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9582912"/>
            <a:ext cx="10789920" cy="2651760"/>
          </a:xfrm>
          <a:prstGeom prst="roundRect">
            <a:avLst>
              <a:gd name="adj" fmla="val 5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1060704" y="9802368"/>
            <a:ext cx="14630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0" i="0">
                <a:solidFill>
                  <a:srgbClr val="141414"/>
                </a:solidFill>
                <a:latin typeface="Beeline Sans Black"/>
              </a:rPr>
              <a:t>#3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68880" y="9838944"/>
            <a:ext cx="8686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141414"/>
                </a:solidFill>
                <a:latin typeface="Beeline Sans"/>
              </a:rPr>
              <a:t>Только машина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68880" y="10442448"/>
            <a:ext cx="868680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5E5E5E"/>
                </a:solidFill>
                <a:latin typeface="Beeline Sans"/>
              </a:rPr>
              <a:t>Для аварий на узле связи и подключений с заказом оборудования нужен автомобиль: 4 из 66 заявок Востока, 19 из 83 Юго-востока.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070080" y="2962656"/>
            <a:ext cx="11631168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41414"/>
                </a:solidFill>
                <a:latin typeface="Beeline Sans"/>
              </a:rPr>
              <a:t>Новые участки Москвы: Север, Запад, Северо-восток</a:t>
            </a:r>
          </a:p>
        </p:txBody>
      </p:sp>
      <p:pic>
        <p:nvPicPr>
          <p:cNvPr id="21" name="Picture 20" descr="gen_Север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0" y="3842308"/>
            <a:ext cx="3767328" cy="3013862"/>
          </a:xfrm>
          <a:prstGeom prst="roundRect">
            <a:avLst>
              <a:gd name="adj" fmla="val 4000"/>
            </a:avLst>
          </a:prstGeom>
        </p:spPr>
      </p:pic>
      <p:sp>
        <p:nvSpPr>
          <p:cNvPr id="22" name="TextBox 21"/>
          <p:cNvSpPr txBox="1"/>
          <p:nvPr/>
        </p:nvSpPr>
        <p:spPr>
          <a:xfrm>
            <a:off x="12070080" y="6949440"/>
            <a:ext cx="376732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300" b="1" i="0">
                <a:solidFill>
                  <a:srgbClr val="141414"/>
                </a:solidFill>
                <a:latin typeface="Beeline Sans"/>
              </a:rPr>
              <a:t>Север</a:t>
            </a:r>
          </a:p>
        </p:txBody>
      </p:sp>
      <p:pic>
        <p:nvPicPr>
          <p:cNvPr id="23" name="Picture 22" descr="gen_Запад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002000" y="3842308"/>
            <a:ext cx="3767328" cy="3013862"/>
          </a:xfrm>
          <a:prstGeom prst="roundRect">
            <a:avLst>
              <a:gd name="adj" fmla="val 4000"/>
            </a:avLst>
          </a:prstGeom>
        </p:spPr>
      </p:pic>
      <p:sp>
        <p:nvSpPr>
          <p:cNvPr id="24" name="TextBox 23"/>
          <p:cNvSpPr txBox="1"/>
          <p:nvPr/>
        </p:nvSpPr>
        <p:spPr>
          <a:xfrm>
            <a:off x="16002000" y="6949440"/>
            <a:ext cx="376732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300" b="1" i="0">
                <a:solidFill>
                  <a:srgbClr val="141414"/>
                </a:solidFill>
                <a:latin typeface="Beeline Sans"/>
              </a:rPr>
              <a:t>Запад</a:t>
            </a:r>
          </a:p>
        </p:txBody>
      </p:sp>
      <p:pic>
        <p:nvPicPr>
          <p:cNvPr id="25" name="Picture 24" descr="gen_Северо-восток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933919" y="3842308"/>
            <a:ext cx="3767328" cy="3013862"/>
          </a:xfrm>
          <a:prstGeom prst="roundRect">
            <a:avLst>
              <a:gd name="adj" fmla="val 4000"/>
            </a:avLst>
          </a:prstGeom>
        </p:spPr>
      </p:pic>
      <p:sp>
        <p:nvSpPr>
          <p:cNvPr id="26" name="TextBox 25"/>
          <p:cNvSpPr txBox="1"/>
          <p:nvPr/>
        </p:nvSpPr>
        <p:spPr>
          <a:xfrm>
            <a:off x="19933919" y="6949440"/>
            <a:ext cx="376732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300" b="1" i="0">
                <a:solidFill>
                  <a:srgbClr val="141414"/>
                </a:solidFill>
                <a:latin typeface="Beeline Sans"/>
              </a:rPr>
              <a:t>Северо-восток</a:t>
            </a:r>
          </a:p>
        </p:txBody>
      </p:sp>
      <p:sp>
        <p:nvSpPr>
          <p:cNvPr id="27" name="Oval 26"/>
          <p:cNvSpPr/>
          <p:nvPr/>
        </p:nvSpPr>
        <p:spPr>
          <a:xfrm>
            <a:off x="12070080" y="7680960"/>
            <a:ext cx="292608" cy="292608"/>
          </a:xfrm>
          <a:prstGeom prst="ellipse">
            <a:avLst/>
          </a:prstGeom>
          <a:solidFill>
            <a:srgbClr val="FFC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2472415" y="7571231"/>
            <a:ext cx="2560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 i="0">
                <a:solidFill>
                  <a:srgbClr val="5E5E5E"/>
                </a:solidFill>
                <a:latin typeface="Beeline Sans"/>
              </a:rPr>
              <a:t>подключение</a:t>
            </a:r>
          </a:p>
        </p:txBody>
      </p:sp>
      <p:sp>
        <p:nvSpPr>
          <p:cNvPr id="29" name="Oval 28"/>
          <p:cNvSpPr/>
          <p:nvPr/>
        </p:nvSpPr>
        <p:spPr>
          <a:xfrm>
            <a:off x="14785847" y="7680960"/>
            <a:ext cx="292608" cy="292608"/>
          </a:xfrm>
          <a:prstGeom prst="ellipse">
            <a:avLst/>
          </a:prstGeom>
          <a:solidFill>
            <a:srgbClr val="A1A1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5188184" y="7571231"/>
            <a:ext cx="2560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 i="0">
                <a:solidFill>
                  <a:srgbClr val="5E5E5E"/>
                </a:solidFill>
                <a:latin typeface="Beeline Sans"/>
              </a:rPr>
              <a:t>ремонт</a:t>
            </a:r>
          </a:p>
        </p:txBody>
      </p:sp>
      <p:sp>
        <p:nvSpPr>
          <p:cNvPr id="31" name="Oval 30"/>
          <p:cNvSpPr/>
          <p:nvPr/>
        </p:nvSpPr>
        <p:spPr>
          <a:xfrm>
            <a:off x="16724376" y="7680960"/>
            <a:ext cx="292608" cy="292608"/>
          </a:xfrm>
          <a:prstGeom prst="ellipse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7126712" y="7571231"/>
            <a:ext cx="2560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 i="0">
                <a:solidFill>
                  <a:srgbClr val="5E5E5E"/>
                </a:solidFill>
                <a:latin typeface="Beeline Sans"/>
              </a:rPr>
              <a:t>авария</a:t>
            </a:r>
          </a:p>
        </p:txBody>
      </p:sp>
      <p:sp>
        <p:nvSpPr>
          <p:cNvPr id="33" name="Oval 32"/>
          <p:cNvSpPr/>
          <p:nvPr/>
        </p:nvSpPr>
        <p:spPr>
          <a:xfrm>
            <a:off x="18662904" y="7680960"/>
            <a:ext cx="292608" cy="292608"/>
          </a:xfrm>
          <a:prstGeom prst="ellipse">
            <a:avLst/>
          </a:prstGeom>
          <a:solidFill>
            <a:srgbClr val="F47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9065240" y="7571231"/>
            <a:ext cx="2560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 i="0">
                <a:solidFill>
                  <a:srgbClr val="5E5E5E"/>
                </a:solidFill>
                <a:latin typeface="Beeline Sans"/>
              </a:rPr>
              <a:t>дозаказ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070080" y="8321040"/>
            <a:ext cx="11631168" cy="411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438912" indent="-438912">
              <a:buClr>
                <a:srgbClr val="141414"/>
              </a:buClr>
              <a:buFont typeface="Beeline Sans"/>
              <a:buChar char="—"/>
            </a:pPr>
            <a:r>
              <a:rPr sz="2200" b="0" i="0">
                <a:solidFill>
                  <a:srgbClr val="141414"/>
                </a:solidFill>
                <a:latin typeface="Beeline Sans"/>
              </a:rPr>
              <a:t>адреса настоящих жилых домов из OpenStreetMap, районы по их границам в OSM</a:t>
            </a:r>
          </a:p>
          <a:p>
            <a:pPr algn="l" marL="438912" indent="-438912">
              <a:spcBef>
                <a:spcPts val="800"/>
              </a:spcBef>
              <a:buClr>
                <a:srgbClr val="141414"/>
              </a:buClr>
              <a:buFont typeface="Beeline Sans"/>
              <a:buChar char="—"/>
            </a:pPr>
            <a:r>
              <a:rPr sz="2200" b="0" i="0">
                <a:solidFill>
                  <a:srgbClr val="141414"/>
                </a:solidFill>
                <a:latin typeface="Beeline Sans"/>
              </a:rPr>
              <a:t>60–76 заявок, окна по 2 часа с теми же долями по времени дня, что у организаторов</a:t>
            </a:r>
          </a:p>
          <a:p>
            <a:pPr algn="l" marL="438912" indent="-438912">
              <a:spcBef>
                <a:spcPts val="800"/>
              </a:spcBef>
              <a:buClr>
                <a:srgbClr val="141414"/>
              </a:buClr>
              <a:buFont typeface="Beeline Sans"/>
              <a:buChar char="—"/>
            </a:pPr>
            <a:r>
              <a:rPr sz="2200" b="0" i="0">
                <a:solidFill>
                  <a:srgbClr val="141414"/>
                </a:solidFill>
                <a:latin typeface="Beeline Sans"/>
              </a:rPr>
              <a:t>типы в долях трёх участков: подключение 46%, ремонт 38%, авария 10%, дозаказ 6%; треть аварий с окном на весь день</a:t>
            </a:r>
          </a:p>
          <a:p>
            <a:pPr algn="l" marL="438912" indent="-438912">
              <a:spcBef>
                <a:spcPts val="800"/>
              </a:spcBef>
              <a:buClr>
                <a:srgbClr val="141414"/>
              </a:buClr>
              <a:buFont typeface="Beeline Sans"/>
              <a:buChar char="—"/>
            </a:pPr>
            <a:r>
              <a:rPr sz="2200" b="0" i="0">
                <a:solidFill>
                  <a:srgbClr val="141414"/>
                </a:solidFill>
                <a:latin typeface="Beeline Sans"/>
              </a:rPr>
              <a:t>по районам неравномерно, самый крупный не больше 20% заявок</a:t>
            </a:r>
          </a:p>
          <a:p>
            <a:pPr algn="l" marL="438912" indent="-438912">
              <a:spcBef>
                <a:spcPts val="800"/>
              </a:spcBef>
              <a:buClr>
                <a:srgbClr val="141414"/>
              </a:buClr>
              <a:buFont typeface="Beeline Sans"/>
              <a:buChar char="—"/>
            </a:pPr>
            <a:r>
              <a:rPr sz="2200" b="0" i="0">
                <a:solidFill>
                  <a:srgbClr val="141414"/>
                </a:solidFill>
                <a:latin typeface="Beeline Sans"/>
              </a:rPr>
              <a:t>11–12 бригад, наборы навыков с частотами контрольного дня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" y="12947904"/>
            <a:ext cx="1463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8C8C8C"/>
                </a:solidFill>
                <a:latin typeface="Beeline Sans"/>
              </a:rPr>
              <a:t>44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48640"/>
            <a:ext cx="1645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8C8C8C"/>
                </a:solidFill>
                <a:latin typeface="Beeline Sans"/>
              </a:rPr>
              <a:t>Алгоритм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66A6096C-FC1D-1CE6-4D9A-E42A4FC258C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44260" y="531262"/>
            <a:ext cx="660947" cy="66094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" y="1133856"/>
            <a:ext cx="217627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600" b="1" i="0">
                <a:solidFill>
                  <a:srgbClr val="141414"/>
                </a:solidFill>
                <a:latin typeface="Beeline Sans"/>
              </a:rPr>
              <a:t>Как потоки обмениваются планом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3383280"/>
            <a:ext cx="3657600" cy="1737360"/>
          </a:xfrm>
          <a:prstGeom prst="roundRect">
            <a:avLst>
              <a:gd name="adj" fmla="val 5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024128" y="3383280"/>
            <a:ext cx="3108960" cy="1737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400" b="1" i="0">
                <a:solidFill>
                  <a:srgbClr val="141414"/>
                </a:solidFill>
                <a:latin typeface="Beeline Sans"/>
              </a:rPr>
              <a:t>поток 1</a:t>
            </a:r>
          </a:p>
          <a:p>
            <a:pPr algn="l">
              <a:spcBef>
                <a:spcPts val="0"/>
              </a:spcBef>
            </a:pPr>
            <a:r>
              <a:rPr sz="2400" b="0" i="0">
                <a:solidFill>
                  <a:srgbClr val="141414"/>
                </a:solidFill>
                <a:latin typeface="Beeline Sans"/>
              </a:rPr>
              <a:t>отжиг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480560" y="3931920"/>
            <a:ext cx="2377440" cy="0"/>
          </a:xfrm>
          <a:prstGeom prst="line">
            <a:avLst/>
          </a:prstGeom>
          <a:ln w="50800">
            <a:solidFill>
              <a:srgbClr val="14141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480560" y="4572000"/>
            <a:ext cx="2377440" cy="0"/>
          </a:xfrm>
          <a:prstGeom prst="line">
            <a:avLst/>
          </a:prstGeom>
          <a:ln w="35560">
            <a:solidFill>
              <a:srgbClr val="8C8C8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4572000" y="3419856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900" b="1" i="0">
                <a:solidFill>
                  <a:srgbClr val="141414"/>
                </a:solidFill>
                <a:latin typeface="Beeline Sans"/>
              </a:rPr>
              <a:t>предложить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4663440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900" b="1" i="0">
                <a:solidFill>
                  <a:srgbClr val="8C8C8C"/>
                </a:solidFill>
                <a:latin typeface="Beeline Sans"/>
              </a:rPr>
              <a:t>забрать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5760720"/>
            <a:ext cx="3657600" cy="1737360"/>
          </a:xfrm>
          <a:prstGeom prst="roundRect">
            <a:avLst>
              <a:gd name="adj" fmla="val 5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1024128" y="5760720"/>
            <a:ext cx="3108960" cy="1737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400" b="1" i="0">
                <a:solidFill>
                  <a:srgbClr val="141414"/>
                </a:solidFill>
                <a:latin typeface="Beeline Sans"/>
              </a:rPr>
              <a:t>поток 2</a:t>
            </a:r>
          </a:p>
          <a:p>
            <a:pPr algn="l">
              <a:spcBef>
                <a:spcPts val="0"/>
              </a:spcBef>
            </a:pPr>
            <a:r>
              <a:rPr sz="2400" b="0" i="0">
                <a:solidFill>
                  <a:srgbClr val="141414"/>
                </a:solidFill>
                <a:latin typeface="Beeline Sans"/>
              </a:rPr>
              <a:t>ALNS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480560" y="6309360"/>
            <a:ext cx="2377440" cy="0"/>
          </a:xfrm>
          <a:prstGeom prst="line">
            <a:avLst/>
          </a:prstGeom>
          <a:ln w="50800">
            <a:solidFill>
              <a:srgbClr val="14141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H="1">
            <a:off x="4480560" y="6949440"/>
            <a:ext cx="2377440" cy="0"/>
          </a:xfrm>
          <a:prstGeom prst="line">
            <a:avLst/>
          </a:prstGeom>
          <a:ln w="35560">
            <a:solidFill>
              <a:srgbClr val="8C8C8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658368" y="8138160"/>
            <a:ext cx="3657600" cy="1737360"/>
          </a:xfrm>
          <a:prstGeom prst="roundRect">
            <a:avLst>
              <a:gd name="adj" fmla="val 5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1024128" y="8138160"/>
            <a:ext cx="3108960" cy="1737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400" b="1" i="0">
                <a:solidFill>
                  <a:srgbClr val="141414"/>
                </a:solidFill>
                <a:latin typeface="Beeline Sans"/>
              </a:rPr>
              <a:t>поток 3</a:t>
            </a:r>
          </a:p>
          <a:p>
            <a:pPr algn="l">
              <a:spcBef>
                <a:spcPts val="0"/>
              </a:spcBef>
            </a:pPr>
            <a:r>
              <a:rPr sz="2400" b="0" i="0">
                <a:solidFill>
                  <a:srgbClr val="141414"/>
                </a:solidFill>
                <a:latin typeface="Beeline Sans"/>
              </a:rPr>
              <a:t>SISR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480560" y="8686800"/>
            <a:ext cx="2377440" cy="0"/>
          </a:xfrm>
          <a:prstGeom prst="line">
            <a:avLst/>
          </a:prstGeom>
          <a:ln w="50800">
            <a:solidFill>
              <a:srgbClr val="14141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H="1">
            <a:off x="4480560" y="9326880"/>
            <a:ext cx="2377440" cy="0"/>
          </a:xfrm>
          <a:prstGeom prst="line">
            <a:avLst/>
          </a:prstGeom>
          <a:ln w="35560">
            <a:solidFill>
              <a:srgbClr val="8C8C8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7040880" y="3383280"/>
            <a:ext cx="4206240" cy="6492240"/>
          </a:xfrm>
          <a:prstGeom prst="roundRect">
            <a:avLst>
              <a:gd name="adj" fmla="val 5000"/>
            </a:avLst>
          </a:prstGeom>
          <a:solidFill>
            <a:srgbClr val="FFC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7351775" y="3383280"/>
            <a:ext cx="3657600" cy="6492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000" b="1" i="0">
                <a:solidFill>
                  <a:srgbClr val="141414"/>
                </a:solidFill>
                <a:latin typeface="Beeline Sans"/>
              </a:rPr>
              <a:t>хранилище</a:t>
            </a:r>
          </a:p>
          <a:p>
            <a:pPr algn="l">
              <a:spcBef>
                <a:spcPts val="400"/>
              </a:spcBef>
            </a:pPr>
            <a:r>
              <a:rPr sz="2400" b="0" i="0">
                <a:solidFill>
                  <a:srgbClr val="141414"/>
                </a:solidFill>
                <a:latin typeface="Beeline Sans"/>
              </a:rPr>
              <a:t>лучший план</a:t>
            </a:r>
          </a:p>
          <a:p>
            <a:pPr algn="l">
              <a:spcBef>
                <a:spcPts val="400"/>
              </a:spcBef>
            </a:pPr>
            <a:r>
              <a:rPr sz="2400" b="0" i="0">
                <a:solidFill>
                  <a:srgbClr val="141414"/>
                </a:solidFill>
                <a:latin typeface="Beeline Sans"/>
              </a:rPr>
              <a:t>число бригад</a:t>
            </a:r>
          </a:p>
          <a:p>
            <a:pPr algn="l">
              <a:spcBef>
                <a:spcPts val="400"/>
              </a:spcBef>
            </a:pPr>
            <a:r>
              <a:rPr sz="2400" b="0" i="0">
                <a:solidFill>
                  <a:srgbClr val="141414"/>
                </a:solidFill>
                <a:latin typeface="Beeline Sans"/>
              </a:rPr>
              <a:t>пробег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10789920"/>
            <a:ext cx="1060704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5E5E5E"/>
                </a:solidFill>
                <a:latin typeface="Beeline Sans"/>
              </a:rPr>
              <a:t>План лежит под мьютексом, а число бригад и значение цели читаются атомарно, поэтому потоки почти не ждут друг друга. Скорость около 100 тыс. итераций разрушения и восстановления в секунду на поток.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978640" y="3200400"/>
            <a:ext cx="11722608" cy="2048256"/>
          </a:xfrm>
          <a:prstGeom prst="roundRect">
            <a:avLst>
              <a:gd name="adj" fmla="val 5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12399264" y="3383280"/>
            <a:ext cx="1463040" cy="1645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4800" b="0" i="0">
                <a:solidFill>
                  <a:srgbClr val="141414"/>
                </a:solidFill>
                <a:latin typeface="Beeline Sans Black"/>
              </a:rPr>
              <a:t>#1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807440" y="3419856"/>
            <a:ext cx="9601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1" i="0">
                <a:solidFill>
                  <a:srgbClr val="141414"/>
                </a:solidFill>
                <a:latin typeface="Beeline Sans"/>
              </a:rPr>
              <a:t>Предложить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807440" y="4023360"/>
            <a:ext cx="96012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5E5E5E"/>
                </a:solidFill>
                <a:latin typeface="Beeline Sans"/>
              </a:rPr>
              <a:t>Поток кладёт найденный план в хранилище. Хранилище принимает его, только если план допустим и строго лучше текущего.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978640" y="5522976"/>
            <a:ext cx="11722608" cy="2048256"/>
          </a:xfrm>
          <a:prstGeom prst="roundRect">
            <a:avLst>
              <a:gd name="adj" fmla="val 5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12399264" y="5705856"/>
            <a:ext cx="1463040" cy="1645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4800" b="0" i="0">
                <a:solidFill>
                  <a:srgbClr val="141414"/>
                </a:solidFill>
                <a:latin typeface="Beeline Sans Black"/>
              </a:rPr>
              <a:t>#2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807440" y="5742432"/>
            <a:ext cx="9601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1" i="0">
                <a:solidFill>
                  <a:srgbClr val="141414"/>
                </a:solidFill>
                <a:latin typeface="Beeline Sans"/>
              </a:rPr>
              <a:t>Подхватить меньший парк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807440" y="6345936"/>
            <a:ext cx="96012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5E5E5E"/>
                </a:solidFill>
                <a:latin typeface="Beeline Sans"/>
              </a:rPr>
              <a:t>Потоки сокращения бригад следят за числом бригад в хранилище. Если кто-то нашёл план с меньшим числом, они продолжают от него.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978640" y="7845552"/>
            <a:ext cx="11722608" cy="2048256"/>
          </a:xfrm>
          <a:prstGeom prst="roundRect">
            <a:avLst>
              <a:gd name="adj" fmla="val 5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12399264" y="8028431"/>
            <a:ext cx="1463040" cy="1645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4800" b="0" i="0">
                <a:solidFill>
                  <a:srgbClr val="141414"/>
                </a:solidFill>
                <a:latin typeface="Beeline Sans Black"/>
              </a:rPr>
              <a:t>#3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3807440" y="8065008"/>
            <a:ext cx="9601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1" i="0">
                <a:solidFill>
                  <a:srgbClr val="141414"/>
                </a:solidFill>
                <a:latin typeface="Beeline Sans"/>
              </a:rPr>
              <a:t>Миграция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807440" y="8668512"/>
            <a:ext cx="96012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5E5E5E"/>
                </a:solidFill>
                <a:latin typeface="Beeline Sans"/>
              </a:rPr>
              <a:t>Раз в 5% времени поток, который отстал от лучшего плана больше чем на 0,3%, забирает лучший. Потоки пробега перезапускаются, когда другой поток сократил бригаду.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1978640" y="10168128"/>
            <a:ext cx="11722608" cy="2048256"/>
          </a:xfrm>
          <a:prstGeom prst="roundRect">
            <a:avLst>
              <a:gd name="adj" fmla="val 5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12399264" y="10351008"/>
            <a:ext cx="1463040" cy="1645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4800" b="0" i="0">
                <a:solidFill>
                  <a:srgbClr val="141414"/>
                </a:solidFill>
                <a:latin typeface="Beeline Sans Black"/>
              </a:rPr>
              <a:t>#4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3807440" y="10387584"/>
            <a:ext cx="9601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1" i="0">
                <a:solidFill>
                  <a:srgbClr val="141414"/>
                </a:solidFill>
                <a:latin typeface="Beeline Sans"/>
              </a:rPr>
              <a:t>Переход к пробегу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3807440" y="10991088"/>
            <a:ext cx="96012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5E5E5E"/>
                </a:solidFill>
                <a:latin typeface="Beeline Sans"/>
              </a:rPr>
              <a:t>Если число бригад дошло до оценки снизу по суммарной работе, дальше сокращать нечего, и все потоки переходят к километрам.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58368" y="12947904"/>
            <a:ext cx="1463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8C8C8C"/>
                </a:solidFill>
                <a:latin typeface="Beeline Sans"/>
              </a:rPr>
              <a:t>45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48640"/>
            <a:ext cx="1645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8C8C8C"/>
                </a:solidFill>
                <a:latin typeface="Beeline Sans"/>
              </a:rPr>
              <a:t>Алгоритм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66A6096C-FC1D-1CE6-4D9A-E42A4FC258C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44260" y="531262"/>
            <a:ext cx="660947" cy="66094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" y="1133856"/>
            <a:ext cx="217627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600" b="1" i="0">
                <a:solidFill>
                  <a:srgbClr val="141414"/>
                </a:solidFill>
                <a:latin typeface="Beeline Sans"/>
              </a:rPr>
              <a:t>Нижняя граница: идея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3200400"/>
            <a:ext cx="10241280" cy="6583680"/>
          </a:xfrm>
          <a:prstGeom prst="roundRect">
            <a:avLst>
              <a:gd name="adj" fmla="val 5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algo_column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96572" y="3383280"/>
            <a:ext cx="8928295" cy="6217919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58368" y="10058400"/>
            <a:ext cx="3291840" cy="2286000"/>
          </a:xfrm>
          <a:prstGeom prst="roundRect">
            <a:avLst>
              <a:gd name="adj" fmla="val 5000"/>
            </a:avLst>
          </a:prstGeom>
          <a:solidFill>
            <a:srgbClr val="FFC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932688" y="10168128"/>
            <a:ext cx="29260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800" b="0" i="0">
                <a:solidFill>
                  <a:srgbClr val="141414"/>
                </a:solidFill>
                <a:latin typeface="Beeline Sans Black"/>
              </a:rPr>
              <a:t>100%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11009376"/>
            <a:ext cx="2889504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0" i="0">
                <a:solidFill>
                  <a:srgbClr val="141414"/>
                </a:solidFill>
                <a:latin typeface="Beeline Sans"/>
              </a:rPr>
              <a:t>задач: план выходит на доказанный минимум бригад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133087" y="10058400"/>
            <a:ext cx="3291840" cy="2286000"/>
          </a:xfrm>
          <a:prstGeom prst="roundRect">
            <a:avLst>
              <a:gd name="adj" fmla="val 5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4407407" y="10168128"/>
            <a:ext cx="29260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800" b="0" i="0">
                <a:solidFill>
                  <a:srgbClr val="141414"/>
                </a:solidFill>
                <a:latin typeface="Beeline Sans Black"/>
              </a:rPr>
              <a:t>92%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07407" y="11009376"/>
            <a:ext cx="2889504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0" i="0">
                <a:solidFill>
                  <a:srgbClr val="141414"/>
                </a:solidFill>
                <a:latin typeface="Beeline Sans"/>
              </a:rPr>
              <a:t>задач: лучший найденный план оптимален целиком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607808" y="10058400"/>
            <a:ext cx="3291840" cy="2286000"/>
          </a:xfrm>
          <a:prstGeom prst="roundRect">
            <a:avLst>
              <a:gd name="adj" fmla="val 5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7882128" y="10168128"/>
            <a:ext cx="29260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800" b="0" i="0">
                <a:solidFill>
                  <a:srgbClr val="141414"/>
                </a:solidFill>
                <a:latin typeface="Beeline Sans Black"/>
              </a:rPr>
              <a:t>+0,06%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82128" y="11009376"/>
            <a:ext cx="2889504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0" i="0">
                <a:solidFill>
                  <a:srgbClr val="141414"/>
                </a:solidFill>
                <a:latin typeface="Beeline Sans"/>
              </a:rPr>
              <a:t>пробег лучшего плана к нижней границе в среднем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521440" y="3163824"/>
            <a:ext cx="13716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0" i="0">
                <a:solidFill>
                  <a:srgbClr val="141414"/>
                </a:solidFill>
                <a:latin typeface="Beeline Sans Black"/>
              </a:rPr>
              <a:t>#1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893040" y="3200400"/>
            <a:ext cx="107899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141414"/>
                </a:solidFill>
                <a:latin typeface="Beeline Sans"/>
              </a:rPr>
              <a:t>Задача покрытия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893040" y="3822191"/>
            <a:ext cx="1078992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 i="0">
                <a:solidFill>
                  <a:srgbClr val="5E5E5E"/>
                </a:solidFill>
                <a:latin typeface="Beeline Sans"/>
              </a:rPr>
              <a:t>Каждый допустимый маршрут одной бригады это столбец таблицы: какие заявки он покрывает и сколько стоит. Нужно выбрать столбцы так, чтобы каждая заявка вошла ровно в один. В целых числах эта задача такая же трудная, как исходная.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521440" y="6181344"/>
            <a:ext cx="13716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0" i="0">
                <a:solidFill>
                  <a:srgbClr val="141414"/>
                </a:solidFill>
                <a:latin typeface="Beeline Sans Black"/>
              </a:rPr>
              <a:t>#2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893040" y="6217920"/>
            <a:ext cx="107899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141414"/>
                </a:solidFill>
                <a:latin typeface="Beeline Sans"/>
              </a:rPr>
              <a:t>Линейная релаксация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893040" y="6839712"/>
            <a:ext cx="1078992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 i="0">
                <a:solidFill>
                  <a:srgbClr val="5E5E5E"/>
                </a:solidFill>
                <a:latin typeface="Beeline Sans"/>
              </a:rPr>
              <a:t>Разрешаем брать маршрут частично, например на 0,5. Такое решение нельзя выполнить: полбригады не бывает. Зато его стоимость легко посчитать, и настоящий план не может быть дешевле. Это и есть нижняя граница.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521440" y="9198864"/>
            <a:ext cx="13716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0" i="0">
                <a:solidFill>
                  <a:srgbClr val="141414"/>
                </a:solidFill>
                <a:latin typeface="Beeline Sans Black"/>
              </a:rPr>
              <a:t>#3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893040" y="9235440"/>
            <a:ext cx="107899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141414"/>
                </a:solidFill>
                <a:latin typeface="Beeline Sans"/>
              </a:rPr>
              <a:t>Что она даёт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893040" y="9857232"/>
            <a:ext cx="1078992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 i="0">
                <a:solidFill>
                  <a:srgbClr val="5E5E5E"/>
                </a:solidFill>
                <a:latin typeface="Beeline Sans"/>
              </a:rPr>
              <a:t>Если найденный план совпал с границей, он теоретически оптимален: лучшего плана в этих ограничениях не существует. Если не совпал, граница показывает, сколько максимум можно выиграть.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368" y="12947904"/>
            <a:ext cx="1463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8C8C8C"/>
                </a:solidFill>
                <a:latin typeface="Beeline Sans"/>
              </a:rPr>
              <a:t>46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48640"/>
            <a:ext cx="1645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8C8C8C"/>
                </a:solidFill>
                <a:latin typeface="Beeline Sans"/>
              </a:rPr>
              <a:t>Алгоритм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66A6096C-FC1D-1CE6-4D9A-E42A4FC258C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44260" y="531262"/>
            <a:ext cx="660947" cy="66094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" y="1133856"/>
            <a:ext cx="217627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600" b="1" i="0">
                <a:solidFill>
                  <a:srgbClr val="141414"/>
                </a:solidFill>
                <a:latin typeface="Beeline Sans"/>
              </a:rPr>
              <a:t>Нижняя граница: как считаем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3200400"/>
            <a:ext cx="11338560" cy="4114800"/>
          </a:xfrm>
          <a:prstGeom prst="roundRect">
            <a:avLst>
              <a:gd name="adj" fmla="val 5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115568" y="3474720"/>
            <a:ext cx="14630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800" b="0" i="0">
                <a:solidFill>
                  <a:srgbClr val="141414"/>
                </a:solidFill>
                <a:latin typeface="Beeline Sans Black"/>
              </a:rPr>
              <a:t>#1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78608" y="3602736"/>
            <a:ext cx="89611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41414"/>
                </a:solidFill>
                <a:latin typeface="Beeline Sans"/>
              </a:rPr>
              <a:t>Генерация столбцов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4663440"/>
            <a:ext cx="10424160" cy="2560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300" b="0" i="0">
                <a:solidFill>
                  <a:srgbClr val="5E5E5E"/>
                </a:solidFill>
                <a:latin typeface="Beeline Sans"/>
              </a:rPr>
              <a:t>Маршрутов миллиарды, поэтому начинаем с небольшого набора и решаем задачу линейного программирования. Она даёт двойственную цену каждой заявки: на сколько км подешевело бы решение, если бы эту заявку не нужно было покрывать. Если маршрут короче суммы цен своих заявок, он покрывает их дешевле текущих маршрутов. Например, цены заявок 5, 6 и 7 км, а маршрут через них 15 км: 15 &lt; 18, маршрут добавляем.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2362688" y="3200400"/>
            <a:ext cx="11338560" cy="4114800"/>
          </a:xfrm>
          <a:prstGeom prst="roundRect">
            <a:avLst>
              <a:gd name="adj" fmla="val 5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12819888" y="3474720"/>
            <a:ext cx="14630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800" b="0" i="0">
                <a:solidFill>
                  <a:srgbClr val="141414"/>
                </a:solidFill>
                <a:latin typeface="Beeline Sans Black"/>
              </a:rPr>
              <a:t>#2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282928" y="3602736"/>
            <a:ext cx="89611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41414"/>
                </a:solidFill>
                <a:latin typeface="Beeline Sans"/>
              </a:rPr>
              <a:t>Поиск маршрута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819888" y="4663440"/>
            <a:ext cx="10424160" cy="2560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300" b="0" i="0">
                <a:solidFill>
                  <a:srgbClr val="5E5E5E"/>
                </a:solidFill>
                <a:latin typeface="Beeline Sans"/>
              </a:rPr>
              <a:t>Такой маршрут ищем динамическим программированием. Строим цепочки заявка за заявкой в порядке времени и для каждой храним время окончания, пробег и сумму цен. Цепочку, которая хуже другой по всем трём, отбрасываем. Лучший найденный маршрут добавляем в ЛП, цены пересчитываются, повторяем, пока выгодных маршрутов нет.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8368" y="7680960"/>
            <a:ext cx="11338560" cy="4114800"/>
          </a:xfrm>
          <a:prstGeom prst="roundRect">
            <a:avLst>
              <a:gd name="adj" fmla="val 5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1115568" y="7955280"/>
            <a:ext cx="14630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800" b="0" i="0">
                <a:solidFill>
                  <a:srgbClr val="141414"/>
                </a:solidFill>
                <a:latin typeface="Beeline Sans Black"/>
              </a:rPr>
              <a:t>#3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78608" y="8083296"/>
            <a:ext cx="89611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41414"/>
                </a:solidFill>
                <a:latin typeface="Beeline Sans"/>
              </a:rPr>
              <a:t>Ветвление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5568" y="9144000"/>
            <a:ext cx="10424160" cy="2560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300" b="0" i="0">
                <a:solidFill>
                  <a:srgbClr val="5E5E5E"/>
                </a:solidFill>
                <a:latin typeface="Beeline Sans"/>
              </a:rPr>
              <a:t>Если в ответе ЛП остались дробные маршруты, делим задачу на две ветки (например, «эта бригада используется» и «не используется») и решаем каждую. Отсечения — дополнительные неравенства, которые запрещают дробные решения и не мешают настоящим планам.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2362688" y="7680960"/>
            <a:ext cx="11338560" cy="4114800"/>
          </a:xfrm>
          <a:prstGeom prst="roundRect">
            <a:avLst>
              <a:gd name="adj" fmla="val 5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12819888" y="7955280"/>
            <a:ext cx="14630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800" b="0" i="0">
                <a:solidFill>
                  <a:srgbClr val="141414"/>
                </a:solidFill>
                <a:latin typeface="Beeline Sans Black"/>
              </a:rPr>
              <a:t>#4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282928" y="8083296"/>
            <a:ext cx="89611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41414"/>
                </a:solidFill>
                <a:latin typeface="Beeline Sans"/>
              </a:rPr>
              <a:t>Финальная проверка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819888" y="9144000"/>
            <a:ext cx="10424160" cy="2560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300" b="0" i="0">
                <a:solidFill>
                  <a:srgbClr val="5E5E5E"/>
                </a:solidFill>
                <a:latin typeface="Beeline Sans"/>
              </a:rPr>
              <a:t>Перебираем все маршруты, которые по оценке ещё могут дать план лучше найденного (для Востока 12–35 тыс.), и решаем на них точную целочисленную задачу: HiGHS и CP-SAT наперегонки.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12252960"/>
            <a:ext cx="230428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 i="0">
                <a:solidFill>
                  <a:srgbClr val="8C8C8C"/>
                </a:solidFill>
                <a:latin typeface="Beeline Sans"/>
              </a:rPr>
              <a:t>*Граница считается отдельно от оптимизатора, для работы и интеграции она не нужна.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12947904"/>
            <a:ext cx="1463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8C8C8C"/>
                </a:solidFill>
                <a:latin typeface="Beeline Sans"/>
              </a:rPr>
              <a:t>47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48640"/>
            <a:ext cx="1645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8C8C8C"/>
                </a:solidFill>
                <a:latin typeface="Beeline Sans"/>
              </a:rPr>
              <a:t>Алгоритм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66A6096C-FC1D-1CE6-4D9A-E42A4FC258C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44260" y="531262"/>
            <a:ext cx="660947" cy="66094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" y="1133856"/>
            <a:ext cx="217627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600" b="1" i="0">
                <a:solidFill>
                  <a:srgbClr val="141414"/>
                </a:solidFill>
                <a:latin typeface="Beeline Sans"/>
              </a:rPr>
              <a:t>Проверка ограничений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3200400"/>
            <a:ext cx="7315200" cy="2743200"/>
          </a:xfrm>
          <a:prstGeom prst="roundRect">
            <a:avLst>
              <a:gd name="adj" fmla="val 5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Oval 7"/>
          <p:cNvSpPr/>
          <p:nvPr/>
        </p:nvSpPr>
        <p:spPr>
          <a:xfrm>
            <a:off x="1115568" y="3694176"/>
            <a:ext cx="841248" cy="841248"/>
          </a:xfrm>
          <a:prstGeom prst="ellipse">
            <a:avLst/>
          </a:prstGeom>
          <a:solidFill>
            <a:srgbClr val="FFC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3000" b="0" i="0">
                <a:solidFill>
                  <a:srgbClr val="141414"/>
                </a:solidFill>
                <a:latin typeface="Beeline Sans Black"/>
              </a:rPr>
              <a:t>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04288" y="3657600"/>
            <a:ext cx="5486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41414"/>
                </a:solidFill>
                <a:latin typeface="Beeline Sans"/>
              </a:rPr>
              <a:t>Навык и транспорт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04288" y="4370832"/>
            <a:ext cx="539496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 i="0">
                <a:solidFill>
                  <a:srgbClr val="5E5E5E"/>
                </a:solidFill>
                <a:latin typeface="Beeline Sans"/>
              </a:rPr>
              <a:t>у бригады есть навык заявки и нужный транспорт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430768" y="3200400"/>
            <a:ext cx="7315200" cy="2743200"/>
          </a:xfrm>
          <a:prstGeom prst="roundRect">
            <a:avLst>
              <a:gd name="adj" fmla="val 5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Oval 11"/>
          <p:cNvSpPr/>
          <p:nvPr/>
        </p:nvSpPr>
        <p:spPr>
          <a:xfrm>
            <a:off x="8887968" y="3694176"/>
            <a:ext cx="841248" cy="841248"/>
          </a:xfrm>
          <a:prstGeom prst="ellipse">
            <a:avLst/>
          </a:prstGeom>
          <a:solidFill>
            <a:srgbClr val="FFC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3000" b="0" i="0">
                <a:solidFill>
                  <a:srgbClr val="141414"/>
                </a:solidFill>
                <a:latin typeface="Beeline Sans Black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76688" y="3657600"/>
            <a:ext cx="5486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41414"/>
                </a:solidFill>
                <a:latin typeface="Beeline Sans"/>
              </a:rPr>
              <a:t>Окно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76688" y="4370832"/>
            <a:ext cx="539496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 i="0">
                <a:solidFill>
                  <a:srgbClr val="5E5E5E"/>
                </a:solidFill>
                <a:latin typeface="Beeline Sans"/>
              </a:rPr>
              <a:t>работа начинается внутри окна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8368" y="6309360"/>
            <a:ext cx="7315200" cy="2743200"/>
          </a:xfrm>
          <a:prstGeom prst="roundRect">
            <a:avLst>
              <a:gd name="adj" fmla="val 5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Oval 15"/>
          <p:cNvSpPr/>
          <p:nvPr/>
        </p:nvSpPr>
        <p:spPr>
          <a:xfrm>
            <a:off x="1115568" y="6803136"/>
            <a:ext cx="841248" cy="841248"/>
          </a:xfrm>
          <a:prstGeom prst="ellipse">
            <a:avLst/>
          </a:prstGeom>
          <a:solidFill>
            <a:srgbClr val="FFC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3000" b="0" i="0">
                <a:solidFill>
                  <a:srgbClr val="141414"/>
                </a:solidFill>
                <a:latin typeface="Beeline Sans Black"/>
              </a:rPr>
              <a:t>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04288" y="6766560"/>
            <a:ext cx="5486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41414"/>
                </a:solidFill>
                <a:latin typeface="Beeline Sans"/>
              </a:rPr>
              <a:t>Смена и обед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04288" y="7479792"/>
            <a:ext cx="539496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 i="0">
                <a:solidFill>
                  <a:srgbClr val="5E5E5E"/>
                </a:solidFill>
                <a:latin typeface="Beeline Sans"/>
              </a:rPr>
              <a:t>работа внутри смены бригады, обед 45 минут в окне 13:00–16:00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430768" y="6309360"/>
            <a:ext cx="7315200" cy="2743200"/>
          </a:xfrm>
          <a:prstGeom prst="roundRect">
            <a:avLst>
              <a:gd name="adj" fmla="val 5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Oval 19"/>
          <p:cNvSpPr/>
          <p:nvPr/>
        </p:nvSpPr>
        <p:spPr>
          <a:xfrm>
            <a:off x="8887968" y="6803136"/>
            <a:ext cx="841248" cy="841248"/>
          </a:xfrm>
          <a:prstGeom prst="ellipse">
            <a:avLst/>
          </a:prstGeom>
          <a:solidFill>
            <a:srgbClr val="FFC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3000" b="0" i="0">
                <a:solidFill>
                  <a:srgbClr val="141414"/>
                </a:solidFill>
                <a:latin typeface="Beeline Sans Black"/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76688" y="6766560"/>
            <a:ext cx="5486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41414"/>
                </a:solidFill>
                <a:latin typeface="Beeline Sans"/>
              </a:rPr>
              <a:t>Оборудование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76688" y="7479792"/>
            <a:ext cx="539496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 i="0">
                <a:solidFill>
                  <a:srgbClr val="5E5E5E"/>
                </a:solidFill>
                <a:latin typeface="Beeline Sans"/>
              </a:rPr>
              <a:t>запас на маршрут не больше того, что бригада унесёт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8368" y="9418320"/>
            <a:ext cx="7315200" cy="2743200"/>
          </a:xfrm>
          <a:prstGeom prst="roundRect">
            <a:avLst>
              <a:gd name="adj" fmla="val 5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Oval 23"/>
          <p:cNvSpPr/>
          <p:nvPr/>
        </p:nvSpPr>
        <p:spPr>
          <a:xfrm>
            <a:off x="1115568" y="9912096"/>
            <a:ext cx="841248" cy="841248"/>
          </a:xfrm>
          <a:prstGeom prst="ellipse">
            <a:avLst/>
          </a:prstGeom>
          <a:solidFill>
            <a:srgbClr val="FFC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3000" b="0" i="0">
                <a:solidFill>
                  <a:srgbClr val="141414"/>
                </a:solidFill>
                <a:latin typeface="Beeline Sans Black"/>
              </a:rPr>
              <a:t>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304288" y="9875520"/>
            <a:ext cx="5486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41414"/>
                </a:solidFill>
                <a:latin typeface="Beeline Sans"/>
              </a:rPr>
              <a:t>Событие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304288" y="10588752"/>
            <a:ext cx="539496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 i="0">
                <a:solidFill>
                  <a:srgbClr val="5E5E5E"/>
                </a:solidFill>
                <a:latin typeface="Beeline Sans"/>
              </a:rPr>
              <a:t>выполненное и начатое к моменту события не изменилось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430768" y="9418320"/>
            <a:ext cx="7315200" cy="2743200"/>
          </a:xfrm>
          <a:prstGeom prst="roundRect">
            <a:avLst>
              <a:gd name="adj" fmla="val 5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Oval 27"/>
          <p:cNvSpPr/>
          <p:nvPr/>
        </p:nvSpPr>
        <p:spPr>
          <a:xfrm>
            <a:off x="8887968" y="9912096"/>
            <a:ext cx="841248" cy="841248"/>
          </a:xfrm>
          <a:prstGeom prst="ellipse">
            <a:avLst/>
          </a:prstGeom>
          <a:solidFill>
            <a:srgbClr val="FFC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3000" b="0" i="0">
                <a:solidFill>
                  <a:srgbClr val="141414"/>
                </a:solidFill>
                <a:latin typeface="Beeline Sans Black"/>
              </a:rPr>
              <a:t>✓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076688" y="9875520"/>
            <a:ext cx="5486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41414"/>
                </a:solidFill>
                <a:latin typeface="Beeline Sans"/>
              </a:rPr>
              <a:t>Полнота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076688" y="10588752"/>
            <a:ext cx="539496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 i="0">
                <a:solidFill>
                  <a:srgbClr val="5E5E5E"/>
                </a:solidFill>
                <a:latin typeface="Beeline Sans"/>
              </a:rPr>
              <a:t>каждая заявка назначена один раз или помечена как неназначенная с причиной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6203167" y="3200400"/>
            <a:ext cx="7498079" cy="8961120"/>
          </a:xfrm>
          <a:prstGeom prst="roundRect">
            <a:avLst>
              <a:gd name="adj" fmla="val 5000"/>
            </a:avLst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16751808" y="3621024"/>
            <a:ext cx="6492240" cy="822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000" b="1" i="0">
                <a:solidFill>
                  <a:srgbClr val="FFC800"/>
                </a:solidFill>
                <a:latin typeface="Beeline Sans"/>
              </a:rPr>
              <a:t>Независимая проверка</a:t>
            </a:r>
          </a:p>
          <a:p>
            <a:pPr algn="l">
              <a:spcBef>
                <a:spcPts val="2400"/>
              </a:spcBef>
            </a:pPr>
            <a:r>
              <a:rPr sz="2500" b="0" i="0">
                <a:solidFill>
                  <a:srgbClr val="FFFFFF"/>
                </a:solidFill>
                <a:latin typeface="Beeline Sans"/>
              </a:rPr>
              <a:t>Модуль check_plan в продукте и validate.py в исследованиях не используют код оптимизатора и заново считают время прибытия, ожидание и пробег.</a:t>
            </a:r>
          </a:p>
          <a:p>
            <a:pPr algn="l">
              <a:spcBef>
                <a:spcPts val="2400"/>
              </a:spcBef>
            </a:pPr>
            <a:r>
              <a:rPr sz="2500" b="0" i="0">
                <a:solidFill>
                  <a:srgbClr val="FFFFFF"/>
                </a:solidFill>
                <a:latin typeface="Beeline Sans"/>
              </a:rPr>
              <a:t>Через них прошли все цифры в презентации.</a:t>
            </a:r>
          </a:p>
          <a:p>
            <a:pPr algn="l">
              <a:spcBef>
                <a:spcPts val="2400"/>
              </a:spcBef>
            </a:pPr>
            <a:r>
              <a:rPr sz="2500" b="0" i="0">
                <a:solidFill>
                  <a:srgbClr val="FFFFFF"/>
                </a:solidFill>
                <a:latin typeface="Beeline Sans"/>
              </a:rPr>
              <a:t>Если заявку назначить нельзя, интерфейс пишет причину, например «нет навыка „Аварии“».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8368" y="12947904"/>
            <a:ext cx="1463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8C8C8C"/>
                </a:solidFill>
                <a:latin typeface="Beeline Sans"/>
              </a:rPr>
              <a:t>48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48640"/>
            <a:ext cx="1645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8C8C8C"/>
                </a:solidFill>
                <a:latin typeface="Beeline Sans"/>
              </a:rPr>
              <a:t>Алгоритм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66A6096C-FC1D-1CE6-4D9A-E42A4FC258C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44260" y="531262"/>
            <a:ext cx="660947" cy="66094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" y="1133856"/>
            <a:ext cx="217627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600" b="1" i="0">
                <a:solidFill>
                  <a:srgbClr val="141414"/>
                </a:solidFill>
                <a:latin typeface="Beeline Sans"/>
              </a:rPr>
              <a:t>Перепланирование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3200400"/>
            <a:ext cx="13167360" cy="2011680"/>
          </a:xfrm>
          <a:prstGeom prst="roundRect">
            <a:avLst>
              <a:gd name="adj" fmla="val 5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097280" y="3383280"/>
            <a:ext cx="1645920" cy="1645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5200" b="0" i="0">
                <a:solidFill>
                  <a:srgbClr val="141414"/>
                </a:solidFill>
                <a:latin typeface="Beeline Sans Black"/>
              </a:rPr>
              <a:t>#1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51760" y="3493008"/>
            <a:ext cx="107899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41414"/>
                </a:solidFill>
                <a:latin typeface="Beeline Sans"/>
              </a:rPr>
              <a:t>Выполненные и начатые заявки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51760" y="4206240"/>
            <a:ext cx="107899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 i="0">
                <a:solidFill>
                  <a:srgbClr val="5E5E5E"/>
                </a:solidFill>
                <a:latin typeface="Beeline Sans"/>
              </a:rPr>
              <a:t>не меняем, начатую работу не прерываем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5522976"/>
            <a:ext cx="13167360" cy="2011680"/>
          </a:xfrm>
          <a:prstGeom prst="roundRect">
            <a:avLst>
              <a:gd name="adj" fmla="val 5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1097280" y="5705856"/>
            <a:ext cx="1645920" cy="1645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5200" b="0" i="0">
                <a:solidFill>
                  <a:srgbClr val="141414"/>
                </a:solidFill>
                <a:latin typeface="Beeline Sans Black"/>
              </a:rPr>
              <a:t>#2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51760" y="5815584"/>
            <a:ext cx="107899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41414"/>
                </a:solidFill>
                <a:latin typeface="Beeline Sans"/>
              </a:rPr>
              <a:t>Новая обычная заявка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51760" y="6528816"/>
            <a:ext cx="107899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 i="0">
                <a:solidFill>
                  <a:srgbClr val="5E5E5E"/>
                </a:solidFill>
                <a:latin typeface="Beeline Sans"/>
              </a:rPr>
              <a:t>ставим в свободный промежуток, остальной план не трогаем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8368" y="7845552"/>
            <a:ext cx="13167360" cy="2011680"/>
          </a:xfrm>
          <a:prstGeom prst="roundRect">
            <a:avLst>
              <a:gd name="adj" fmla="val 5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1097280" y="8028431"/>
            <a:ext cx="1645920" cy="1645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5200" b="0" i="0">
                <a:solidFill>
                  <a:srgbClr val="141414"/>
                </a:solidFill>
                <a:latin typeface="Beeline Sans Black"/>
              </a:rPr>
              <a:t>#3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51760" y="8138160"/>
            <a:ext cx="107899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41414"/>
                </a:solidFill>
                <a:latin typeface="Beeline Sans"/>
              </a:rPr>
              <a:t>Авария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51760" y="8851392"/>
            <a:ext cx="107899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 i="0">
                <a:solidFill>
                  <a:srgbClr val="5E5E5E"/>
                </a:solidFill>
                <a:latin typeface="Beeline Sans"/>
              </a:rPr>
              <a:t>можно перестроить остаток дня, начать нужно в течение 2 часов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10168128"/>
            <a:ext cx="13167360" cy="2011680"/>
          </a:xfrm>
          <a:prstGeom prst="roundRect">
            <a:avLst>
              <a:gd name="adj" fmla="val 5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1097280" y="10351008"/>
            <a:ext cx="1645920" cy="1645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5200" b="0" i="0">
                <a:solidFill>
                  <a:srgbClr val="141414"/>
                </a:solidFill>
                <a:latin typeface="Beeline Sans Black"/>
              </a:rPr>
              <a:t>#4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51760" y="10460736"/>
            <a:ext cx="107899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41414"/>
                </a:solidFill>
                <a:latin typeface="Beeline Sans"/>
              </a:rPr>
              <a:t>Отмена или недоступный инженер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651760" y="11173968"/>
            <a:ext cx="107899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 i="0">
                <a:solidFill>
                  <a:srgbClr val="5E5E5E"/>
                </a:solidFill>
                <a:latin typeface="Beeline Sans"/>
              </a:rPr>
              <a:t>свободное время отдаём неназначенным заявкам, заявки ушедшего другим бригадам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4374368" y="3200400"/>
            <a:ext cx="9326880" cy="8961120"/>
          </a:xfrm>
          <a:prstGeom prst="roundRect">
            <a:avLst>
              <a:gd name="adj" fmla="val 5000"/>
            </a:avLst>
          </a:prstGeom>
          <a:solidFill>
            <a:srgbClr val="FFC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14923008" y="3621024"/>
            <a:ext cx="84124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141414"/>
                </a:solidFill>
                <a:latin typeface="Beeline Sans"/>
              </a:rPr>
              <a:t>Пример: Бригада 4 недоступна с 14:00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923008" y="4572000"/>
            <a:ext cx="8412480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0" i="0">
                <a:solidFill>
                  <a:srgbClr val="141414"/>
                </a:solidFill>
                <a:latin typeface="Beeline Sans"/>
              </a:rPr>
              <a:t>Выполненные и начатые заявки (29) не трогаем. 5 оставшихся заявок переходят к другим: 4 — Бригада 10, 1 — Бригада 3.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4923008" y="7223760"/>
            <a:ext cx="283464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600" b="0" i="0">
                <a:solidFill>
                  <a:srgbClr val="141414"/>
                </a:solidFill>
                <a:latin typeface="Beeline Sans Black"/>
              </a:rPr>
              <a:t>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4923008" y="8686800"/>
            <a:ext cx="27432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300" b="0" i="0">
                <a:solidFill>
                  <a:srgbClr val="141414"/>
                </a:solidFill>
                <a:latin typeface="Beeline Sans"/>
              </a:rPr>
              <a:t>неназначенных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7757648" y="7223760"/>
            <a:ext cx="283464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600" b="0" i="0">
                <a:solidFill>
                  <a:srgbClr val="141414"/>
                </a:solidFill>
                <a:latin typeface="Beeline Sans Black"/>
              </a:rPr>
              <a:t>+2,8 км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7757648" y="8686800"/>
            <a:ext cx="27432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300" b="0" i="0">
                <a:solidFill>
                  <a:srgbClr val="141414"/>
                </a:solidFill>
                <a:latin typeface="Beeline Sans"/>
              </a:rPr>
              <a:t>пробега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0592288" y="7223760"/>
            <a:ext cx="283464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600" b="0" i="0">
                <a:solidFill>
                  <a:srgbClr val="141414"/>
                </a:solidFill>
                <a:latin typeface="Beeline Sans Black"/>
              </a:rPr>
              <a:t>8 → 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0592288" y="8686800"/>
            <a:ext cx="27432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300" b="0" i="0">
                <a:solidFill>
                  <a:srgbClr val="141414"/>
                </a:solidFill>
                <a:latin typeface="Beeline Sans"/>
              </a:rPr>
              <a:t>бригад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4923008" y="10241280"/>
            <a:ext cx="841248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 i="0">
                <a:solidFill>
                  <a:srgbClr val="141414"/>
                </a:solidFill>
                <a:latin typeface="Beeline Sans"/>
              </a:rPr>
              <a:t>Изменения видны на карте и в списке «было / стало».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8368" y="12947904"/>
            <a:ext cx="1463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8C8C8C"/>
                </a:solidFill>
                <a:latin typeface="Beeline Sans"/>
              </a:rPr>
              <a:t>49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48640"/>
            <a:ext cx="1645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8C8C8C"/>
                </a:solidFill>
                <a:latin typeface="Beeline Sans"/>
              </a:rPr>
              <a:t>Продукт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66A6096C-FC1D-1CE6-4D9A-E42A4FC258C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44260" y="531262"/>
            <a:ext cx="660947" cy="66094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" y="1133856"/>
            <a:ext cx="217627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600" b="1" i="0">
                <a:solidFill>
                  <a:srgbClr val="141414"/>
                </a:solidFill>
                <a:latin typeface="Beeline Sans"/>
              </a:rPr>
              <a:t>Сценарии и подсказки</a:t>
            </a:r>
          </a:p>
        </p:txBody>
      </p:sp>
      <p:pic>
        <p:nvPicPr>
          <p:cNvPr id="7" name="Picture 6" descr="men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3017520"/>
            <a:ext cx="8488392" cy="7501370"/>
          </a:xfrm>
          <a:prstGeom prst="roundRect">
            <a:avLst>
              <a:gd name="adj" fmla="val 2000"/>
            </a:avLst>
          </a:prstGeom>
          <a:ln w="19050">
            <a:solidFill>
              <a:srgbClr val="F1F1F1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658368" y="11283696"/>
            <a:ext cx="8488392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1" i="0">
                <a:solidFill>
                  <a:srgbClr val="141414"/>
                </a:solidFill>
                <a:latin typeface="Beeline Sans"/>
              </a:rPr>
              <a:t>Список сценариев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1887200"/>
            <a:ext cx="8488392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5E5E5E"/>
                </a:solidFill>
                <a:latin typeface="Beeline Sans"/>
              </a:rPr>
              <a:t>Сценарии сгруппированы по требованиям второго этапа: рейтинг, сложность, старт из дома, изменения дня, сколько людей нужно; дальше — планы шести участков.</a:t>
            </a:r>
          </a:p>
        </p:txBody>
      </p:sp>
      <p:pic>
        <p:nvPicPr>
          <p:cNvPr id="10" name="Picture 9" descr="tou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60948" y="3017520"/>
            <a:ext cx="12874752" cy="8046720"/>
          </a:xfrm>
          <a:prstGeom prst="roundRect">
            <a:avLst>
              <a:gd name="adj" fmla="val 2000"/>
            </a:avLst>
          </a:prstGeom>
          <a:ln w="19050">
            <a:solidFill>
              <a:srgbClr val="F1F1F1"/>
            </a:solidFill>
          </a:ln>
        </p:spPr>
      </p:pic>
      <p:sp>
        <p:nvSpPr>
          <p:cNvPr id="11" name="TextBox 10"/>
          <p:cNvSpPr txBox="1"/>
          <p:nvPr/>
        </p:nvSpPr>
        <p:spPr>
          <a:xfrm>
            <a:off x="9695400" y="11283696"/>
            <a:ext cx="14005847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1" i="0">
                <a:solidFill>
                  <a:srgbClr val="141414"/>
                </a:solidFill>
                <a:latin typeface="Beeline Sans"/>
              </a:rPr>
              <a:t>Тур по экрану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95400" y="11887200"/>
            <a:ext cx="14005847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5E5E5E"/>
                </a:solidFill>
                <a:latin typeface="Beeline Sans"/>
              </a:rPr>
              <a:t>При первом заходе открывается пошаговый тур: один элемент подсвечен, остальное затемнено. Кнопка «?» запускает его в любой момент.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12947904"/>
            <a:ext cx="1463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8C8C8C"/>
                </a:solidFill>
                <a:latin typeface="Beeline Sans"/>
              </a:rPr>
              <a:t>50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48640"/>
            <a:ext cx="1645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8C8C8C"/>
                </a:solidFill>
                <a:latin typeface="Beeline Sans"/>
              </a:rPr>
              <a:t>Продукт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66A6096C-FC1D-1CE6-4D9A-E42A4FC258C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44260" y="531262"/>
            <a:ext cx="660947" cy="66094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" y="1133856"/>
            <a:ext cx="217627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600" b="1" i="0">
                <a:solidFill>
                  <a:srgbClr val="141414"/>
                </a:solidFill>
                <a:latin typeface="Beeline Sans"/>
              </a:rPr>
              <a:t>Проигрывание дня</a:t>
            </a:r>
          </a:p>
        </p:txBody>
      </p:sp>
      <p:pic>
        <p:nvPicPr>
          <p:cNvPr id="7" name="Picture 6" descr="pla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30118" y="3017520"/>
            <a:ext cx="17899379" cy="7955279"/>
          </a:xfrm>
          <a:prstGeom prst="roundRect">
            <a:avLst>
              <a:gd name="adj" fmla="val 2000"/>
            </a:avLst>
          </a:prstGeom>
          <a:ln w="19050">
            <a:solidFill>
              <a:srgbClr val="F1F1F1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658368" y="11247120"/>
            <a:ext cx="2304288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0" i="0">
                <a:solidFill>
                  <a:srgbClr val="5E5E5E"/>
                </a:solidFill>
                <a:latin typeface="Beeline Sans"/>
              </a:rPr>
              <a:t>Пройденная часть маршрута нарисована сплошной линией, оставшаяся пунктиром. Значки показывают, где бригада сейчас, справа видно, кто работает, кто в пути и кто ждёт окна. В сценарии с событием проигрывание останавливается в момент события: до него идёт утренний план, после него пересчитанный.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2947904"/>
            <a:ext cx="1463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8C8C8C"/>
                </a:solidFill>
                <a:latin typeface="Beeline Sans"/>
              </a:rPr>
              <a:t>51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48640"/>
            <a:ext cx="1645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8C8C8C"/>
                </a:solidFill>
                <a:latin typeface="Beeline Sans"/>
              </a:rPr>
              <a:t>Продукт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66A6096C-FC1D-1CE6-4D9A-E42A4FC258C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44260" y="531262"/>
            <a:ext cx="660947" cy="66094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" y="1133856"/>
            <a:ext cx="217627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600" b="1" i="0">
                <a:solidFill>
                  <a:srgbClr val="141414"/>
                </a:solidFill>
                <a:latin typeface="Beeline Sans"/>
              </a:rPr>
              <a:t>Остальные события дня</a:t>
            </a:r>
          </a:p>
        </p:txBody>
      </p:sp>
      <p:pic>
        <p:nvPicPr>
          <p:cNvPr id="7" name="Picture 6" descr="ev_wind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3017520"/>
            <a:ext cx="7315200" cy="5797296"/>
          </a:xfrm>
          <a:prstGeom prst="roundRect">
            <a:avLst>
              <a:gd name="adj" fmla="val 2000"/>
            </a:avLst>
          </a:prstGeom>
          <a:ln w="19050">
            <a:solidFill>
              <a:srgbClr val="F1F1F1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658368" y="11100815"/>
            <a:ext cx="7315200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1" i="0">
                <a:solidFill>
                  <a:srgbClr val="141414"/>
                </a:solidFill>
                <a:latin typeface="Beeline Sans"/>
              </a:rPr>
              <a:t>Клиент перенёс окно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1704319"/>
            <a:ext cx="73152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5E5E5E"/>
                </a:solidFill>
                <a:latin typeface="Beeline Sans"/>
              </a:rPr>
              <a:t>если бригада успевает в новое окно, меняется только время визита</a:t>
            </a:r>
          </a:p>
        </p:txBody>
      </p:sp>
      <p:pic>
        <p:nvPicPr>
          <p:cNvPr id="10" name="Picture 9" descr="ev_cance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22208" y="3017520"/>
            <a:ext cx="7315200" cy="5413248"/>
          </a:xfrm>
          <a:prstGeom prst="roundRect">
            <a:avLst>
              <a:gd name="adj" fmla="val 2000"/>
            </a:avLst>
          </a:prstGeom>
          <a:ln w="19050">
            <a:solidFill>
              <a:srgbClr val="F1F1F1"/>
            </a:solidFill>
          </a:ln>
        </p:spPr>
      </p:pic>
      <p:sp>
        <p:nvSpPr>
          <p:cNvPr id="11" name="TextBox 10"/>
          <p:cNvSpPr txBox="1"/>
          <p:nvPr/>
        </p:nvSpPr>
        <p:spPr>
          <a:xfrm>
            <a:off x="8522208" y="11100815"/>
            <a:ext cx="7315200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1" i="0">
                <a:solidFill>
                  <a:srgbClr val="141414"/>
                </a:solidFill>
                <a:latin typeface="Beeline Sans"/>
              </a:rPr>
              <a:t>Отмена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22208" y="11704319"/>
            <a:ext cx="73152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5E5E5E"/>
                </a:solidFill>
                <a:latin typeface="Beeline Sans"/>
              </a:rPr>
              <a:t>у бригады освобождается время, остальные заявки не меняются</a:t>
            </a:r>
          </a:p>
        </p:txBody>
      </p:sp>
      <p:pic>
        <p:nvPicPr>
          <p:cNvPr id="13" name="Picture 12" descr="ev_acciden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386048" y="3017520"/>
            <a:ext cx="7315200" cy="5797296"/>
          </a:xfrm>
          <a:prstGeom prst="roundRect">
            <a:avLst>
              <a:gd name="adj" fmla="val 2000"/>
            </a:avLst>
          </a:prstGeom>
          <a:ln w="19050">
            <a:solidFill>
              <a:srgbClr val="F1F1F1"/>
            </a:solidFill>
          </a:ln>
        </p:spPr>
      </p:pic>
      <p:sp>
        <p:nvSpPr>
          <p:cNvPr id="14" name="TextBox 13"/>
          <p:cNvSpPr txBox="1"/>
          <p:nvPr/>
        </p:nvSpPr>
        <p:spPr>
          <a:xfrm>
            <a:off x="16386048" y="11100815"/>
            <a:ext cx="7315200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1" i="0">
                <a:solidFill>
                  <a:srgbClr val="141414"/>
                </a:solidFill>
                <a:latin typeface="Beeline Sans"/>
              </a:rPr>
              <a:t>Авария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386048" y="11704319"/>
            <a:ext cx="73152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5E5E5E"/>
                </a:solidFill>
                <a:latin typeface="Beeline Sans"/>
              </a:rPr>
              <a:t>начнётся в пределах двух часов; выполненное и начатое не меняется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12947904"/>
            <a:ext cx="1463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8C8C8C"/>
                </a:solidFill>
                <a:latin typeface="Beeline Sans"/>
              </a:rPr>
              <a:t>52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48640"/>
            <a:ext cx="1645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8C8C8C"/>
                </a:solidFill>
                <a:latin typeface="Beeline Sans"/>
              </a:rPr>
              <a:t>Продукт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66A6096C-FC1D-1CE6-4D9A-E42A4FC258C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44260" y="531262"/>
            <a:ext cx="660947" cy="66094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" y="1133856"/>
            <a:ext cx="217627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600" b="1" i="0">
                <a:solidFill>
                  <a:srgbClr val="141414"/>
                </a:solidFill>
                <a:latin typeface="Beeline Sans"/>
              </a:rPr>
              <a:t>Бригады, заявки без исполнителя, сравнение</a:t>
            </a:r>
          </a:p>
        </p:txBody>
      </p:sp>
      <p:pic>
        <p:nvPicPr>
          <p:cNvPr id="7" name="Picture 6" descr="brigad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0983" y="3017520"/>
            <a:ext cx="12537649" cy="3474720"/>
          </a:xfrm>
          <a:prstGeom prst="roundRect">
            <a:avLst>
              <a:gd name="adj" fmla="val 2000"/>
            </a:avLst>
          </a:prstGeom>
          <a:ln w="19050">
            <a:solidFill>
              <a:srgbClr val="F1F1F1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658368" y="6711696"/>
            <a:ext cx="23042880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1" i="0">
                <a:solidFill>
                  <a:srgbClr val="141414"/>
                </a:solidFill>
                <a:latin typeface="Beeline Sans"/>
              </a:rPr>
              <a:t>Бригады в работе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7315200"/>
            <a:ext cx="2304288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5E5E5E"/>
                </a:solidFill>
                <a:latin typeface="Beeline Sans"/>
              </a:rPr>
              <a:t>по каждой бригаде: транспорт, навыки, что взять с собой, сколько адресов и км; отметки инженеров «приехал» и «закончил»; выгрузка фактических выездов в CSV</a:t>
            </a:r>
          </a:p>
        </p:txBody>
      </p:sp>
      <p:pic>
        <p:nvPicPr>
          <p:cNvPr id="10" name="Picture 9" descr="botto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28503" y="7680960"/>
            <a:ext cx="15902608" cy="3657599"/>
          </a:xfrm>
          <a:prstGeom prst="roundRect">
            <a:avLst>
              <a:gd name="adj" fmla="val 2000"/>
            </a:avLst>
          </a:prstGeom>
          <a:ln w="19050">
            <a:solidFill>
              <a:srgbClr val="F1F1F1"/>
            </a:solidFill>
          </a:ln>
        </p:spPr>
      </p:pic>
      <p:sp>
        <p:nvSpPr>
          <p:cNvPr id="11" name="TextBox 10"/>
          <p:cNvSpPr txBox="1"/>
          <p:nvPr/>
        </p:nvSpPr>
        <p:spPr>
          <a:xfrm>
            <a:off x="658368" y="11558016"/>
            <a:ext cx="23042880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1" i="0">
                <a:solidFill>
                  <a:srgbClr val="141414"/>
                </a:solidFill>
                <a:latin typeface="Beeline Sans"/>
              </a:rPr>
              <a:t>Без исполнителя и сравнение с базовым вариантом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12161520"/>
            <a:ext cx="2304288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5E5E5E"/>
                </a:solidFill>
                <a:latin typeface="Beeline Sans"/>
              </a:rPr>
              <a:t>заявки без исполнителя — с причиной и тем, какой бригады не хватает; сравнение с базовым вариантом из ТЗ: сколько заявок выполнено, бригад и км на заявку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12947904"/>
            <a:ext cx="1463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8C8C8C"/>
                </a:solidFill>
                <a:latin typeface="Beeline Sans"/>
              </a:rPr>
              <a:t>53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48640"/>
            <a:ext cx="1645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8C8C8C"/>
                </a:solidFill>
                <a:latin typeface="Beeline Sans"/>
              </a:rPr>
              <a:t>Второй этап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66A6096C-FC1D-1CE6-4D9A-E42A4FC258C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44260" y="531262"/>
            <a:ext cx="660947" cy="66094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" y="1133856"/>
            <a:ext cx="217627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600" b="1" i="0">
                <a:solidFill>
                  <a:srgbClr val="141414"/>
                </a:solidFill>
                <a:latin typeface="Beeline Sans"/>
              </a:rPr>
              <a:t>Покрытие аварий и свободные окна</a:t>
            </a:r>
          </a:p>
        </p:txBody>
      </p:sp>
      <p:pic>
        <p:nvPicPr>
          <p:cNvPr id="7" name="Picture 6" descr="cover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3017520"/>
            <a:ext cx="15745967" cy="6998208"/>
          </a:xfrm>
          <a:prstGeom prst="roundRect">
            <a:avLst>
              <a:gd name="adj" fmla="val 2000"/>
            </a:avLst>
          </a:prstGeom>
          <a:ln w="19050">
            <a:solidFill>
              <a:srgbClr val="F1F1F1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658368" y="11100815"/>
            <a:ext cx="15745967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1" i="0">
                <a:solidFill>
                  <a:srgbClr val="141414"/>
                </a:solidFill>
                <a:latin typeface="Beeline Sans"/>
              </a:rPr>
              <a:t>Покрытие аварий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1704319"/>
            <a:ext cx="15745967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5E5E5E"/>
                </a:solidFill>
                <a:latin typeface="Beeline Sans"/>
              </a:rPr>
              <a:t>через сколько минут начнут аварию в каждой точке участка, если она случится в выбранный час; час выбирают ползунком</a:t>
            </a:r>
          </a:p>
        </p:txBody>
      </p:sp>
      <p:pic>
        <p:nvPicPr>
          <p:cNvPr id="10" name="Picture 9" descr="defici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425326" y="3017520"/>
            <a:ext cx="5803571" cy="7863840"/>
          </a:xfrm>
          <a:prstGeom prst="roundRect">
            <a:avLst>
              <a:gd name="adj" fmla="val 2000"/>
            </a:avLst>
          </a:prstGeom>
          <a:ln w="19050">
            <a:solidFill>
              <a:srgbClr val="F1F1F1"/>
            </a:solidFill>
          </a:ln>
        </p:spPr>
      </p:pic>
      <p:sp>
        <p:nvSpPr>
          <p:cNvPr id="11" name="TextBox 10"/>
          <p:cNvSpPr txBox="1"/>
          <p:nvPr/>
        </p:nvSpPr>
        <p:spPr>
          <a:xfrm>
            <a:off x="16952976" y="11100815"/>
            <a:ext cx="6748272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1" i="0">
                <a:solidFill>
                  <a:srgbClr val="141414"/>
                </a:solidFill>
                <a:latin typeface="Beeline Sans"/>
              </a:rPr>
              <a:t>Свободные окна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52976" y="11704319"/>
            <a:ext cx="6748272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5E5E5E"/>
                </a:solidFill>
                <a:latin typeface="Beeline Sans"/>
              </a:rPr>
              <a:t>сколько ещё подключений помещается в каждом районе и окне. Окна с нулём клиентам лучше не предлагать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12947904"/>
            <a:ext cx="1463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8C8C8C"/>
                </a:solidFill>
                <a:latin typeface="Beeline Sans"/>
              </a:rPr>
              <a:t>54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48640"/>
            <a:ext cx="1645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8C8C8C"/>
                </a:solidFill>
                <a:latin typeface="Beeline Sans"/>
              </a:rPr>
              <a:t>Второй этап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66A6096C-FC1D-1CE6-4D9A-E42A4FC258C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44260" y="531262"/>
            <a:ext cx="660947" cy="66094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" y="1133856"/>
            <a:ext cx="217627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600" b="1" i="0">
                <a:solidFill>
                  <a:srgbClr val="141414"/>
                </a:solidFill>
                <a:latin typeface="Beeline Sans"/>
              </a:rPr>
              <a:t>Ранний старт и точное время</a:t>
            </a:r>
          </a:p>
        </p:txBody>
      </p:sp>
      <p:pic>
        <p:nvPicPr>
          <p:cNvPr id="7" name="Picture 6" descr="whati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3017520"/>
            <a:ext cx="8412480" cy="8812072"/>
          </a:xfrm>
          <a:prstGeom prst="roundRect">
            <a:avLst>
              <a:gd name="adj" fmla="val 2000"/>
            </a:avLst>
          </a:prstGeom>
          <a:ln w="19050">
            <a:solidFill>
              <a:srgbClr val="F1F1F1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9692640" y="3200400"/>
            <a:ext cx="13898880" cy="8961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141414"/>
                </a:solidFill>
                <a:latin typeface="Beeline Sans"/>
              </a:rPr>
              <a:t>Ранний старт</a:t>
            </a:r>
          </a:p>
          <a:p>
            <a:pPr algn="l">
              <a:spcBef>
                <a:spcPts val="1600"/>
              </a:spcBef>
            </a:pPr>
            <a:r>
              <a:rPr sz="2500" b="0" i="0">
                <a:solidFill>
                  <a:srgbClr val="141414"/>
                </a:solidFill>
                <a:latin typeface="Beeline Sans"/>
              </a:rPr>
              <a:t>Если часть клиентов согласится начать до часа раньше окна, бригад может понадобиться меньше. В плане указано, кому из клиентов и когда позвонить.</a:t>
            </a:r>
          </a:p>
          <a:p>
            <a:pPr algn="l">
              <a:spcBef>
                <a:spcPts val="1600"/>
              </a:spcBef>
            </a:pPr>
            <a:r>
              <a:rPr sz="3200" b="1" i="0">
                <a:solidFill>
                  <a:srgbClr val="141414"/>
                </a:solidFill>
                <a:latin typeface="Beeline Sans"/>
              </a:rPr>
              <a:t>Цена точного времени</a:t>
            </a:r>
          </a:p>
          <a:p>
            <a:pPr algn="l">
              <a:spcBef>
                <a:spcPts val="1600"/>
              </a:spcBef>
            </a:pPr>
            <a:r>
              <a:rPr sz="2500" b="0" i="0">
                <a:solidFill>
                  <a:srgbClr val="141414"/>
                </a:solidFill>
                <a:latin typeface="Beeline Sans"/>
              </a:rPr>
              <a:t>Часовое окно вместо двухчасового у 25, 50 и 100% клиентов: сколько бригад и км это стоит; 0% — сам план.</a:t>
            </a:r>
          </a:p>
          <a:p>
            <a:pPr algn="l">
              <a:spcBef>
                <a:spcPts val="1600"/>
              </a:spcBef>
            </a:pPr>
            <a:r>
              <a:rPr sz="3200" b="1" i="0">
                <a:solidFill>
                  <a:srgbClr val="141414"/>
                </a:solidFill>
                <a:latin typeface="Beeline Sans"/>
              </a:rPr>
              <a:t>Время в пути</a:t>
            </a:r>
          </a:p>
          <a:p>
            <a:pPr algn="l">
              <a:spcBef>
                <a:spcPts val="1600"/>
              </a:spcBef>
            </a:pPr>
            <a:r>
              <a:rPr sz="2500" b="0" i="0">
                <a:solidFill>
                  <a:srgbClr val="141414"/>
                </a:solidFill>
                <a:latin typeface="Beeline Sans"/>
              </a:rPr>
              <a:t>Общественный транспорт — по расписаниям: автобусы, трамваи, метро, МЦК, МЦД, электрички и автобусы области; среднее время в часы окна заявки. Машина — пробки по часам, дням недели и сетке ~330 м.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2947904"/>
            <a:ext cx="1463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8C8C8C"/>
                </a:solidFill>
                <a:latin typeface="Beeline Sans"/>
              </a:rPr>
              <a:t>55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4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48640"/>
            <a:ext cx="1645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A1A1A1"/>
                </a:solidFill>
                <a:latin typeface="Beeline Sans"/>
              </a:rPr>
              <a:t>Результаты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66A6096C-FC1D-1CE6-4D9A-E42A4FC258C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44260" y="531262"/>
            <a:ext cx="660947" cy="66094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" y="1133856"/>
            <a:ext cx="217627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600" b="1" i="0">
                <a:solidFill>
                  <a:srgbClr val="FFFFFF"/>
                </a:solidFill>
                <a:latin typeface="Beeline Sans"/>
              </a:rPr>
              <a:t>Наш план на трёх участках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5453359" y="914400"/>
            <a:ext cx="7315200" cy="1828800"/>
          </a:xfrm>
          <a:prstGeom prst="roundRect">
            <a:avLst>
              <a:gd name="adj" fmla="val 5000"/>
            </a:avLst>
          </a:prstGeom>
          <a:solidFill>
            <a:srgbClr val="5E5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5727680" y="914400"/>
            <a:ext cx="68580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Beeline Sans"/>
              </a:rPr>
              <a:t>модель первого этапа: </a:t>
            </a:r>
            <a:r>
              <a:rPr sz="1800" b="0" i="0">
                <a:solidFill>
                  <a:srgbClr val="FFFFFF"/>
                </a:solidFill>
                <a:latin typeface="Beeline Sans"/>
              </a:rPr>
              <a:t>смена 10–22 без обеда, транспорт по средней скорости, пробки одним коэффициентом</a:t>
            </a:r>
          </a:p>
          <a:p>
            <a:pPr algn="l">
              <a:spcBef>
                <a:spcPts val="400"/>
              </a:spcBef>
            </a:pPr>
            <a:r>
              <a:rPr sz="1800" b="1" i="0">
                <a:solidFill>
                  <a:srgbClr val="FFC800"/>
                </a:solidFill>
                <a:latin typeface="Beeline Sans"/>
              </a:rPr>
              <a:t>в текущей модели: </a:t>
            </a:r>
            <a:r>
              <a:rPr sz="1800" b="0" i="0">
                <a:solidFill>
                  <a:srgbClr val="FFFFFF"/>
                </a:solidFill>
                <a:latin typeface="Beeline Sans"/>
              </a:rPr>
              <a:t>на общественном транспорте 12, 11 и 12 бригад; на смешанном — 8, 7 и 12</a:t>
            </a:r>
          </a:p>
        </p:txBody>
      </p:sp>
      <p:pic>
        <p:nvPicPr>
          <p:cNvPr id="9" name="Picture 8" descr="map3_vostok_p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1495" y="3017520"/>
            <a:ext cx="7148945" cy="7863840"/>
          </a:xfrm>
          <a:prstGeom prst="roundRect">
            <a:avLst>
              <a:gd name="adj" fmla="val 3000"/>
            </a:avLst>
          </a:prstGeom>
        </p:spPr>
      </p:pic>
      <p:sp>
        <p:nvSpPr>
          <p:cNvPr id="10" name="TextBox 9"/>
          <p:cNvSpPr txBox="1"/>
          <p:nvPr/>
        </p:nvSpPr>
        <p:spPr>
          <a:xfrm>
            <a:off x="658368" y="11155680"/>
            <a:ext cx="73152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FFC800"/>
                </a:solidFill>
                <a:latin typeface="Beeline Sans"/>
              </a:rPr>
              <a:t>Восток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11832336"/>
            <a:ext cx="73152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0" i="0">
                <a:solidFill>
                  <a:srgbClr val="FFFFFF"/>
                </a:solidFill>
                <a:latin typeface="Beeline Sans"/>
              </a:rPr>
              <a:t>8 бригад вместо 12, 167 км</a:t>
            </a:r>
          </a:p>
        </p:txBody>
      </p:sp>
      <p:pic>
        <p:nvPicPr>
          <p:cNvPr id="12" name="Picture 11" descr="map3_yugocentr_p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13895" y="3017520"/>
            <a:ext cx="7148945" cy="7863840"/>
          </a:xfrm>
          <a:prstGeom prst="roundRect">
            <a:avLst>
              <a:gd name="adj" fmla="val 3000"/>
            </a:avLst>
          </a:prstGeom>
        </p:spPr>
      </p:pic>
      <p:sp>
        <p:nvSpPr>
          <p:cNvPr id="13" name="TextBox 12"/>
          <p:cNvSpPr txBox="1"/>
          <p:nvPr/>
        </p:nvSpPr>
        <p:spPr>
          <a:xfrm>
            <a:off x="8430768" y="11155680"/>
            <a:ext cx="73152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FFC800"/>
                </a:solidFill>
                <a:latin typeface="Beeline Sans"/>
              </a:rPr>
              <a:t>Югоцентр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30768" y="11832336"/>
            <a:ext cx="73152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0" i="0">
                <a:solidFill>
                  <a:srgbClr val="FFFFFF"/>
                </a:solidFill>
                <a:latin typeface="Beeline Sans"/>
              </a:rPr>
              <a:t>6 бригад вместо 11, 198 км</a:t>
            </a:r>
          </a:p>
        </p:txBody>
      </p:sp>
      <p:pic>
        <p:nvPicPr>
          <p:cNvPr id="15" name="Picture 14" descr="map3_yugovostok_p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286295" y="3017520"/>
            <a:ext cx="7148945" cy="7863840"/>
          </a:xfrm>
          <a:prstGeom prst="roundRect">
            <a:avLst>
              <a:gd name="adj" fmla="val 3000"/>
            </a:avLst>
          </a:prstGeom>
        </p:spPr>
      </p:pic>
      <p:sp>
        <p:nvSpPr>
          <p:cNvPr id="16" name="TextBox 15"/>
          <p:cNvSpPr txBox="1"/>
          <p:nvPr/>
        </p:nvSpPr>
        <p:spPr>
          <a:xfrm>
            <a:off x="16203167" y="11155680"/>
            <a:ext cx="73152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FFC800"/>
                </a:solidFill>
                <a:latin typeface="Beeline Sans"/>
              </a:rPr>
              <a:t>Юго-восток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3167" y="11832336"/>
            <a:ext cx="73152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0" i="0">
                <a:solidFill>
                  <a:srgbClr val="FFFFFF"/>
                </a:solidFill>
                <a:latin typeface="Beeline Sans"/>
              </a:rPr>
              <a:t>11 бригад вместо 12, 413 км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203167" y="12527280"/>
            <a:ext cx="749807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A1A1A1"/>
                </a:solidFill>
                <a:latin typeface="Beeline Sans"/>
              </a:rPr>
              <a:t>*На карте Юго-востока только московская часть. Три бригады стартуют из Каширы, Ступино и Домодедово.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12947904"/>
            <a:ext cx="1463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A1A1A1"/>
                </a:solidFill>
                <a:latin typeface="Beeline Sans"/>
              </a:rPr>
              <a:t>56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4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48640"/>
            <a:ext cx="1645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A1A1A1"/>
                </a:solidFill>
                <a:latin typeface="Beeline Sans"/>
              </a:rPr>
              <a:t>Результаты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66A6096C-FC1D-1CE6-4D9A-E42A4FC258C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44260" y="531262"/>
            <a:ext cx="660947" cy="66094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" y="1133856"/>
            <a:ext cx="217627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600" b="1" i="0">
                <a:solidFill>
                  <a:srgbClr val="FFFFFF"/>
                </a:solidFill>
                <a:latin typeface="Beeline Sans"/>
              </a:rPr>
              <a:t>Все варианты реального дня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5453359" y="914400"/>
            <a:ext cx="7315200" cy="1828800"/>
          </a:xfrm>
          <a:prstGeom prst="roundRect">
            <a:avLst>
              <a:gd name="adj" fmla="val 5000"/>
            </a:avLst>
          </a:prstGeom>
          <a:solidFill>
            <a:srgbClr val="5E5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5727680" y="914400"/>
            <a:ext cx="68580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Beeline Sans"/>
              </a:rPr>
              <a:t>модель первого этапа: </a:t>
            </a:r>
            <a:r>
              <a:rPr sz="1800" b="0" i="0">
                <a:solidFill>
                  <a:srgbClr val="FFFFFF"/>
                </a:solidFill>
                <a:latin typeface="Beeline Sans"/>
              </a:rPr>
              <a:t>смена 10–22 без обеда, транспорт по средней скорости, пробки одним коэффициентом</a:t>
            </a:r>
          </a:p>
          <a:p>
            <a:pPr algn="l">
              <a:spcBef>
                <a:spcPts val="400"/>
              </a:spcBef>
            </a:pPr>
            <a:r>
              <a:rPr sz="1800" b="1" i="0">
                <a:solidFill>
                  <a:srgbClr val="FFC800"/>
                </a:solidFill>
                <a:latin typeface="Beeline Sans"/>
              </a:rPr>
              <a:t>в текущей модели: </a:t>
            </a:r>
            <a:r>
              <a:rPr sz="1800" b="0" i="0">
                <a:solidFill>
                  <a:srgbClr val="FFFFFF"/>
                </a:solidFill>
                <a:latin typeface="Beeline Sans"/>
              </a:rPr>
              <a:t>колонка «Текущая модель»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58368" y="3017520"/>
          <a:ext cx="23042880" cy="804672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5029200"/>
                <a:gridCol w="4206240"/>
                <a:gridCol w="3383280"/>
                <a:gridCol w="3017520"/>
                <a:gridCol w="3200400"/>
                <a:gridCol w="4206240"/>
              </a:tblGrid>
              <a:tr h="804672">
                <a:tc>
                  <a:txBody>
                    <a:bodyPr wrap="square"/>
                    <a:lstStyle/>
                    <a:p>
                      <a:pPr algn="l"/>
                      <a:r>
                        <a:rPr sz="2300" b="1" i="0">
                          <a:solidFill>
                            <a:srgbClr val="141414"/>
                          </a:solidFill>
                          <a:latin typeface="Beeline Sans"/>
                        </a:rPr>
                        <a:t>Участок, транспорт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C8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300" b="1" i="0">
                          <a:solidFill>
                            <a:srgbClr val="141414"/>
                          </a:solidFill>
                          <a:latin typeface="Beeline Sans"/>
                        </a:rPr>
                        <a:t>Реальный день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C8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300" b="1" i="0">
                          <a:solidFill>
                            <a:srgbClr val="141414"/>
                          </a:solidFill>
                          <a:latin typeface="Beeline Sans"/>
                        </a:rPr>
                        <a:t>Базовый ТЗ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C8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300" b="1" i="0">
                          <a:solidFill>
                            <a:srgbClr val="141414"/>
                          </a:solidFill>
                          <a:latin typeface="Beeline Sans"/>
                        </a:rPr>
                        <a:t>Наш план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C8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300" b="1" i="0">
                          <a:solidFill>
                            <a:srgbClr val="141414"/>
                          </a:solidFill>
                          <a:latin typeface="Beeline Sans"/>
                        </a:rPr>
                        <a:t>Оптимальность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C8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300" b="1" i="0">
                          <a:solidFill>
                            <a:srgbClr val="141414"/>
                          </a:solidFill>
                          <a:latin typeface="Beeline Sans"/>
                        </a:rPr>
                        <a:t>Текущая модель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C800"/>
                    </a:solidFill>
                  </a:tcPr>
                </a:tc>
              </a:tr>
              <a:tr h="804672">
                <a:tc>
                  <a:txBody>
                    <a:bodyPr wrap="square"/>
                    <a:lstStyle/>
                    <a:p>
                      <a:pPr algn="l"/>
                      <a:r>
                        <a:rPr sz="2300" b="1" i="0">
                          <a:solidFill>
                            <a:srgbClr val="FFFFFF"/>
                          </a:solidFill>
                          <a:latin typeface="Beeline Sans"/>
                        </a:rPr>
                        <a:t>Восток, общ. транспорт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300" b="0" i="0">
                          <a:solidFill>
                            <a:srgbClr val="FFFFFF"/>
                          </a:solidFill>
                          <a:latin typeface="Beeline Sans"/>
                        </a:rPr>
                        <a:t>12 бр, 229 км, 3 опозд.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300" b="0" i="0">
                          <a:solidFill>
                            <a:srgbClr val="FFFFFF"/>
                          </a:solidFill>
                          <a:latin typeface="Beeline Sans"/>
                        </a:rPr>
                        <a:t>12 бр, 25 не вып.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300" b="1" i="0">
                          <a:solidFill>
                            <a:srgbClr val="FFC800"/>
                          </a:solidFill>
                          <a:latin typeface="Beeline Sans"/>
                        </a:rPr>
                        <a:t>8 бр, 167 км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300" b="0" i="0">
                          <a:solidFill>
                            <a:srgbClr val="FFFFFF"/>
                          </a:solidFill>
                          <a:latin typeface="Beeline Sans"/>
                        </a:rPr>
                        <a:t>доказана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300" b="0" i="0">
                          <a:solidFill>
                            <a:srgbClr val="FFFFFF"/>
                          </a:solidFill>
                          <a:latin typeface="Beeline Sans"/>
                        </a:rPr>
                        <a:t>12 бр, 1 не вып.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141414"/>
                    </a:solidFill>
                  </a:tcPr>
                </a:tc>
              </a:tr>
              <a:tr h="804672">
                <a:tc>
                  <a:txBody>
                    <a:bodyPr wrap="square"/>
                    <a:lstStyle/>
                    <a:p>
                      <a:pPr algn="l"/>
                      <a:r>
                        <a:rPr sz="2300" b="1" i="0">
                          <a:solidFill>
                            <a:srgbClr val="FFFFFF"/>
                          </a:solidFill>
                          <a:latin typeface="Beeline Sans"/>
                        </a:rPr>
                        <a:t>Восток, машина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26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300" b="0" i="0">
                          <a:solidFill>
                            <a:srgbClr val="FFFFFF"/>
                          </a:solidFill>
                          <a:latin typeface="Beeline Sans"/>
                        </a:rPr>
                        <a:t>12 бр, 252 км, 2 опозд.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26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300" b="0" i="0">
                          <a:solidFill>
                            <a:srgbClr val="FFFFFF"/>
                          </a:solidFill>
                          <a:latin typeface="Beeline Sans"/>
                        </a:rPr>
                        <a:t>12 бр, 19 не вып.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26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300" b="1" i="0">
                          <a:solidFill>
                            <a:srgbClr val="FFC800"/>
                          </a:solidFill>
                          <a:latin typeface="Beeline Sans"/>
                        </a:rPr>
                        <a:t>7 бр, 190 км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26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300" b="0" i="0">
                          <a:solidFill>
                            <a:srgbClr val="FFFFFF"/>
                          </a:solidFill>
                          <a:latin typeface="Beeline Sans"/>
                        </a:rPr>
                        <a:t>доказана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26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300" b="0" i="0">
                          <a:solidFill>
                            <a:srgbClr val="FFFFFF"/>
                          </a:solidFill>
                          <a:latin typeface="Beeline Sans"/>
                        </a:rPr>
                        <a:t>8 бр, 180 км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262626"/>
                    </a:solidFill>
                  </a:tcPr>
                </a:tc>
              </a:tr>
              <a:tr h="804672">
                <a:tc>
                  <a:txBody>
                    <a:bodyPr wrap="square"/>
                    <a:lstStyle/>
                    <a:p>
                      <a:pPr algn="l"/>
                      <a:r>
                        <a:rPr sz="2300" b="1" i="0">
                          <a:solidFill>
                            <a:srgbClr val="FFFFFF"/>
                          </a:solidFill>
                          <a:latin typeface="Beeline Sans"/>
                        </a:rPr>
                        <a:t>Восток, смешанный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300" b="0" i="0">
                          <a:solidFill>
                            <a:srgbClr val="FFFFFF"/>
                          </a:solidFill>
                          <a:latin typeface="Beeline Sans"/>
                        </a:rPr>
                        <a:t/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300" b="0" i="0">
                          <a:solidFill>
                            <a:srgbClr val="FFFFFF"/>
                          </a:solidFill>
                          <a:latin typeface="Beeline Sans"/>
                        </a:rPr>
                        <a:t>12 бр, 21 не вып.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300" b="1" i="0">
                          <a:solidFill>
                            <a:srgbClr val="FFC800"/>
                          </a:solidFill>
                          <a:latin typeface="Beeline Sans"/>
                        </a:rPr>
                        <a:t>7 бр, 186 км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300" b="0" i="0">
                          <a:solidFill>
                            <a:srgbClr val="FFFFFF"/>
                          </a:solidFill>
                          <a:latin typeface="Beeline Sans"/>
                        </a:rPr>
                        <a:t>доказана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300" b="0" i="0">
                          <a:solidFill>
                            <a:srgbClr val="FFFFFF"/>
                          </a:solidFill>
                          <a:latin typeface="Beeline Sans"/>
                        </a:rPr>
                        <a:t>8 бр, 187 км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141414"/>
                    </a:solidFill>
                  </a:tcPr>
                </a:tc>
              </a:tr>
              <a:tr h="804672">
                <a:tc>
                  <a:txBody>
                    <a:bodyPr wrap="square"/>
                    <a:lstStyle/>
                    <a:p>
                      <a:pPr algn="l"/>
                      <a:r>
                        <a:rPr sz="2300" b="1" i="0">
                          <a:solidFill>
                            <a:srgbClr val="FFFFFF"/>
                          </a:solidFill>
                          <a:latin typeface="Beeline Sans"/>
                        </a:rPr>
                        <a:t>Югоцентр, общ. транспорт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26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300" b="0" i="0">
                          <a:solidFill>
                            <a:srgbClr val="FFFFFF"/>
                          </a:solidFill>
                          <a:latin typeface="Beeline Sans"/>
                        </a:rPr>
                        <a:t>11 бр, 228 км, 4 опозд.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26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300" b="0" i="0">
                          <a:solidFill>
                            <a:srgbClr val="FFFFFF"/>
                          </a:solidFill>
                          <a:latin typeface="Beeline Sans"/>
                        </a:rPr>
                        <a:t>11 бр, 14 не вып.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26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300" b="1" i="0">
                          <a:solidFill>
                            <a:srgbClr val="FFC800"/>
                          </a:solidFill>
                          <a:latin typeface="Beeline Sans"/>
                        </a:rPr>
                        <a:t>6 бр, 198 км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26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300" b="0" i="0">
                          <a:solidFill>
                            <a:srgbClr val="FFFFFF"/>
                          </a:solidFill>
                          <a:latin typeface="Beeline Sans"/>
                        </a:rPr>
                        <a:t>доказана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26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300" b="0" i="0">
                          <a:solidFill>
                            <a:srgbClr val="FFFFFF"/>
                          </a:solidFill>
                          <a:latin typeface="Beeline Sans"/>
                        </a:rPr>
                        <a:t>11 бр, 3 не вып.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262626"/>
                    </a:solidFill>
                  </a:tcPr>
                </a:tc>
              </a:tr>
              <a:tr h="804672">
                <a:tc>
                  <a:txBody>
                    <a:bodyPr wrap="square"/>
                    <a:lstStyle/>
                    <a:p>
                      <a:pPr algn="l"/>
                      <a:r>
                        <a:rPr sz="2300" b="1" i="0">
                          <a:solidFill>
                            <a:srgbClr val="FFFFFF"/>
                          </a:solidFill>
                          <a:latin typeface="Beeline Sans"/>
                        </a:rPr>
                        <a:t>Югоцентр, машина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300" b="0" i="0">
                          <a:solidFill>
                            <a:srgbClr val="FFFFFF"/>
                          </a:solidFill>
                          <a:latin typeface="Beeline Sans"/>
                        </a:rPr>
                        <a:t>11 бр, 228 км, 2 опозд.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300" b="0" i="0">
                          <a:solidFill>
                            <a:srgbClr val="FFFFFF"/>
                          </a:solidFill>
                          <a:latin typeface="Beeline Sans"/>
                        </a:rPr>
                        <a:t>11 бр, 10 не вып.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300" b="1" i="0">
                          <a:solidFill>
                            <a:srgbClr val="FFC800"/>
                          </a:solidFill>
                          <a:latin typeface="Beeline Sans"/>
                        </a:rPr>
                        <a:t>6 бр, 164 км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300" b="0" i="0">
                          <a:solidFill>
                            <a:srgbClr val="FFFFFF"/>
                          </a:solidFill>
                          <a:latin typeface="Beeline Sans"/>
                        </a:rPr>
                        <a:t>доказана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300" b="0" i="0">
                          <a:solidFill>
                            <a:srgbClr val="FFFFFF"/>
                          </a:solidFill>
                          <a:latin typeface="Beeline Sans"/>
                        </a:rPr>
                        <a:t>7 бр, 130 км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141414"/>
                    </a:solidFill>
                  </a:tcPr>
                </a:tc>
              </a:tr>
              <a:tr h="804672">
                <a:tc>
                  <a:txBody>
                    <a:bodyPr wrap="square"/>
                    <a:lstStyle/>
                    <a:p>
                      <a:pPr algn="l"/>
                      <a:r>
                        <a:rPr sz="2300" b="1" i="0">
                          <a:solidFill>
                            <a:srgbClr val="FFFFFF"/>
                          </a:solidFill>
                          <a:latin typeface="Beeline Sans"/>
                        </a:rPr>
                        <a:t>Югоцентр, смешанный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26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300" b="0" i="0">
                          <a:solidFill>
                            <a:srgbClr val="FFFFFF"/>
                          </a:solidFill>
                          <a:latin typeface="Beeline Sans"/>
                        </a:rPr>
                        <a:t/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26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300" b="0" i="0">
                          <a:solidFill>
                            <a:srgbClr val="FFFFFF"/>
                          </a:solidFill>
                          <a:latin typeface="Beeline Sans"/>
                        </a:rPr>
                        <a:t>11 бр, 13 не вып.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26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300" b="1" i="0">
                          <a:solidFill>
                            <a:srgbClr val="FFC800"/>
                          </a:solidFill>
                          <a:latin typeface="Beeline Sans"/>
                        </a:rPr>
                        <a:t>6 бр, 161 км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26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300" b="0" i="0">
                          <a:solidFill>
                            <a:srgbClr val="FFFFFF"/>
                          </a:solidFill>
                          <a:latin typeface="Beeline Sans"/>
                        </a:rPr>
                        <a:t>доказана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26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300" b="0" i="0">
                          <a:solidFill>
                            <a:srgbClr val="FFFFFF"/>
                          </a:solidFill>
                          <a:latin typeface="Beeline Sans"/>
                        </a:rPr>
                        <a:t>7 бр, 157 км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262626"/>
                    </a:solidFill>
                  </a:tcPr>
                </a:tc>
              </a:tr>
              <a:tr h="804672">
                <a:tc>
                  <a:txBody>
                    <a:bodyPr wrap="square"/>
                    <a:lstStyle/>
                    <a:p>
                      <a:pPr algn="l"/>
                      <a:r>
                        <a:rPr sz="2300" b="1" i="0">
                          <a:solidFill>
                            <a:srgbClr val="FFFFFF"/>
                          </a:solidFill>
                          <a:latin typeface="Beeline Sans"/>
                        </a:rPr>
                        <a:t>Юго-восток, общ. транспорт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300" b="0" i="0">
                          <a:solidFill>
                            <a:srgbClr val="FFFFFF"/>
                          </a:solidFill>
                          <a:latin typeface="Beeline Sans"/>
                        </a:rPr>
                        <a:t>12 бр, 367 км, 35 опозд.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300" b="0" i="0">
                          <a:solidFill>
                            <a:srgbClr val="FFFFFF"/>
                          </a:solidFill>
                          <a:latin typeface="Beeline Sans"/>
                        </a:rPr>
                        <a:t>12 бр, 35 не вып.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300" b="1" i="0">
                          <a:solidFill>
                            <a:srgbClr val="FFC800"/>
                          </a:solidFill>
                          <a:latin typeface="Beeline Sans"/>
                        </a:rPr>
                        <a:t>11 бр, 413 км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300" b="0" i="0">
                          <a:solidFill>
                            <a:srgbClr val="FFFFFF"/>
                          </a:solidFill>
                          <a:latin typeface="Beeline Sans"/>
                        </a:rPr>
                        <a:t>доказана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300" b="0" i="0">
                          <a:solidFill>
                            <a:srgbClr val="FFFFFF"/>
                          </a:solidFill>
                          <a:latin typeface="Beeline Sans"/>
                        </a:rPr>
                        <a:t>12 бр, 5 не вып.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141414"/>
                    </a:solidFill>
                  </a:tcPr>
                </a:tc>
              </a:tr>
              <a:tr h="804672">
                <a:tc>
                  <a:txBody>
                    <a:bodyPr wrap="square"/>
                    <a:lstStyle/>
                    <a:p>
                      <a:pPr algn="l"/>
                      <a:r>
                        <a:rPr sz="2300" b="1" i="0">
                          <a:solidFill>
                            <a:srgbClr val="FFFFFF"/>
                          </a:solidFill>
                          <a:latin typeface="Beeline Sans"/>
                        </a:rPr>
                        <a:t>Юго-восток, машина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26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300" b="0" i="0">
                          <a:solidFill>
                            <a:srgbClr val="FFFFFF"/>
                          </a:solidFill>
                          <a:latin typeface="Beeline Sans"/>
                        </a:rPr>
                        <a:t>12 бр, 380 км, 24 опозд.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26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300" b="0" i="0">
                          <a:solidFill>
                            <a:srgbClr val="FFFFFF"/>
                          </a:solidFill>
                          <a:latin typeface="Beeline Sans"/>
                        </a:rPr>
                        <a:t>12 бр, 29 не вып.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26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300" b="1" i="0">
                          <a:solidFill>
                            <a:srgbClr val="FFC800"/>
                          </a:solidFill>
                          <a:latin typeface="Beeline Sans"/>
                        </a:rPr>
                        <a:t>9 бр, 436 км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26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300" b="0" i="0">
                          <a:solidFill>
                            <a:srgbClr val="FFFFFF"/>
                          </a:solidFill>
                          <a:latin typeface="Beeline Sans"/>
                        </a:rPr>
                        <a:t>доказана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262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300" b="0" i="0">
                          <a:solidFill>
                            <a:srgbClr val="FFFFFF"/>
                          </a:solidFill>
                          <a:latin typeface="Beeline Sans"/>
                        </a:rPr>
                        <a:t>10 бр, 417 км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262626"/>
                    </a:solidFill>
                  </a:tcPr>
                </a:tc>
              </a:tr>
              <a:tr h="804672">
                <a:tc>
                  <a:txBody>
                    <a:bodyPr wrap="square"/>
                    <a:lstStyle/>
                    <a:p>
                      <a:pPr algn="l"/>
                      <a:r>
                        <a:rPr sz="2300" b="1" i="0">
                          <a:solidFill>
                            <a:srgbClr val="FFFFFF"/>
                          </a:solidFill>
                          <a:latin typeface="Beeline Sans"/>
                        </a:rPr>
                        <a:t>Юго-восток, смешанный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300" b="0" i="0">
                          <a:solidFill>
                            <a:srgbClr val="FFFFFF"/>
                          </a:solidFill>
                          <a:latin typeface="Beeline Sans"/>
                        </a:rPr>
                        <a:t/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300" b="0" i="0">
                          <a:solidFill>
                            <a:srgbClr val="FFFFFF"/>
                          </a:solidFill>
                          <a:latin typeface="Beeline Sans"/>
                        </a:rPr>
                        <a:t>12 бр, 36 не вып.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300" b="1" i="0">
                          <a:solidFill>
                            <a:srgbClr val="FFC800"/>
                          </a:solidFill>
                          <a:latin typeface="Beeline Sans"/>
                        </a:rPr>
                        <a:t>11 бр, 524 км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300" b="0" i="0">
                          <a:solidFill>
                            <a:srgbClr val="FFFFFF"/>
                          </a:solidFill>
                          <a:latin typeface="Beeline Sans"/>
                        </a:rPr>
                        <a:t>доказана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300" b="0" i="0">
                          <a:solidFill>
                            <a:srgbClr val="FFFFFF"/>
                          </a:solidFill>
                          <a:latin typeface="Beeline Sans"/>
                        </a:rPr>
                        <a:t>12 бр, 2 не вып.</a:t>
                      </a:r>
                    </a:p>
                  </a:txBody>
                  <a:tcPr marL="182880" marR="182880" marT="54864" marB="54864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141414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58368" y="11338560"/>
            <a:ext cx="2304288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 i="0">
                <a:solidFill>
                  <a:srgbClr val="A1A1A1"/>
                </a:solidFill>
                <a:latin typeface="Beeline Sans"/>
              </a:rPr>
              <a:t>*«Доказана»: план оптимален и по числу бригад, и по пробегу, лучшего плана в этих ограничениях нет (нижняя граница совпала с планом).</a:t>
            </a:r>
          </a:p>
          <a:p>
            <a:pPr algn="l">
              <a:spcBef>
                <a:spcPts val="600"/>
              </a:spcBef>
            </a:pPr>
            <a:r>
              <a:rPr sz="2000" b="0" i="0">
                <a:solidFill>
                  <a:srgbClr val="A1A1A1"/>
                </a:solidFill>
                <a:latin typeface="Beeline Sans"/>
              </a:rPr>
              <a:t>В ячейках: бригад, км, опоздания или невыполненные заявки. Навыки как в реальный день, смешанный транспорт задали мы. Текущая модель — те же заявки с обедом, оборудованием, сложностью работ, домами бригад, расписаниями и пробками (research/deck_report_v2.md).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12947904"/>
            <a:ext cx="1463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A1A1A1"/>
                </a:solidFill>
                <a:latin typeface="Beeline Sans"/>
              </a:rPr>
              <a:t>57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m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</p:spPr>
      </p:pic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m-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</p:spPr>
      </p:pic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m-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</p:spPr>
      </p:pic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m-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</p:spPr>
      </p:pic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m-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21_BasicWhite">
  <a:themeElements>
    <a:clrScheme name="beetech">
      <a:dk1>
        <a:srgbClr val="1E1E1E"/>
      </a:dk1>
      <a:lt1>
        <a:srgbClr val="FFFFFF"/>
      </a:lt1>
      <a:dk2>
        <a:srgbClr val="141414"/>
      </a:dk2>
      <a:lt2>
        <a:srgbClr val="F8F8F8"/>
      </a:lt2>
      <a:accent1>
        <a:srgbClr val="FFC800"/>
      </a:accent1>
      <a:accent2>
        <a:srgbClr val="F59B19"/>
      </a:accent2>
      <a:accent3>
        <a:srgbClr val="F47300"/>
      </a:accent3>
      <a:accent4>
        <a:srgbClr val="00C2AB"/>
      </a:accent4>
      <a:accent5>
        <a:srgbClr val="EC008C"/>
      </a:accent5>
      <a:accent6>
        <a:srgbClr val="6332C8"/>
      </a:accent6>
      <a:hlink>
        <a:srgbClr val="F07300"/>
      </a:hlink>
      <a:folHlink>
        <a:srgbClr val="E5093B"/>
      </a:folHlink>
    </a:clrScheme>
    <a:fontScheme name="21_BasicWhite">
      <a:majorFont>
        <a:latin typeface="Helvetica Neue"/>
        <a:ea typeface="Helvetica Neue"/>
        <a:cs typeface="Helvetica Neue"/>
      </a:majorFont>
      <a:minorFont>
        <a:latin typeface="Helvetica"/>
        <a:ea typeface="Helvetica"/>
        <a:cs typeface="Helvetica"/>
      </a:minorFont>
    </a:fontScheme>
    <a:fmtScheme name="21_BasicWhit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>
        <a:spAutoFit/>
      </a:bodyPr>
      <a:lstStyle>
        <a:defPPr marL="0" marR="0" indent="0" algn="ctr" defTabSz="2438337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2400" b="0" i="0" u="none" strike="noStrike" cap="none" spc="0" normalizeH="0" baseline="0">
            <a:ln>
              <a:noFill/>
            </a:ln>
            <a:solidFill>
              <a:srgbClr val="5E5E5E"/>
            </a:solidFill>
            <a:effectLst/>
            <a:uFillTx/>
            <a:latin typeface="+mj-lt"/>
            <a:ea typeface="+mj-ea"/>
            <a:cs typeface="+mj-cs"/>
            <a:sym typeface="Helvetica Neue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>
        <a:spAutoFit/>
      </a:bodyPr>
      <a:lstStyle>
        <a:defPPr marL="0" marR="0" indent="0" algn="ctr" defTabSz="2438337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2400" b="0" i="0" u="none" strike="noStrike" cap="none" spc="0" normalizeH="0" baseline="0">
            <a:ln>
              <a:noFill/>
            </a:ln>
            <a:solidFill>
              <a:srgbClr val="5E5E5E"/>
            </a:solidFill>
            <a:effectLst/>
            <a:uFillTx/>
            <a:latin typeface="+mj-lt"/>
            <a:ea typeface="+mj-ea"/>
            <a:cs typeface="+mj-cs"/>
            <a:sym typeface="Helvetica Neue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ppt/theme/theme2.xml><?xml version="1.0" encoding="utf-8"?>
<a:theme xmlns:a="http://schemas.openxmlformats.org/drawingml/2006/main" name="21_BasicWhite">
  <a:themeElements>
    <a:clrScheme name="21_BasicWhit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00A2FF"/>
      </a:accent1>
      <a:accent2>
        <a:srgbClr val="16E7CF"/>
      </a:accent2>
      <a:accent3>
        <a:srgbClr val="61D836"/>
      </a:accent3>
      <a:accent4>
        <a:srgbClr val="FFD932"/>
      </a:accent4>
      <a:accent5>
        <a:srgbClr val="FF644E"/>
      </a:accent5>
      <a:accent6>
        <a:srgbClr val="FF42A1"/>
      </a:accent6>
      <a:hlink>
        <a:srgbClr val="0000FF"/>
      </a:hlink>
      <a:folHlink>
        <a:srgbClr val="FF00FF"/>
      </a:folHlink>
    </a:clrScheme>
    <a:fontScheme name="21_BasicWhite">
      <a:majorFont>
        <a:latin typeface="Helvetica Neue"/>
        <a:ea typeface="Helvetica Neue"/>
        <a:cs typeface="Helvetica Neue"/>
      </a:majorFont>
      <a:minorFont>
        <a:latin typeface="Helvetica"/>
        <a:ea typeface="Helvetica"/>
        <a:cs typeface="Helvetica"/>
      </a:minorFont>
    </a:fontScheme>
    <a:fmtScheme name="21_BasicWhit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>
        <a:spAutoFit/>
      </a:bodyPr>
      <a:lstStyle>
        <a:defPPr marL="0" marR="0" indent="0" algn="ctr" defTabSz="2438337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2400" b="0" i="0" u="none" strike="noStrike" cap="none" spc="0" normalizeH="0" baseline="0">
            <a:ln>
              <a:noFill/>
            </a:ln>
            <a:solidFill>
              <a:srgbClr val="5E5E5E"/>
            </a:solidFill>
            <a:effectLst/>
            <a:uFillTx/>
            <a:latin typeface="+mj-lt"/>
            <a:ea typeface="+mj-ea"/>
            <a:cs typeface="+mj-cs"/>
            <a:sym typeface="Helvetica Neue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>
        <a:spAutoFit/>
      </a:bodyPr>
      <a:lstStyle>
        <a:defPPr marL="0" marR="0" indent="0" algn="ctr" defTabSz="2438337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2400" b="0" i="0" u="none" strike="noStrike" cap="none" spc="0" normalizeH="0" baseline="0">
            <a:ln>
              <a:noFill/>
            </a:ln>
            <a:solidFill>
              <a:srgbClr val="5E5E5E"/>
            </a:solidFill>
            <a:effectLst/>
            <a:uFillTx/>
            <a:latin typeface="+mj-lt"/>
            <a:ea typeface="+mj-ea"/>
            <a:cs typeface="+mj-cs"/>
            <a:sym typeface="Helvetica Neue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Документ" ma:contentTypeID="0x010100C6DC749F4E63E2499755345AD71F676C" ma:contentTypeVersion="1" ma:contentTypeDescription="Создание документа." ma:contentTypeScope="" ma:versionID="befad51a7d1e2057edc29d085254fa4b">
  <xsd:schema xmlns:xsd="http://www.w3.org/2001/XMLSchema" xmlns:xs="http://www.w3.org/2001/XMLSchema" xmlns:p="http://schemas.microsoft.com/office/2006/metadata/properties" xmlns:ns2="b0d1da1b-b766-4d02-a7fe-ca5e63ac8b47" targetNamespace="http://schemas.microsoft.com/office/2006/metadata/properties" ma:root="true" ma:fieldsID="60ff9718db658d84870affcbadea4cab" ns2:_="">
    <xsd:import namespace="b0d1da1b-b766-4d02-a7fe-ca5e63ac8b47"/>
    <xsd:element name="properties">
      <xsd:complexType>
        <xsd:sequence>
          <xsd:element name="documentManagement">
            <xsd:complexType>
              <xsd:all>
                <xsd:element ref="ns2:SharedWithUser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0d1da1b-b766-4d02-a7fe-ca5e63ac8b47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Общий доступ с использованием" ma:description="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Тип контента"/>
        <xsd:element ref="dc:title" minOccurs="0" maxOccurs="1" ma:index="4" ma:displayName="Название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AA770616-B9A9-4136-8EF0-5FD8000A08A9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b0d1da1b-b766-4d02-a7fe-ca5e63ac8b47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1AF782C7-19C9-468F-A881-26AE90F9BC10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C9D8C896-CF3A-4CE8-9C0B-CB9A407D0537}">
  <ds:schemaRefs>
    <ds:schemaRef ds:uri="http://schemas.microsoft.com/office/2006/metadata/properties"/>
    <ds:schemaRef ds:uri="http://schemas.microsoft.com/office/infopath/2007/PartnerControl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140</TotalTime>
  <Words>1781</Words>
  <Application>Microsoft Macintosh PowerPoint</Application>
  <PresentationFormat>Произвольный</PresentationFormat>
  <Paragraphs>172</Paragraphs>
  <Slides>23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6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23</vt:i4>
      </vt:variant>
    </vt:vector>
  </HeadingPairs>
  <TitlesOfParts>
    <vt:vector size="30" baseType="lpstr">
      <vt:lpstr>Arial</vt:lpstr>
      <vt:lpstr>Beeline Sans</vt:lpstr>
      <vt:lpstr>Beeline Sans Black</vt:lpstr>
      <vt:lpstr>Beeline Sans Medium</vt:lpstr>
      <vt:lpstr>Helvetica Neue</vt:lpstr>
      <vt:lpstr>Helvetica Neue Medium</vt:lpstr>
      <vt:lpstr>21_BasicWhite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cp:lastModifiedBy>Миллер Марина Игоревна</cp:lastModifiedBy>
  <cp:revision>20</cp:revision>
  <dcterms:modified xsi:type="dcterms:W3CDTF">2026-05-12T07:54:46Z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0x010100C6DC749F4E63E2499755345AD71F676C</vt:lpwstr>
  </property>
</Properties>
</file>