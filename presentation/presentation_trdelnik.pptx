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media/image2.tif" ContentType="image/tif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367" r:id="rId61"/>
    <p:sldId id="368" r:id="rId60"/>
    <p:sldId id="369" r:id="rId59"/>
    <p:sldId id="370" r:id="rId58"/>
    <p:sldId id="371" r:id="rId67"/>
    <p:sldId id="303" r:id="rId33"/>
    <p:sldId id="304" r:id="rId34"/>
    <p:sldId id="307" r:id="rId37"/>
    <p:sldId id="308" r:id="rId38"/>
    <p:sldId id="309" r:id="rId39"/>
    <p:sldId id="310" r:id="rId40"/>
    <p:sldId id="311" r:id="rId41"/>
    <p:sldId id="361" r:id="rId91"/>
    <p:sldId id="314" r:id="rId44"/>
    <p:sldId id="356" r:id="rId86"/>
    <p:sldId id="321" r:id="rId51"/>
    <p:sldId id="322" r:id="rId52"/>
    <p:sldId id="324" r:id="rId54"/>
    <p:sldId id="357" r:id="rId87"/>
    <p:sldId id="333" r:id="rId63"/>
    <p:sldId id="334" r:id="rId64"/>
    <p:sldId id="362" r:id="rId92"/>
    <p:sldId id="335" r:id="rId65"/>
    <p:sldId id="363" r:id="rId93"/>
    <p:sldId id="336" r:id="rId66"/>
    <p:sldId id="364" r:id="rId94"/>
    <p:sldId id="365" r:id="rId95"/>
    <p:sldId id="360" r:id="rId90"/>
    <p:sldId id="339" r:id="rId69"/>
    <p:sldId id="359" r:id="rId89"/>
    <p:sldId id="343" r:id="rId73"/>
    <p:sldId id="342" r:id="rId72"/>
    <p:sldId id="347" r:id="rId77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66" r:id="rId96"/>
    <p:sldId id="305" r:id="rId35"/>
    <p:sldId id="306" r:id="rId36"/>
    <p:sldId id="315" r:id="rId45"/>
    <p:sldId id="317" r:id="rId47"/>
    <p:sldId id="318" r:id="rId48"/>
    <p:sldId id="319" r:id="rId49"/>
    <p:sldId id="320" r:id="rId50"/>
    <p:sldId id="323" r:id="rId53"/>
    <p:sldId id="325" r:id="rId55"/>
    <p:sldId id="358" r:id="rId88"/>
    <p:sldId id="332" r:id="rId62"/>
    <p:sldId id="340" r:id="rId70"/>
    <p:sldId id="341" r:id="rId71"/>
    <p:sldId id="344" r:id="rId74"/>
    <p:sldId id="345" r:id="rId75"/>
    <p:sldId id="346" r:id="rId76"/>
    <p:sldId id="348" r:id="rId7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26"/>
  </p:normalViewPr>
  <p:slideViewPr>
    <p:cSldViewPr snapToGrid="0">
      <p:cViewPr varScale="1">
        <p:scale>
          <a:sx n="58" d="100"/>
          <a:sy n="58" d="100"/>
        </p:scale>
        <p:origin x="-156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4" Type="http://schemas.openxmlformats.org/officeDocument/2006/relationships/slide" Target="slides/slide9.xml"/><Relationship Id="rId45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11.xml"/><Relationship Id="rId52" Type="http://schemas.openxmlformats.org/officeDocument/2006/relationships/slide" Target="slides/slide12.xml"/><Relationship Id="rId53" Type="http://schemas.openxmlformats.org/officeDocument/2006/relationships/slide" Target="slides/slide44.xml"/><Relationship Id="rId54" Type="http://schemas.openxmlformats.org/officeDocument/2006/relationships/slide" Target="slides/slide13.xml"/><Relationship Id="rId55" Type="http://schemas.openxmlformats.org/officeDocument/2006/relationships/slide" Target="slides/slide45.xml"/><Relationship Id="rId58" Type="http://schemas.openxmlformats.org/officeDocument/2006/relationships/slide" Target="slides/slide57.xml"/><Relationship Id="rId59" Type="http://schemas.openxmlformats.org/officeDocument/2006/relationships/slide" Target="slides/slide56.xml"/><Relationship Id="rId60" Type="http://schemas.openxmlformats.org/officeDocument/2006/relationships/slide" Target="slides/slide55.xml"/><Relationship Id="rId61" Type="http://schemas.openxmlformats.org/officeDocument/2006/relationships/slide" Target="slides/slide54.xml"/><Relationship Id="rId62" Type="http://schemas.openxmlformats.org/officeDocument/2006/relationships/slide" Target="slides/slide47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8.xml"/><Relationship Id="rId66" Type="http://schemas.openxmlformats.org/officeDocument/2006/relationships/slide" Target="slides/slide20.xml"/><Relationship Id="rId67" Type="http://schemas.openxmlformats.org/officeDocument/2006/relationships/slide" Target="slides/slide58.xml"/><Relationship Id="rId69" Type="http://schemas.openxmlformats.org/officeDocument/2006/relationships/slide" Target="slides/slide24.xml"/><Relationship Id="rId70" Type="http://schemas.openxmlformats.org/officeDocument/2006/relationships/slide" Target="slides/slide48.xml"/><Relationship Id="rId71" Type="http://schemas.openxmlformats.org/officeDocument/2006/relationships/slide" Target="slides/slide49.xml"/><Relationship Id="rId72" Type="http://schemas.openxmlformats.org/officeDocument/2006/relationships/slide" Target="slides/slide27.xml"/><Relationship Id="rId73" Type="http://schemas.openxmlformats.org/officeDocument/2006/relationships/slide" Target="slides/slide26.xml"/><Relationship Id="rId74" Type="http://schemas.openxmlformats.org/officeDocument/2006/relationships/slide" Target="slides/slide50.xml"/><Relationship Id="rId75" Type="http://schemas.openxmlformats.org/officeDocument/2006/relationships/slide" Target="slides/slide51.xml"/><Relationship Id="rId76" Type="http://schemas.openxmlformats.org/officeDocument/2006/relationships/slide" Target="slides/slide52.xml"/><Relationship Id="rId77" Type="http://schemas.openxmlformats.org/officeDocument/2006/relationships/slide" Target="slides/slide28.xml"/><Relationship Id="rId78" Type="http://schemas.openxmlformats.org/officeDocument/2006/relationships/slide" Target="slides/slide53.xml"/><Relationship Id="rId79" Type="http://schemas.openxmlformats.org/officeDocument/2006/relationships/slide" Target="slides/slide29.xml"/><Relationship Id="rId80" Type="http://schemas.openxmlformats.org/officeDocument/2006/relationships/slide" Target="slides/slide30.xml"/><Relationship Id="rId81" Type="http://schemas.openxmlformats.org/officeDocument/2006/relationships/slide" Target="slides/slide31.xml"/><Relationship Id="rId82" Type="http://schemas.openxmlformats.org/officeDocument/2006/relationships/slide" Target="slides/slide32.xml"/><Relationship Id="rId83" Type="http://schemas.openxmlformats.org/officeDocument/2006/relationships/slide" Target="slides/slide33.xml"/><Relationship Id="rId84" Type="http://schemas.openxmlformats.org/officeDocument/2006/relationships/slide" Target="slides/slide34.xml"/><Relationship Id="rId85" Type="http://schemas.openxmlformats.org/officeDocument/2006/relationships/slide" Target="slides/slide35.xml"/><Relationship Id="rId86" Type="http://schemas.openxmlformats.org/officeDocument/2006/relationships/slide" Target="slides/slide10.xml"/><Relationship Id="rId87" Type="http://schemas.openxmlformats.org/officeDocument/2006/relationships/slide" Target="slides/slide14.xml"/><Relationship Id="rId88" Type="http://schemas.openxmlformats.org/officeDocument/2006/relationships/slide" Target="slides/slide46.xml"/><Relationship Id="rId89" Type="http://schemas.openxmlformats.org/officeDocument/2006/relationships/slide" Target="slides/slide25.xml"/><Relationship Id="rId90" Type="http://schemas.openxmlformats.org/officeDocument/2006/relationships/slide" Target="slides/slide23.xml"/><Relationship Id="rId91" Type="http://schemas.openxmlformats.org/officeDocument/2006/relationships/slide" Target="slides/slide8.xml"/><Relationship Id="rId92" Type="http://schemas.openxmlformats.org/officeDocument/2006/relationships/slide" Target="slides/slide17.xml"/><Relationship Id="rId93" Type="http://schemas.openxmlformats.org/officeDocument/2006/relationships/slide" Target="slides/slide19.xml"/><Relationship Id="rId94" Type="http://schemas.openxmlformats.org/officeDocument/2006/relationships/slide" Target="slides/slide21.xml"/><Relationship Id="rId95" Type="http://schemas.openxmlformats.org/officeDocument/2006/relationships/slide" Target="slides/slide22.xml"/><Relationship Id="rId96" Type="http://schemas.openxmlformats.org/officeDocument/2006/relationships/slide" Target="slides/slide36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Реальный день</c:v>
                </c:pt>
              </c:strCache>
            </c:strRef>
          </c:tx>
          <c:spPr>
            <a:solidFill>
              <a:srgbClr val="A1A1A1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Базовый вариант ТЗ</c:v>
                </c:pt>
              </c:strCache>
            </c:strRef>
          </c:tx>
          <c:spPr>
            <a:solidFill>
              <a:srgbClr val="141414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Наш план</c:v>
                </c:pt>
              </c:strCache>
            </c:strRef>
          </c:tx>
          <c:spPr>
            <a:solidFill>
              <a:srgbClr val="FFC800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4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Бригад в среднем</c:v>
                </c:pt>
              </c:strCache>
            </c:strRef>
          </c:tx>
          <c:spPr>
            <a:solidFill>
              <a:srgbClr val="A1A1A1"/>
            </a:solidFill>
          </c:spPr>
          <c:dPt>
            <c:idx val="4"/>
            <c:spPr>
              <a:solidFill>
                <a:srgbClr val="FFC800"/>
              </a:solidFill>
            </c:spPr>
          </c:dPt>
          <c:dPt>
            <c:idx val="0"/>
            <c:spPr>
              <a:solidFill>
                <a:srgbClr val="141414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600" b="1"/>
                      <a:t>11,55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600" b="1"/>
                      <a:t>8,78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600" b="1"/>
                      <a:t>8,83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600" b="1"/>
                      <a:t>8,64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2600" b="1"/>
                      <a:t>8,17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26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Базовый ТЗ</c:v>
                </c:pt>
                <c:pt idx="1">
                  <c:v>OR-Tools</c:v>
                </c:pt>
                <c:pt idx="2">
                  <c:v>VROOM</c:v>
                </c:pt>
                <c:pt idx="3">
                  <c:v>PyVRP</c:v>
                </c:pt>
                <c:pt idx="4">
                  <c:v>Наш оптимизатор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11.55</c:v>
                </c:pt>
                <c:pt idx="1">
                  <c:v>8.78</c:v>
                </c:pt>
                <c:pt idx="2">
                  <c:v>8.83</c:v>
                </c:pt>
                <c:pt idx="3">
                  <c:v>8.64</c:v>
                </c:pt>
                <c:pt idx="4">
                  <c:v>8.17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800" b="1"/>
              <a:t>План за 3 с на доказанном минимуме бригад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 за 3 с на доказанном минимуме бригад</c:v>
                </c:pt>
              </c:strCache>
            </c:strRef>
          </c:tx>
          <c:spPr>
            <a:solidFill>
              <a:srgbClr val="FFC800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26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Контрольный день</c:v>
                </c:pt>
                <c:pt idx="1">
                  <c:v>Реальные дни</c:v>
                </c:pt>
                <c:pt idx="2">
                  <c:v>Новые участки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100</c:v>
                </c:pt>
                <c:pt idx="2">
                  <c:v>99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 отзыва</c:v>
                </c:pt>
              </c:strCache>
            </c:strRef>
          </c:tx>
          <c:spPr>
            <a:ln w="69850">
              <a:solidFill>
                <a:srgbClr val="FFC800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0.707</c:v>
                </c:pt>
                <c:pt idx="2">
                  <c:v>0.5</c:v>
                </c:pt>
                <c:pt idx="3">
                  <c:v>0.354</c:v>
                </c:pt>
                <c:pt idx="4">
                  <c:v>0.25</c:v>
                </c:pt>
                <c:pt idx="5">
                  <c:v>0.177</c:v>
                </c:pt>
                <c:pt idx="6">
                  <c:v>0.125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solidFill>
              <a:srgbClr val="F1F1F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 пятёрки</c:v>
                </c:pt>
              </c:strCache>
            </c:strRef>
          </c:tx>
          <c:spPr>
            <a:ln w="69850">
              <a:solidFill>
                <a:srgbClr val="141414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15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4.27</c:v>
                </c:pt>
                <c:pt idx="1">
                  <c:v>4.33</c:v>
                </c:pt>
                <c:pt idx="2">
                  <c:v>4.43</c:v>
                </c:pt>
                <c:pt idx="3">
                  <c:v>4.56</c:v>
                </c:pt>
                <c:pt idx="4">
                  <c:v>4.68</c:v>
                </c:pt>
                <c:pt idx="5">
                  <c:v>4.8</c:v>
                </c:pt>
                <c:pt idx="6">
                  <c:v>4.89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все четвёрки</c:v>
                </c:pt>
              </c:strCache>
            </c:strRef>
          </c:tx>
          <c:spPr>
            <a:ln w="69850">
              <a:solidFill>
                <a:srgbClr val="A1A1A1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15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4.18</c:v>
                </c:pt>
                <c:pt idx="1">
                  <c:v>4.17</c:v>
                </c:pt>
                <c:pt idx="2">
                  <c:v>4.14</c:v>
                </c:pt>
                <c:pt idx="3">
                  <c:v>4.11</c:v>
                </c:pt>
                <c:pt idx="4">
                  <c:v>4.08</c:v>
                </c:pt>
                <c:pt idx="5">
                  <c:v>4.05</c:v>
                </c:pt>
                <c:pt idx="6">
                  <c:v>4.03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3.9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solidFill>
              <a:srgbClr val="F1F1F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2100"/>
          </a:pPr>
        </a:p>
      </c:txPr>
    </c:legend>
    <c:plotVisOnly val="1"/>
    <c:dispBlanksAs val="gap"/>
    <c:showDLblsOverMax val="0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rgbClr val="F1F1F1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</c:v>
                </c:pt>
                <c:pt idx="1">
                  <c:v>1.2</c:v>
                </c:pt>
                <c:pt idx="2">
                  <c:v>1.3</c:v>
                </c:pt>
                <c:pt idx="3">
                  <c:v>1.15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выучено</c:v>
                </c:pt>
              </c:strCache>
            </c:strRef>
          </c:tx>
          <c:spPr>
            <a:solidFill>
              <a:srgbClr val="FFC800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1.26</c:v>
                </c:pt>
                <c:pt idx="1">
                  <c:v>1.41</c:v>
                </c:pt>
                <c:pt idx="2">
                  <c:v>1.13</c:v>
                </c:pt>
                <c:pt idx="3">
                  <c:v>1.22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истина</c:v>
                </c:pt>
              </c:strCache>
            </c:strRef>
          </c:tx>
          <c:spPr>
            <a:solidFill>
              <a:srgbClr val="141414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1.25</c:v>
                </c:pt>
                <c:pt idx="1">
                  <c:v>1.45</c:v>
                </c:pt>
                <c:pt idx="2">
                  <c:v>1.15</c:v>
                </c:pt>
                <c:pt idx="3">
                  <c:v>1.25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8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2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из офиса</c:v>
                </c:pt>
              </c:strCache>
            </c:strRef>
          </c:tx>
          <c:spPr>
            <a:solidFill>
              <a:srgbClr val="A1A1A1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</c:v>
                </c:pt>
                <c:pt idx="1">
                  <c:v>Югоцентр</c:v>
                </c:pt>
                <c:pt idx="2">
                  <c:v>Юго-
восток</c:v>
                </c:pt>
                <c:pt idx="3">
                  <c:v>Север</c:v>
                </c:pt>
                <c:pt idx="4">
                  <c:v>Запад</c:v>
                </c:pt>
                <c:pt idx="5">
                  <c:v>Северо-
восток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25</c:v>
                </c:pt>
                <c:pt idx="2">
                  <c:v>50</c:v>
                </c:pt>
                <c:pt idx="3">
                  <c:v>23</c:v>
                </c:pt>
                <c:pt idx="4">
                  <c:v>27</c:v>
                </c:pt>
                <c:pt idx="5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из дома</c:v>
                </c:pt>
              </c:strCache>
            </c:strRef>
          </c:tx>
          <c:spPr>
            <a:solidFill>
              <a:srgbClr val="FFC800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</c:v>
                </c:pt>
                <c:pt idx="1">
                  <c:v>Югоцентр</c:v>
                </c:pt>
                <c:pt idx="2">
                  <c:v>Юго-
восток</c:v>
                </c:pt>
                <c:pt idx="3">
                  <c:v>Север</c:v>
                </c:pt>
                <c:pt idx="4">
                  <c:v>Запад</c:v>
                </c:pt>
                <c:pt idx="5">
                  <c:v>Северо-
восток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17</c:v>
                </c:pt>
                <c:pt idx="2">
                  <c:v>24</c:v>
                </c:pt>
                <c:pt idx="3">
                  <c:v>18</c:v>
                </c:pt>
                <c:pt idx="4">
                  <c:v>17</c:v>
                </c:pt>
                <c:pt idx="5">
                  <c:v>16</c:v>
                </c:pt>
              </c:numCache>
            </c:numRef>
          </c:val>
        </c:ser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4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lvl1pPr>
          </a:lstStyle>
          <a:p>
            <a:r>
              <a:t>Темы повестки дня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Авторство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«Важная цитата»</a:t>
            </a:r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5" name="Тарелка с рублеными котлетами из лосося, салатом и хумусом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346" y="712670"/>
            <a:ext cx="575067" cy="574669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 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3877" y="672502"/>
            <a:ext cx="21031202" cy="1387311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2542" cy="2542"/>
          </a:xfrm>
          <a:prstGeom prst="rect">
            <a:avLst/>
          </a:prstGeom>
        </p:spPr>
        <p:txBody>
          <a:bodyPr lIns="91437" tIns="91437" rIns="91437" bIns="91437" numCol="1" spcCol="38100"/>
          <a:lstStyle>
            <a:lvl1pPr marL="457187" indent="-457187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1pPr>
            <a:lvl2pPr marL="990575" indent="-533384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2pPr>
            <a:lvl3pPr marL="1554440" indent="-640063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3pPr>
            <a:lvl4pPr marL="2082747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4pPr>
            <a:lvl5pPr marL="2539936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661006" cy="678176"/>
          </a:xfrm>
          <a:prstGeom prst="rect">
            <a:avLst/>
          </a:prstGeom>
        </p:spPr>
        <p:txBody>
          <a:bodyPr lIns="91437" tIns="91437" rIns="91437" bIns="91437" anchor="t"/>
          <a:lstStyle>
            <a:lvl1pPr algn="l" defTabSz="1828754">
              <a:defRPr sz="36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лайд без лиг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152001" y="648130"/>
            <a:ext cx="19972510" cy="960010"/>
          </a:xfrm>
          <a:prstGeom prst="rect">
            <a:avLst/>
          </a:prstGeom>
        </p:spPr>
        <p:txBody>
          <a:bodyPr lIns="91437" tIns="91437" rIns="91437" bIns="91437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Заголовок слайда</a:t>
            </a:r>
          </a:p>
        </p:txBody>
      </p:sp>
      <p:pic>
        <p:nvPicPr>
          <p:cNvPr id="186" name="Рисунок 4" descr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750" y="807259"/>
            <a:ext cx="641745" cy="641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754">
              <a:defRPr sz="24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задача</a:t>
            </a:r>
            <a:br>
              <a:rPr lang="ru-RU" dirty="0"/>
            </a:br>
            <a:r>
              <a:rPr lang="ru-RU" dirty="0"/>
              <a:t>и данные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Постановка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62102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Дано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754880"/>
            <a:ext cx="6309360" cy="73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шесть участков: три от организаторов (Восток, Юго-восток, Югоцентр) и три наших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414 заявок на один день: аварии, подключения, ремонт, дозаказ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70 бригад; бригада — один инженер со своими навыками, транспортом, домом и графиком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у заявки есть окно начала работ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200400"/>
            <a:ext cx="731520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62102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754880"/>
            <a:ext cx="6309360" cy="73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у бригады есть навык заявки, на узел связи — только на машине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работа начинается внутри окна, приехать раньше можно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смена по графику 2/2 или 5/2, обед 45 минут между 13 и 16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время работы зависит от дома (этаж, лифт, год постройки) и темпа бригады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оборудование берут утром, пешком много не унести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бригада выезжает утром из дома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200400"/>
            <a:ext cx="7498079" cy="9144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621024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Порядок целей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700016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0" y="480974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Выполнить все заявки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0" y="550468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если все не помещаются, первыми назначаем аварии, затем подключения, затем ремонт и дозаказ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51808" y="71323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0" y="724204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Меньше бригад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0" y="7936992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каждая бригада на день — это рабочая смена инженера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51808" y="9564624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0" y="9674352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Меньше километров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0" y="10369296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при том же числе бригад; к аварии приезжаем как можно раньше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Расстояния и время в пути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291840"/>
            <a:ext cx="5394960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Адреса и дома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координаты адреса и данные дома: подъезды, этажность, лифт, год постройки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3291840"/>
            <a:ext cx="5394960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73952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Дороги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свой сервер OSRM на карте Москвы и области: машина, пешком, велосипед. К каждой поездке +5 минут на машине на парковку и поиск подъезда, 3 минуты для остальных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54496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289536" y="3291840"/>
            <a:ext cx="5394960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289536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89536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Пробки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9536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время на машине меняется по часу дня и дню недели (профиль TomTom) и по месту: сетка HERE с ячейкой около 330 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070080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105120" y="3291840"/>
            <a:ext cx="5394960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105120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0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Общественный транспорт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0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маршруты по расписаниям: метро, МЦК, МЦД, электрички, автобусы и трамваи, пешком до остановки по дорогам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85664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10881360"/>
            <a:ext cx="23042880" cy="146304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15568" y="11100816"/>
            <a:ext cx="221284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0" i="0">
                <a:solidFill>
                  <a:srgbClr val="141414"/>
                </a:solidFill>
                <a:latin typeface="Beeline Sans"/>
              </a:rPr>
              <a:t>Для каждого вида транспорта строим матрицы времени и расстояния между всеми точками участка. Их получает оптимизатор.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Архитектура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0704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заявки и бригады участка (xlsx или CSV)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отзывы клиентов и фактические выезды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нормативы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74336" y="5943600"/>
            <a:ext cx="347471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58383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760720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Подготовка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координаты адресов и данные домов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матрицы времени: дороги, пробки, расписания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длительность каждой работы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74351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60736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Оптимизатор C++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параллельные потоки, 3 секунды на обычный участок</a:t>
            </a:r>
          </a:p>
          <a:p>
            <a:pPr algn="l" marL="438912" indent="-438912">
              <a:spcBef>
                <a:spcPts val="10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выполняет все заявки минимальным числом бригад с минимальным пробегом</a:t>
            </a:r>
          </a:p>
          <a:p>
            <a:pPr algn="l" marL="438912" indent="-438912">
              <a:spcBef>
                <a:spcPts val="10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нижняя граница — отдельно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374367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758415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160751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Валидация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60751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независимая проверка check_plan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все ограничения: окна, смены, обед, оборудование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время и км считает заново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074383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458431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9860768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Интерфейс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60768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экран диспетчера: карта, шкала, причины назначений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экран инженера на телефоне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сервер пересчёта событий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9326880"/>
            <a:ext cx="2304288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9326880"/>
            <a:ext cx="603504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События в течение дня</a:t>
            </a:r>
          </a:p>
          <a:p>
            <a:pPr algn="l">
              <a:spcBef>
                <a:spcPts val="12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авария, новая заявка, отмена, задержка, перенос окна, поломка, инженер выбыл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10826496"/>
            <a:ext cx="1280160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0" y="9326880"/>
            <a:ext cx="1408176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0" i="0">
                <a:solidFill>
                  <a:srgbClr val="141414"/>
                </a:solidFill>
                <a:latin typeface="Beeline Sans"/>
              </a:rPr>
              <a:t>При событии оптимизатор запускается заново от текущего состояния. Выполненные и начатые заявки закреплены, остальное пересчитывается по правилам перепланирования. Изменения видны на карте и в таблице.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C13C3-1F94-10AF-8FD7-D4DCE99B2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>
            <a:extLst>
              <a:ext uri="{FF2B5EF4-FFF2-40B4-BE49-F238E27FC236}">
                <a16:creationId xmlns:a16="http://schemas.microsoft.com/office/drawing/2014/main" id="{2D0F6E16-E2E7-C956-A9B6-63D7BCB0538D}"/>
              </a:ext>
            </a:extLst>
          </p:cNvPr>
          <p:cNvSpPr txBox="1"/>
          <p:nvPr/>
        </p:nvSpPr>
        <p:spPr>
          <a:xfrm>
            <a:off x="616227" y="-889000"/>
            <a:ext cx="14698858" cy="982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206" name="медиа-давление и бюджет">
            <a:extLst>
              <a:ext uri="{FF2B5EF4-FFF2-40B4-BE49-F238E27FC236}">
                <a16:creationId xmlns:a16="http://schemas.microsoft.com/office/drawing/2014/main" id="{D17FC182-CFD1-F8DC-459F-9C689C3755FB}"/>
              </a:ext>
            </a:extLst>
          </p:cNvPr>
          <p:cNvSpPr txBox="1"/>
          <p:nvPr/>
        </p:nvSpPr>
        <p:spPr>
          <a:xfrm>
            <a:off x="13405764" y="5525710"/>
            <a:ext cx="10978236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алгоритм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Алгоритм по шагам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Начальный 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сначала ставим заявки с наибольшей упущенной выгодой: второй вариант вставки у них намного хуже лучшего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7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60719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19" y="5394960"/>
            <a:ext cx="3511297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60719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Меньше бригад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имитация отжига и ALNS: убираем маршрут и распределяем его заявки по остальным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42416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6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2416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Меньше пробега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SISR: вырезаем цепочки заявок и вставляем туда, где дешевле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4868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08760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08760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Нижняя граница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генерация столбцов показывает, меньше какого числа бригад и км сделать нельзя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312127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751039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FFC800"/>
                </a:solidFill>
                <a:latin typeface="Beeline Sans Black"/>
              </a:rPr>
              <a:t>05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751039" y="5394960"/>
            <a:ext cx="3511296" cy="0"/>
          </a:xfrm>
          <a:prstGeom prst="line">
            <a:avLst/>
          </a:prstGeom>
          <a:ln w="19050">
            <a:solidFill>
              <a:srgbClr val="FFC8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751039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eeline Sans"/>
              </a:rPr>
              <a:t>Проверка плана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39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Beeline Sans"/>
              </a:rPr>
              <a:t>отдельный модуль check_plan заново считает время и км и проверяет все ограничения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0241280"/>
            <a:ext cx="23042880" cy="2103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15568" y="10460736"/>
            <a:ext cx="22128480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Шаги 1–3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выполняют параллельные потоки, они обмениваются лучшим решением; на обычный участок уходит 3 секунды. Шаг 4 для работы не нужен: его считаем отдельно, чтобы знать, насколько план близок к лучшему возможному. Шаг 5 проходит каждый план, в том числе после событий дня.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Шаг 1. Начальный план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170432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reg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94" y="3474720"/>
            <a:ext cx="10474266" cy="8595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84480" y="3291840"/>
            <a:ext cx="10698480" cy="6035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41414"/>
                </a:solidFill>
                <a:latin typeface="Beeline Sans"/>
              </a:rPr>
              <a:t>Для каждой заявки ищем лучшее место в каждом маршруте и считаем, сколько километров добавит вставка. Если бригада не успевает в окно, вариант не подходит.</a:t>
            </a:r>
          </a:p>
          <a:p>
            <a:pPr algn="l">
              <a:spcBef>
                <a:spcPts val="2800"/>
              </a:spcBef>
            </a:pPr>
            <a:r>
              <a:rPr sz="2800" b="1" i="0">
                <a:solidFill>
                  <a:srgbClr val="141414"/>
                </a:solidFill>
                <a:latin typeface="Beeline Sans"/>
              </a:rPr>
              <a:t>Упущенная выгода</a:t>
            </a:r>
            <a:r>
              <a:rPr sz="2800" b="0" i="0">
                <a:solidFill>
                  <a:srgbClr val="141414"/>
                </a:solidFill>
                <a:latin typeface="Beeline Sans"/>
              </a:rPr>
              <a:t> — насколько второй по стоимости вариант хуже лучшего. Если она большая, удобное место у заявки одно, и другая заявка легко его займёт.</a:t>
            </a:r>
          </a:p>
          <a:p>
            <a:pPr algn="l">
              <a:spcBef>
                <a:spcPts val="2800"/>
              </a:spcBef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Первой ставим заявку с наибольшей упущенной выгодой, пересчитываем и повторяем. Аварии и заявки с редким навыком обычно попадают в начало.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0" y="9692640"/>
            <a:ext cx="10698480" cy="265176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441680" y="9912096"/>
            <a:ext cx="9784080" cy="2212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Базовый вариант из ТЗ идёт по заявкам в порядке файла и отдаёт каждую первому подходящему инженеру. На Востоке он использует 12 бригад и не выполняет 28 заявок из 66.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Шаги 2–3. Меньше бригад, меньше пробега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fle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96335"/>
            <a:ext cx="3200399" cy="3294529"/>
          </a:xfrm>
          <a:prstGeom prst="rect">
            <a:avLst/>
          </a:prstGeom>
        </p:spPr>
      </p:pic>
      <p:pic>
        <p:nvPicPr>
          <p:cNvPr id="9" name="Picture 8" descr="algo_flee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4296335"/>
            <a:ext cx="3200399" cy="3294529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059936" y="5943600"/>
            <a:ext cx="512064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Меньше бригад: отжиг и ALNS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Убираем маршрут целиком, его заявки уходят в пул. Отжиг перетасовывает их мелкими ходами, ALNS выбрасывает часть плана и собирает заново; штраф за заявки, которые долго остаются без места, растёт. Когда пул пуст, бригад стало на одну меньше.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lgo_sisr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4296335"/>
            <a:ext cx="3200399" cy="3294529"/>
          </a:xfrm>
          <a:prstGeom prst="rect">
            <a:avLst/>
          </a:prstGeom>
        </p:spPr>
      </p:pic>
      <p:pic>
        <p:nvPicPr>
          <p:cNvPr id="15" name="Picture 14" descr="algo_sisr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88" y="4296335"/>
            <a:ext cx="3200399" cy="3294529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11832336" y="5943600"/>
            <a:ext cx="512064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30768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Меньше пробега: SISR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Когда число бригад уже минимально, вырезаем цепочки соседних заявок из нескольких маршрутов и вставляем туда, где дешевле. Новый план принимаем по правилу отжига, иногда даже чуть худший: так поиск выходит из локальных минимумов.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203167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lgo_sw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2623" y="3947258"/>
            <a:ext cx="6876288" cy="39926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203167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3167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До выбранного часа две бригады меняются заявками, после — оставляют свои; не поместившиеся заявки вставляются заново. За один ход перестраиваются утренние участки двух бригад. Так поиск выбирается из плохих минимумов на Юго-востоке, где бригады живут в Кашире, Ступино и Домодедово.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Параллельный поиск: 8 потоков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858000" y="4114800"/>
            <a:ext cx="0" cy="374904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858000" y="5212868"/>
            <a:ext cx="3362207" cy="2650972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7863840"/>
            <a:ext cx="4754880" cy="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7863840"/>
            <a:ext cx="3362207" cy="2650971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7863840"/>
            <a:ext cx="0" cy="374904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495792" y="7863840"/>
            <a:ext cx="3362208" cy="2650971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103120" y="7863840"/>
            <a:ext cx="4754880" cy="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495792" y="5212868"/>
            <a:ext cx="3362208" cy="2650972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6858000"/>
            <a:ext cx="4754880" cy="2011680"/>
          </a:xfrm>
          <a:prstGeom prst="roundRect">
            <a:avLst>
              <a:gd name="adj" fmla="val 2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3440" y="69494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41414"/>
                </a:solidFill>
                <a:latin typeface="Beeline Sans"/>
              </a:rPr>
              <a:t>общее хранилище</a:t>
            </a:r>
          </a:p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141414"/>
                </a:solidFill>
                <a:latin typeface="Beeline Sans"/>
              </a:rPr>
              <a:t>лучшего плана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51129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86984" y="351129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отжиг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2887" y="4609364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49191" y="4609364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ALNS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59" y="726033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341863" y="726033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SISR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2887" y="9911307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49191" y="9911307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отжиг со сменой бригад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1100937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586984" y="1100937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78472" y="9911307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224776" y="9911307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отжиг со сменой бригад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799" y="726033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2103" y="726033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отжиг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78472" y="4609364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24776" y="4609364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SISR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31089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Отжиг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0" y="36576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убирает маршрут и перетасовывает заявки мелкими ходами, пока все не встанут в план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0" y="457200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ALNS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0" y="512064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выбрасывает часть плана и собирает заново; заявки, которые часто остаются без места, дорожают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0" y="603504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SISR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0" y="6583679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сокращает пробег, переставляя цепочки заявок между маршрутами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0" y="74980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Отжиг со сменой бригад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0" y="80467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переносит конец маршрута на свободную бригаду и убирает маленький маршрут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0" y="896112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0" y="950976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две бригады меняются заявками до выбранного часа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0" y="104241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Копия задачи, 3 потока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0" y="109728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ищут план, где выезд бригады из своего района дороже, и отдают его основным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0" y="1197864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A1A1A1"/>
                </a:solidFill>
                <a:latin typeface="Beeline Sans"/>
              </a:rPr>
              <a:t>Так при старте бригад из дома (все демо-участки). При выезде всех из офиса: 2 отжига, 2 ALNS, SISR, смена бригад, обмен начал и подсказка по районам. Если ядер меньше 8, работает часть ролей.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024128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21" y="3383280"/>
            <a:ext cx="8796996" cy="6126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98755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модель первого этапа, 88 задач (в текущей модели минимум доказан в 70 из 88):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задач: план выходит на доказанный минимум бригад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07407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задач: лучший найденный план оптимален целиком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82128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+0,06%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пробег лучшего плана к нижней границе в среднем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325526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0" y="32918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Задача покрытия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0" y="402336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Каждый допустимый маршрут одной бригады — столбец таблицы: какие заявки он покрывает и сколько стоит. Выбираем столбцы так, чтобы каждая заявка вошла ровно в один.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1813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0" y="6217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Линейная релаксация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0" y="694944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Разрешаем брать маршрут частично, например на 0,5. Такой план не выполнить, полбригады не бывает. Но настоящий план не может быть дешевле, поэтому его стоимость и есть граница.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910742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0" y="91440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Что она даёт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0" y="987552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Если найденный план совпал с границей, лучшего плана в этих ограничениях не существует. Если не совпал, граница показывает, сколько максимум можно выиграть.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продукт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Экран диспетчера «Пульс»</a:t>
            </a:r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017520"/>
            <a:ext cx="15654527" cy="978408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Oval 7"/>
          <p:cNvSpPr/>
          <p:nvPr/>
        </p:nvSpPr>
        <p:spPr>
          <a:xfrm>
            <a:off x="7342997" y="292699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81186" y="4492447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081186" y="7036307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195900" y="586221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17830800" y="3145536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0" y="3182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Сценарий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0" y="3877056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что показываем: план участка, событие дня или разбор одного требования; стрелки — соседний</a:t>
            </a:r>
          </a:p>
        </p:txBody>
      </p:sp>
      <p:sp>
        <p:nvSpPr>
          <p:cNvPr id="15" name="Oval 14"/>
          <p:cNvSpPr/>
          <p:nvPr/>
        </p:nvSpPr>
        <p:spPr>
          <a:xfrm>
            <a:off x="17830800" y="5577840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0" y="561441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Главные цифры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0" y="6309359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бригады, пробег, заявки рядом с базовым вариантом и минимумом; «план по нормативу» — сколько опозданий было бы, если не учитывать сложность работ</a:t>
            </a:r>
          </a:p>
        </p:txBody>
      </p:sp>
      <p:sp>
        <p:nvSpPr>
          <p:cNvPr id="18" name="Oval 17"/>
          <p:cNvSpPr/>
          <p:nvPr/>
        </p:nvSpPr>
        <p:spPr>
          <a:xfrm>
            <a:off x="17830800" y="801014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0" y="80467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Карта и шкала дня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0" y="8741664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маршруты по улицам от домов бригад; «Пуск» проигрывает день</a:t>
            </a:r>
          </a:p>
        </p:txBody>
      </p:sp>
      <p:sp>
        <p:nvSpPr>
          <p:cNvPr id="21" name="Oval 20"/>
          <p:cNvSpPr/>
          <p:nvPr/>
        </p:nvSpPr>
        <p:spPr>
          <a:xfrm>
            <a:off x="17830800" y="1044244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0" y="104790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Панель сценария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0" y="11173968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то, о чём сценарий: изменения, кривая, свободные окна; клик по заявке — её карточка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Карточка заявки: почему эта бригада</a:t>
            </a:r>
          </a:p>
        </p:txBody>
      </p:sp>
      <p:pic>
        <p:nvPicPr>
          <p:cNvPr id="7" name="Picture 6" descr="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60114"/>
            <a:ext cx="16642080" cy="889889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Oval 7"/>
          <p:cNvSpPr/>
          <p:nvPr/>
        </p:nvSpPr>
        <p:spPr>
          <a:xfrm>
            <a:off x="12423038" y="5834721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2423038" y="7525511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2423038" y="930528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423038" y="10907089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17830800" y="3145536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0" y="3182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Работа 82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0" y="3877056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норматив 70 минут с поправками: подтип работы, этаж без лифта, год постройки дома</a:t>
            </a:r>
          </a:p>
        </p:txBody>
      </p:sp>
      <p:sp>
        <p:nvSpPr>
          <p:cNvPr id="15" name="Oval 14"/>
          <p:cNvSpPr/>
          <p:nvPr/>
        </p:nvSpPr>
        <p:spPr>
          <a:xfrm>
            <a:off x="17830800" y="5577840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0" y="561441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Подъезд и этаж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0" y="6309359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точка на карте — у подъезда квартиры, номер подъезда только в карточке</a:t>
            </a:r>
          </a:p>
        </p:txBody>
      </p:sp>
      <p:sp>
        <p:nvSpPr>
          <p:cNvPr id="18" name="Oval 17"/>
          <p:cNvSpPr/>
          <p:nvPr/>
        </p:nvSpPr>
        <p:spPr>
          <a:xfrm>
            <a:off x="17830800" y="801014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0" y="80467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Назначение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0" y="8741664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когда бригада приедет и начнёт, сколько км добавляет</a:t>
            </a:r>
          </a:p>
        </p:txBody>
      </p:sp>
      <p:sp>
        <p:nvSpPr>
          <p:cNvPr id="21" name="Oval 20"/>
          <p:cNvSpPr/>
          <p:nvPr/>
        </p:nvSpPr>
        <p:spPr>
          <a:xfrm>
            <a:off x="17830800" y="1044244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0" y="104790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Почему не другие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0" y="11173968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нет навыка, не успевают к окну, лишняя бригада, больше км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Изменения в течение дня</a:t>
            </a:r>
          </a:p>
        </p:txBody>
      </p:sp>
      <p:pic>
        <p:nvPicPr>
          <p:cNvPr id="7" name="Picture 6" descr="ev_ur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08960"/>
            <a:ext cx="5538321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53889" y="3200400"/>
            <a:ext cx="51601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Новая 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3889" y="3931920"/>
            <a:ext cx="516015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её берёт бригада, у которой есть свободный промежуток; остальные заявки остаются у своих бригад</a:t>
            </a:r>
          </a:p>
        </p:txBody>
      </p:sp>
      <p:pic>
        <p:nvPicPr>
          <p:cNvPr id="10" name="Picture 9" descr="ev_fin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88" y="3108960"/>
            <a:ext cx="5931243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8751131" y="3200400"/>
            <a:ext cx="47672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Закончили позже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51131" y="3931920"/>
            <a:ext cx="476723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бригада задержалась на адресе; следующих клиентов, к которым она не успевает, берут другие бригады</a:t>
            </a:r>
          </a:p>
        </p:txBody>
      </p:sp>
      <p:pic>
        <p:nvPicPr>
          <p:cNvPr id="13" name="Picture 12" descr="ev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7863840"/>
            <a:ext cx="4324256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39824" y="7955279"/>
            <a:ext cx="6374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Сломалась машина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9824" y="8686800"/>
            <a:ext cx="637422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бригада продолжает день на общественном транспорте; заявки, к которым она теперь не успевает, берут другие</a:t>
            </a:r>
          </a:p>
        </p:txBody>
      </p:sp>
      <p:pic>
        <p:nvPicPr>
          <p:cNvPr id="16" name="Picture 15" descr="ev_unavail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88" y="7863840"/>
            <a:ext cx="3257231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6077119" y="7955279"/>
            <a:ext cx="74412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Инженер выбыл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77119" y="8686800"/>
            <a:ext cx="744124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начатую заявку он доделывает, остальные его заявки распределяются между бригадами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04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второй этап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Что сделали по замечаниям жюри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338560" cy="9144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98448" y="3474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Beeline Sans"/>
              </a:rPr>
              <a:t>Требования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4572000"/>
            <a:ext cx="1005840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рейтинг монтажников и режим «лучшие на день»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длительность работы от сложности объекта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старт из дома и перепланирование, когда авария застала бригаду в пути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62688" y="3108960"/>
            <a:ext cx="1133856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002768" y="3474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Beeline Sans"/>
              </a:rPr>
              <a:t>Сверх требований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02768" y="4572000"/>
            <a:ext cx="1005840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обед и оборудование, смены 2/2 и 5/2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общественный транспорт по расписаниям, пробки по часам и районам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длительность работ и темп бригад уточняются по историческим данным о выездах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сколько бригад нужно: кривая, цена правил, покрытие аварий, свободные окна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экран инженера, события 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Рейтинг: байесовское среднее с затуханием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521440" cy="9235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34747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Рейтинг по виду работ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38912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Beeline Sans Black"/>
              </a:rPr>
              <a:t>R = (10·μ + Σ wᵢ·rᵢ) / (10 + Σ wᵢ)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57607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Beeline Sans"/>
              </a:rPr>
              <a:t>wᵢ = 0,5 ^ (возраст отзыва / 60 дней)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7040880"/>
            <a:ext cx="1060704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μ — средняя оценка по участку с весом 10 отзывов. Поэтому новичок с одной пятёркой не обгоняет опытного, а одна случайная двойка почти не снижает рейтинг хорошего монтажника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вес отзыва падает вдвое за 60 дней, поэтому свежие оценки весят больше старых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считаем только «качество работы» и только того, кто выполнил заявку; опоздание по вине плана в его пунктуальность не идёт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отдельно ремонт, подключение и аварии; меньше 8 отзывов — «мало данных»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2710160" y="3017520"/>
          <a:ext cx="10972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893040" y="74980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вес отзыва по возрасту, дней: через 60 — половина, через 120 — четверть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710160" y="8138160"/>
          <a:ext cx="10972800" cy="37490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893040" y="1188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рейтинг по числу отзывов при среднем по участку 4,2: одна пятёрка — 4,27, тридцать — 4,80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Рейтинг монтажников и лучшие на день</a:t>
            </a:r>
          </a:p>
        </p:txBody>
      </p:sp>
      <p:pic>
        <p:nvPicPr>
          <p:cNvPr id="7" name="Picture 6" descr="rating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5" y="3017520"/>
            <a:ext cx="12728447" cy="795527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92256"/>
            <a:ext cx="1279084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Рейтинг по отзывам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95760"/>
            <a:ext cx="1279084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рейтинг каждого монтажника по видам работ из отзывов клиентов. Если отзывов мало, рейтинг ближе к среднему по парку; старые отзывы весят меньше. В демо отзывы синтетические</a:t>
            </a:r>
          </a:p>
        </p:txBody>
      </p:sp>
      <p:pic>
        <p:nvPicPr>
          <p:cNvPr id="10" name="Picture 9" descr="b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9949" y="3017520"/>
            <a:ext cx="8839200" cy="795527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3997850" y="11192256"/>
            <a:ext cx="970339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Лучшие на день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7850" y="11795760"/>
            <a:ext cx="970339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берём лучших по рейтингу столько, чтобы хватило на все заявки. Кривая: пробег и средний рейтинг на заявке, если брать больше или меньше лучших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Дом по адресу: этаж, лифт, подъезд, пропуск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Откуда берём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40480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3986784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Кадастровая оценка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08576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этаж и подъезд каждой квартиры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88736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603504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Реформа ЖКХ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6656832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этажность, лифты, год постройки, материал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7936992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8083296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8705088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подъезды с координатами и номерами квартир, офисы, шлагбаумы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6492240"/>
            <a:ext cx="731521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301752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Что знаем о заявке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840480"/>
            <a:ext cx="6583680" cy="5888736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90304" y="4114800"/>
            <a:ext cx="58521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подъезд и этаж квартиры — точка на карте у нужного подъезда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есть ли лифт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год постройки: старый дом или новый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пропуск в офисное здание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шлагбаум или закрытый двор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636240" y="6492240"/>
            <a:ext cx="731519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550640" y="3017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Как меняется длительность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6550640" y="3840480"/>
          <a:ext cx="7132320" cy="5888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3474720"/>
              </a:tblGrid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FFFFFF"/>
                          </a:solidFill>
                          <a:latin typeface="Beeline Sans"/>
                        </a:rPr>
                        <a:t>Поправка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Beeline Sans"/>
                        </a:rPr>
                        <a:t>Сколько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подъём без лифта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0,5 мин × этаж × проходы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дом до 1960 года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×1,15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дом с 2015 года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×0,90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гигабит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+10 мин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пропуск в офис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+5 мин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шлагбаум (машина)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+3 мин к дороге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Сложность работ и уточнение по историческим данным</a:t>
            </a:r>
          </a:p>
        </p:txBody>
      </p:sp>
      <p:pic>
        <p:nvPicPr>
          <p:cNvPr id="7" name="Picture 6" descr="order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329" y="3017520"/>
            <a:ext cx="4669276" cy="76809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Длительность по дому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норматив умножается на поправки дома и работы: этаж без лифта, старый или новый дом, пропуск в офис, гигабит, подтип работы. В карточке видно, из чего сложилось время</a:t>
            </a:r>
          </a:p>
        </p:txBody>
      </p:sp>
      <p:pic>
        <p:nvPicPr>
          <p:cNvPr id="10" name="Picture 9" descr="lear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476" y="3017520"/>
            <a:ext cx="4690662" cy="76809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2220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 историческим данным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 истории прошлых выездов (в демо — синтетической) уточняем поправки подтипов работ и домов и темп каждой бригады: что изменилось, насколько и по скольким выездам</a:t>
            </a:r>
          </a:p>
        </p:txBody>
      </p:sp>
      <p:pic>
        <p:nvPicPr>
          <p:cNvPr id="13" name="Picture 12" descr="lu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3382" y="3017520"/>
            <a:ext cx="7280530" cy="76809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638604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Обед и оборудование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604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обед 45 минут между 13:00 и 16:00 — жёлтым на диаграмме. Рядом — когда обедает каждая бригада и что взять утром на весь маршрут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Обучение на истории выездов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521440" cy="9235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34747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Каждый выезд: r = факт / прогноз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38912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Beeline Sans Black"/>
              </a:rPr>
              <a:t>k ← k · exp( Σ ln r / (n + 8)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5943600"/>
            <a:ext cx="10607040" cy="621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пока выездов мало, поправка почти не меняется: к ним добавлены 8 условных выездов «как сейчас»</a:t>
            </a:r>
          </a:p>
          <a:p>
            <a:pPr algn="l" marL="438912" indent="-438912">
              <a:spcBef>
                <a:spcPts val="16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по шагам: подтип работы → тип дома по остаткам → темп каждой бригады по остаткам</a:t>
            </a:r>
          </a:p>
          <a:p>
            <a:pPr algn="l" marL="438912" indent="-438912">
              <a:spcBef>
                <a:spcPts val="16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добавки в минутах (лифт, пропуск, гигабит) не трогаем — по длительности всей работы их не отделить</a:t>
            </a:r>
          </a:p>
          <a:p>
            <a:pPr algn="l" marL="438912" indent="-438912">
              <a:spcBef>
                <a:spcPts val="16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факты — история выездов и отметки «Приехал / Закончил» с экрана инженера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710160" y="3017520"/>
          <a:ext cx="10972800" cy="6035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893040" y="9052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проверка: синтетическая история, 30 дней; учим на 24, проверяем на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10160" y="97840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075920" y="9912096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11,4 → 9,6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0" y="10936224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мин — ошибка прогноза длительности на отложенных днях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0" y="97840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653760" y="9912096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9 бригад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0" y="10936224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на Востоке по 3600 выездам: работы дольше норматива, и план это учитывает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Старт из дома: дорога до первого адреса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3017520"/>
          <a:ext cx="14630400" cy="8412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1152144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8C8C8C"/>
                </a:solidFill>
                <a:latin typeface="Beeline Sans"/>
              </a:rPr>
              <a:t>минут в среднем до первого адреса бригады — те же адреса плана; «из офиса» — если бы бригады выезжали из офиса участка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19120" y="31089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276320" y="32918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18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0" y="44256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в среднем до первого адреса из дома; из офиса было бы 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19120" y="58521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20" y="60350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−62%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0" y="71688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утреннего пробега: 217 км вместо 574 по шести участкам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19120" y="85953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276320" y="87782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с места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0" y="99120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перепланирование — от того, где бригада сейчас: дома, в пути или у клиента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Старт из дома и авария в пути</a:t>
            </a:r>
          </a:p>
        </p:txBody>
      </p:sp>
      <p:pic>
        <p:nvPicPr>
          <p:cNvPr id="7" name="Picture 6" descr="home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11247119" cy="702944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0369296"/>
            <a:ext cx="1124711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Старт из дома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00"/>
            <a:ext cx="112471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каждая бригада начинает день из дома — значки на карте. Справа — откуда выезжает бригада и сколько ехать до первого адреса</a:t>
            </a:r>
          </a:p>
        </p:txBody>
      </p:sp>
      <p:pic>
        <p:nvPicPr>
          <p:cNvPr id="10" name="Picture 9" descr="t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017520"/>
            <a:ext cx="11247119" cy="702944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2454128" y="10369296"/>
            <a:ext cx="1124711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Авария застала бригаду в пути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54128" y="10972800"/>
            <a:ext cx="112471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бригада ехала к клиенту, рядом случилась авария. План пересчитан от места, где бригада сейчас: она сворачивает к аварии, брошенный переезд — красным пунктиром, её следующие заявки берут другие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Сколько людей нужно</a:t>
            </a:r>
          </a:p>
        </p:txBody>
      </p:sp>
      <p:pic>
        <p:nvPicPr>
          <p:cNvPr id="7" name="Picture 6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7315200" cy="6912864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Бригады и пробег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пробег при разном числе бригад. Меньше минимума — часть заявок не закрыть; видно, сколько км даёт каждая дополнительная бригада</a:t>
            </a:r>
          </a:p>
        </p:txBody>
      </p:sp>
      <p:pic>
        <p:nvPicPr>
          <p:cNvPr id="10" name="Picture 9" descr="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466" y="3017520"/>
            <a:ext cx="6244682" cy="76809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2220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Цена правил (Северо-восток)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тот же день, посчитанный заново без одного правила: все умеют всё, все на машинах, без обеда, без учёта оборудования. Видно, во что обходится каждое правило</a:t>
            </a:r>
          </a:p>
        </p:txBody>
      </p:sp>
      <p:pic>
        <p:nvPicPr>
          <p:cNvPr id="13" name="Picture 12" descr="shif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3248" y="3017520"/>
            <a:ext cx="6400800" cy="76809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6386048" y="10917936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Смены 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6048" y="1152144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те же бригады по графику 5/2: смены 10–19 и 13–22 по очереди. Внизу — какие заявки не поместились, почему и какой бригады не хватает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Экран инженера и маршрутный лист</a:t>
            </a:r>
          </a:p>
        </p:txBody>
      </p:sp>
      <p:pic>
        <p:nvPicPr>
          <p:cNvPr id="7" name="Picture 6" descr="eng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3546763" cy="767556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00815"/>
            <a:ext cx="35467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День бригады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19"/>
            <a:ext cx="35467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адреса по порядку, смена, пробег, кнопка навигатора</a:t>
            </a:r>
          </a:p>
        </p:txBody>
      </p:sp>
      <p:pic>
        <p:nvPicPr>
          <p:cNvPr id="10" name="Picture 9" descr="eng_s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71" y="3017520"/>
            <a:ext cx="3546763" cy="5181445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753771" y="11100815"/>
            <a:ext cx="35467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Адрес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3771" y="11704319"/>
            <a:ext cx="35467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подъезд, этаж, домофон, оборудование, кому позвонить</a:t>
            </a:r>
          </a:p>
        </p:txBody>
      </p:sp>
      <p:pic>
        <p:nvPicPr>
          <p:cNvPr id="13" name="Picture 12" descr="eng_mar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175" y="3017520"/>
            <a:ext cx="4610792" cy="1339448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849175" y="11100815"/>
            <a:ext cx="4610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Отметки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9175" y="11704319"/>
            <a:ext cx="46107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«Приехал» и «Закончил»: диспетчер сразу видит опоздание</a:t>
            </a:r>
          </a:p>
        </p:txBody>
      </p:sp>
      <p:pic>
        <p:nvPicPr>
          <p:cNvPr id="16" name="Picture 15" descr="eng_she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8608" y="3017520"/>
            <a:ext cx="9692640" cy="5603557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4008608" y="11100815"/>
            <a:ext cx="96926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Маршрутный лист 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8608" y="11704319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оборудование, обзвон накануне, адреса, обед, подпись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C13C3-1F94-10AF-8FD7-D4DCE99B2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>
            <a:extLst>
              <a:ext uri="{FF2B5EF4-FFF2-40B4-BE49-F238E27FC236}">
                <a16:creationId xmlns:a16="http://schemas.microsoft.com/office/drawing/2014/main" id="{2D0F6E16-E2E7-C956-A9B6-63D7BCB0538D}"/>
              </a:ext>
            </a:extLst>
          </p:cNvPr>
          <p:cNvSpPr txBox="1"/>
          <p:nvPr/>
        </p:nvSpPr>
        <p:spPr>
          <a:xfrm>
            <a:off x="616227" y="-889000"/>
            <a:ext cx="14698858" cy="982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05</a:t>
            </a:r>
            <a:endParaRPr dirty="0"/>
          </a:p>
        </p:txBody>
      </p:sp>
      <p:sp>
        <p:nvSpPr>
          <p:cNvPr id="206" name="медиа-давление и бюджет">
            <a:extLst>
              <a:ext uri="{FF2B5EF4-FFF2-40B4-BE49-F238E27FC236}">
                <a16:creationId xmlns:a16="http://schemas.microsoft.com/office/drawing/2014/main" id="{D17FC182-CFD1-F8DC-459F-9C689C3755FB}"/>
              </a:ext>
            </a:extLst>
          </p:cNvPr>
          <p:cNvSpPr txBox="1"/>
          <p:nvPr/>
        </p:nvSpPr>
        <p:spPr>
          <a:xfrm>
            <a:off x="13405764" y="5525710"/>
            <a:ext cx="10978236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результаты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Планы шести участков в новой модели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017520"/>
          <a:ext cx="23042880" cy="640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89120"/>
                <a:gridCol w="2377440"/>
                <a:gridCol w="3474720"/>
                <a:gridCol w="3291840"/>
                <a:gridCol w="3474720"/>
                <a:gridCol w="6035040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Участок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Минимум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Пробег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Назначено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Базовый вариант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8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8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187,4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66 из 66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28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159,8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56 из 56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бр., не выполнено 19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12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747,8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81 из 83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37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Север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9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9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229,3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73 из 73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30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Запад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257,0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59 из 60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бр., не выполнено 15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Северо-восток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11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237,4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76 из 76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40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9875520"/>
            <a:ext cx="230428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1A1A1"/>
                </a:solidFill>
                <a:latin typeface="Beeline Sans"/>
              </a:rPr>
              <a:t>*Модель второго этапа: обед, оборудование, длительность по сложности, старт из дома, общественный транспорт по расписаниям, пробки по часам и сетке. Решатель работает 3 с; для Востока взят лучший из пяти запусков по 10 с, для Юго-востока лучший из трёх запусков по 30 с и лучшего известного ответа. Нижняя граница считается генерацией столбцов.</a:t>
            </a:r>
          </a:p>
          <a:p>
            <a:pPr algn="l">
              <a:spcBef>
                <a:spcPts val="800"/>
              </a:spcBef>
            </a:pPr>
            <a:r>
              <a:rPr sz="2100" b="0" i="0">
                <a:solidFill>
                  <a:srgbClr val="A1A1A1"/>
                </a:solidFill>
                <a:latin typeface="Beeline Sans"/>
              </a:rPr>
              <a:t>«Доказан» — граница равна плану, меньше бригад нельзя.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Число бригад на реальном дне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машина — 8, 7 и 10 бригад; общественный транспорт — 12, 11 и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5544800" cy="9418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6642080" y="30175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099280" y="32004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0" y="47000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опозданий и невыполненных заявок в нашем плане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80" y="62179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099280" y="64008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10–35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0" y="79004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заявок не выполняет базовый вариант, хотя использует все бригады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642080" y="94183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099280" y="96012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2–35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0" y="111008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опозданий в реальном плане, если считать по нормативам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Сравнение с OR-Tools, PyVRP и VROOM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сравнение с библиотеками не повторяли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4081760" cy="8412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5288767" y="3017520"/>
            <a:ext cx="8412480" cy="94183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800832" y="3474720"/>
            <a:ext cx="7406640" cy="877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C800"/>
                </a:solidFill>
                <a:latin typeface="Beeline Sans"/>
              </a:rPr>
              <a:t>Все заявки выполнены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у нас и у PyVRP в 84 задачах из 88, у VROOM в 79, у OR-Tools в 78. В 4 задачах выполнить все заявки нельзя.</a:t>
            </a:r>
          </a:p>
          <a:p>
            <a:pPr algn="l">
              <a:spcBef>
                <a:spcPts val="1800"/>
              </a:spcBef>
            </a:pPr>
            <a:r>
              <a:rPr sz="3000" b="1" i="0">
                <a:solidFill>
                  <a:srgbClr val="FFC800"/>
                </a:solidFill>
                <a:latin typeface="Beeline Sans"/>
              </a:rPr>
              <a:t>На контрольном дне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в 24 задачах PyVRP использует 198 бригад, наш оптимизатор 188 при доказанном минимуме 187.</a:t>
            </a:r>
          </a:p>
          <a:p>
            <a:pPr algn="l">
              <a:spcBef>
                <a:spcPts val="1800"/>
              </a:spcBef>
            </a:pPr>
            <a:r>
              <a:rPr sz="3000" b="1" i="0">
                <a:solidFill>
                  <a:srgbClr val="FFC800"/>
                </a:solidFill>
                <a:latin typeface="Beeline Sans"/>
              </a:rPr>
              <a:t>Почему свой оптимизатор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библиотеки учитывают число бригад как слагаемое общей стоимости. Мы сокращаем парк отдельной фазой.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Доказанная оптимальность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минимум бригад доказан в 70 из 88 задач (16 из 24, 33 из 40, 21 из 24), с запусками по 30 с — в 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07007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Контрольный день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7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79408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Реальные дни 28–29.09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988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40/40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078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36/40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078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03167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6751808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Сгенерированные участки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51808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9712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712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802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21/24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802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9418320"/>
            <a:ext cx="23042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Нижняя граница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нужна только для доказательства: она показывает, что выбранный подход близок к теоретическому пределу. Для работы оптимизатора и интеграции её считать не нужно. Граница считается 1–3 минуты, полное доказательство — от минуты до часа.</a:t>
            </a:r>
          </a:p>
          <a:p>
            <a:pPr algn="l">
              <a:spcBef>
                <a:spcPts val="2000"/>
              </a:spcBef>
            </a:pPr>
            <a:r>
              <a:rPr sz="2600" b="1" i="0">
                <a:solidFill>
                  <a:srgbClr val="FFC800"/>
                </a:solidFill>
                <a:latin typeface="Beeline Sans"/>
              </a:rPr>
              <a:t>До оптимума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в 81 задаче из 88 лучший план совпал с теоретической нижней границей. В остальных 7 он отстаёт от нижней границы по км в среднем на 0,8% (не больше 3,3%), по всем 88 задачам в пределах 0,06%.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Скорость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133856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3167360" cy="8321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11521440"/>
            <a:ext cx="1316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C8C8C"/>
                </a:solidFill>
                <a:latin typeface="Beeline Sans"/>
              </a:rPr>
              <a:t>*Доля запусков по 3 с (8 потоков, сиды 1–3): 88 задач, 264 запуска.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0" y="3017520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904720" y="3236976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0" y="3383279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контрольный день: все 24 плана оптимальны целиком — и по бригадам, и по 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0" y="6163056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904720" y="6382512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0" y="6528816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задач (81 из 88): план оптимален целиком; по всем 88 — в пределах 0,06% от нижней границы по км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47520" y="9308592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904720" y="9528048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&lt; 1 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0" y="9674352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время решателя на 1000 участков на одном ноутбуке при 3 секундах на участок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Что пробовали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017520"/>
          <a:ext cx="23042880" cy="90708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0"/>
                <a:gridCol w="8412480"/>
              </a:tblGrid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Подход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Результат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Жадные: сортировка по окну, ближайший сосед, заметание, экономия Кларка–Райта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много 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Графовые: покрытие путями, поток, венгерский по слотам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слабее; венгерский оставили для назначения 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Табу-поиск, лучевой поиск, облегчённый HGS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хуже отжига и ALNS за 1 секунду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OR-Tools, PyVRP, VROOM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в среднем на 0,5–0,7 бригады больше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Собрать план из лучших маршрутов разных запусков (точный подбор CP-SAT)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почти без выигрыша: короче лишь в 4 задачах из 30, максимум на 3,4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Подсказки по видам транспорта, план по кластерам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в среднем без выигрыша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Отжиг, ALNS, SISR в 8 параллельных потоках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используем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Эффект и ограничения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35 →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бригад на трёх участках организаторов, новая модель, смешанный транспорт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6 из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участков: меньше бригад нельзя, доказано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203 из 205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заявок на трёх участках организаторов; базовый вариант — 121 на всех бригадах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6309360"/>
            <a:ext cx="23042880" cy="1280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6400800"/>
            <a:ext cx="22311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В модели первого этапа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(смена 10–22 без обеда) теоретический оптимум по бригадам — во всех 88 тестовых задачах, по км — в 81 из 88.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7863840"/>
            <a:ext cx="11338560" cy="44805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7" y="81381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Ограничения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905256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цифры с пометкой «модель первого этапа» — смена 10–22 без обеда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в новой модели минимум бригад доказан на всех шести участках, оптимум по км не доказываем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аварии из файла с окном на весь день: ожидание штрафуем, но не запрещаем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62688" y="7863840"/>
            <a:ext cx="11338560" cy="44805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911328" y="81381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Что дальше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11328" y="905256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стоимость бригады в км как настройка диспетчера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планирование на несколько дней, пополнение оборудования днём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точное время общественного транспорта на момент выезда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Технологии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Оптимизатор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C++17, свои эвристики, 8 потоков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Оценка нижней границы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Python, HiGHS, CP-SAT: генерация столбцов и точные задачи; нужна только для оценки качества плана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Дороги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OSRM в Docker, OpenStreetMap Москвы и области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7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Тесты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около 390 модульных, сквозных и браузерных тестов (pytest, Playwright)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79408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Интерфейс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экран диспетчера по сценариям, экран инженера на телефоне, сервер пересчёта событий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03167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751808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51808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на входе заявки и бригады в xlsx или CSV, на выходе plan.xlsx и plan.json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9601200"/>
            <a:ext cx="23042880" cy="2743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9966960"/>
            <a:ext cx="2194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C800"/>
                </a:solidFill>
                <a:latin typeface="Beeline Sans"/>
              </a:rPr>
              <a:t>Запуск: одна команда на участок</a:t>
            </a:r>
          </a:p>
          <a:p>
            <a:pPr algn="l">
              <a:spcBef>
                <a:spcPts val="8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python -m dispatch plan "Восток заявки.xlsx" -b "Восток бригады.xlsx" -o out/Восток</a:t>
            </a:r>
          </a:p>
          <a:p>
            <a:pPr algn="l">
              <a:spcBef>
                <a:spcPts val="800"/>
              </a:spcBef>
            </a:pPr>
            <a:r>
              <a:rPr sz="2500" b="0" i="0">
                <a:solidFill>
                  <a:srgbClr val="A1A1A1"/>
                </a:solidFill>
                <a:latin typeface="Beeline Sans"/>
              </a:rPr>
              <a:t>в папке результата план, метрики, причины неназначения и объяснения; демо целиком — docker compose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1" name="спасибо">
            <a:extLst>
              <a:ext uri="{FF2B5EF4-FFF2-40B4-BE49-F238E27FC236}">
                <a16:creationId xmlns:a16="http://schemas.microsoft.com/office/drawing/2014/main" id="{956FE607-2AAF-233D-56EB-85446070CA4B}"/>
              </a:ext>
            </a:extLst>
          </p:cNvPr>
          <p:cNvSpPr txBox="1"/>
          <p:nvPr/>
        </p:nvSpPr>
        <p:spPr>
          <a:xfrm>
            <a:off x="807330" y="9998690"/>
            <a:ext cx="21578977" cy="302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21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 err="1"/>
              <a:t>спасибо</a:t>
            </a:r>
            <a:endParaRPr dirty="0"/>
          </a:p>
        </p:txBody>
      </p:sp>
      <p:pic>
        <p:nvPicPr>
          <p:cNvPr id="603" name="Изображение" descr="Изображение">
            <a:extLst>
              <a:ext uri="{FF2B5EF4-FFF2-40B4-BE49-F238E27FC236}">
                <a16:creationId xmlns:a16="http://schemas.microsoft.com/office/drawing/2014/main" id="{B60C4DF0-D2EC-FCAA-6E47-DB9D6B77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0" y="971501"/>
            <a:ext cx="4779520" cy="899856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extBox 603"/>
          <p:cNvSpPr txBox="1"/>
          <p:nvPr/>
        </p:nvSpPr>
        <p:spPr>
          <a:xfrm>
            <a:off x="804672" y="4206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eeline Sans"/>
              </a:rPr>
              <a:t>Никита Подгузов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804672" y="51206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A1A1A1"/>
                </a:solidFill>
                <a:latin typeface="Beeline Sans"/>
              </a:rPr>
              <a:t>капитан, бекенд-разработчик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804672" y="58521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@Nikitosh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8668512" y="4206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eeline Sans"/>
              </a:rPr>
              <a:t>Ксения Шор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8668512" y="51206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A1A1A1"/>
                </a:solidFill>
                <a:latin typeface="Beeline Sans"/>
              </a:rPr>
              <a:t>дизайнер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8668512" y="58521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@KseniiaShor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804672" y="246888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C800"/>
                </a:solidFill>
                <a:latin typeface="Beeline Sans Black"/>
              </a:rPr>
              <a:t>Команда Trdelnik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П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приложение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Исходные данные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2304288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10896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7" y="3438144"/>
            <a:ext cx="1828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заявок в трёх CSV-файлах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206240"/>
            <a:ext cx="1828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кодировка CP1251, адрес офиса в последней строке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266944"/>
            <a:ext cx="20665439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95728" y="5266944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7" y="559612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адресов переведены в координаты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7" y="636422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Nominatim, результат сохранён в репозитории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7424927"/>
            <a:ext cx="1828800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84448" y="7424927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7754111"/>
            <a:ext cx="1353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матрицы времени и расстояний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8522207"/>
            <a:ext cx="1353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машина, пешком, велосипед, общественный транспорт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9582912"/>
            <a:ext cx="15910559" cy="1920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3168" y="9582912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9912096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тестовых задач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106801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24 на контрольный день (3 участка, 4 варианта транспорта, 2 варианта навыков), 40 на реальные дни 28–29.09, 24 на сгенерированных участках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252960"/>
            <a:ext cx="2304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*Контрольный день 17.08: контрольная выгрузка организаторов за реальный день. Реальные дни: выгрузки за 28–29.09. Сгенерированные участки: адреса из OpenStreetMap.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Генерация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6265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Чего не хватало в данных организаторов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40480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0704" y="4059936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96512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Бригады и навыки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700016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Состав бригад и их дома в области берём с контрольного дня. Навыки в двух вариантах: то, что бригада реально выполняла в тот день, или все три.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6711696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" y="6931152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69677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Транспорт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7571231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Четыре варианта: все на общественном транспорте, все на машине и два смешанных. В смешанных бригады из области на машине, московские: 60% общественный транспорт, 25% машина, 10% велосипед, 5% пешком. Итого 8 задач на каждый день участка.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9582912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0704" y="9802368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9838944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Только машина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0442448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Для аварий на узле связи и подключений с заказом оборудования нужен автомобиль: 4 из 66 заявок Востока, 19 из 83 Юго-востока.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2962656"/>
            <a:ext cx="116311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Новые участки Москвы: Север, Запад, Северо-восток</a:t>
            </a:r>
          </a:p>
        </p:txBody>
      </p:sp>
      <p:pic>
        <p:nvPicPr>
          <p:cNvPr id="21" name="Picture 20" descr="gen_Севе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12070080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Север</a:t>
            </a:r>
          </a:p>
        </p:txBody>
      </p:sp>
      <p:pic>
        <p:nvPicPr>
          <p:cNvPr id="23" name="Picture 22" descr="gen_Запа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16002000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Запад</a:t>
            </a:r>
          </a:p>
        </p:txBody>
      </p:sp>
      <p:pic>
        <p:nvPicPr>
          <p:cNvPr id="25" name="Picture 24" descr="gen_Северо-восто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919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19933919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Северо-восток</a:t>
            </a:r>
          </a:p>
        </p:txBody>
      </p:sp>
      <p:sp>
        <p:nvSpPr>
          <p:cNvPr id="27" name="Oval 26"/>
          <p:cNvSpPr/>
          <p:nvPr/>
        </p:nvSpPr>
        <p:spPr>
          <a:xfrm>
            <a:off x="12070080" y="7680960"/>
            <a:ext cx="292608" cy="29260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72415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подключение</a:t>
            </a:r>
          </a:p>
        </p:txBody>
      </p:sp>
      <p:sp>
        <p:nvSpPr>
          <p:cNvPr id="29" name="Oval 28"/>
          <p:cNvSpPr/>
          <p:nvPr/>
        </p:nvSpPr>
        <p:spPr>
          <a:xfrm>
            <a:off x="14785847" y="7680960"/>
            <a:ext cx="292608" cy="292608"/>
          </a:xfrm>
          <a:prstGeom prst="ellipse">
            <a:avLst/>
          </a:prstGeom>
          <a:solidFill>
            <a:srgbClr val="A1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188184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ремонт</a:t>
            </a:r>
          </a:p>
        </p:txBody>
      </p:sp>
      <p:sp>
        <p:nvSpPr>
          <p:cNvPr id="31" name="Oval 30"/>
          <p:cNvSpPr/>
          <p:nvPr/>
        </p:nvSpPr>
        <p:spPr>
          <a:xfrm>
            <a:off x="16724376" y="7680960"/>
            <a:ext cx="292608" cy="29260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26712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авария</a:t>
            </a:r>
          </a:p>
        </p:txBody>
      </p:sp>
      <p:sp>
        <p:nvSpPr>
          <p:cNvPr id="33" name="Oval 32"/>
          <p:cNvSpPr/>
          <p:nvPr/>
        </p:nvSpPr>
        <p:spPr>
          <a:xfrm>
            <a:off x="18662904" y="7680960"/>
            <a:ext cx="292608" cy="292608"/>
          </a:xfrm>
          <a:prstGeom prst="ellipse">
            <a:avLst/>
          </a:prstGeom>
          <a:solidFill>
            <a:srgbClr val="F4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65240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дозаказ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0" y="8321040"/>
            <a:ext cx="1163116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адреса настоящих жилых домов из OpenStreetMap, районы по их границам в OSM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60–76 заявок, окна по 2 часа с теми же долями по времени дня, что у организаторов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типы в долях трёх участков: подключение 46%, ремонт 38%, авария 10%, дозаказ 6%; треть аварий с окном на весь день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по районам неравномерно, самый крупный не больше 20% заявок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11–12 бригад, наборы навыков с частотами контрольного дня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Как потоки обмениваются планом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8328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338328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1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отжиг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93192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480560" y="457200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34198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предложить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8C8C8C"/>
                </a:solidFill>
                <a:latin typeface="Beeline Sans"/>
              </a:rPr>
              <a:t>забрать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6072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576072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2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ALNS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630936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480560" y="694944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813816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813816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3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SISR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60" y="868680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80560" y="932688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40880" y="3383280"/>
            <a:ext cx="4206240" cy="6492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51775" y="3383280"/>
            <a:ext cx="3657600" cy="649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хранилище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лучший план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число бригад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пробег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07899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План лежит под мьютексом, а число бригад и значение цели читаются атомарно, поэтому потоки почти не ждут друг друга. Скорость около 100 тыс. итераций разрушения и восстановления в секунду на поток.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78640" y="3200400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99264" y="3383280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0" y="34198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Предложить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0" y="402336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Поток кладёт найденный план в хранилище. Хранилище принимает его, только если план допустим и строго лучше текущего.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978640" y="5522976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399264" y="5705856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07440" y="574243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Подхватить меньший парк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0" y="6345936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Потоки сокращения бригад следят за числом бригад в хранилище. Если кто-то нашёл план с меньшим числом, они продолжают от него.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978640" y="7845552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399264" y="8028431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07440" y="806500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Миграция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07440" y="8668512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Раз в 5% времени поток, который отстал от лучшего плана больше чем на 0,3%, забирает лучший. Потоки пробега перезапускаются, когда другой поток сократил бригаду.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978640" y="10168128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399264" y="10351008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07440" y="10387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Переход к пробегу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07440" y="10991088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Если число бригад дошло до оценки снизу по суммарной работе, дальше сокращать нечего, и все потоки переходят к километрам.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граница: идея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0241280" cy="6583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72" y="3383280"/>
            <a:ext cx="8928295" cy="62179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задач: план выходит на доказанный минимум бригад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07407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задач: лучший найденный план оптимален целиком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82128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+0,06%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пробег лучшего плана к нижней границе в среднем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316382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0" y="32004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Задача покрытия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0" y="3822191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Каждый допустимый маршрут одной бригады это столбец таблицы: какие заявки он покрывает и сколько стоит. Нужно выбрать столбцы так, чтобы каждая заявка вошла ровно в один. В целых числах эта задача такая же трудная, как исходная.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1813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0" y="62179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Линейная релаксация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0" y="6839712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Разрешаем брать маршрут частично, например на 0,5. Такое решение нельзя выполнить: полбригады не бывает. Зато его стоимость легко посчитать, и настоящий план не может быть дешевле. Это и есть нижняя граница.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919886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0" y="9235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Что она даёт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0" y="9857232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Если найденный план совпал с границей, он теоретически оптимален: лучшего плана в этих ограничениях не существует. Если не совпал, граница показывает, сколько максимум можно выиграть.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граница: как считаем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15568" y="34747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360273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Генерация столбцов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66344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Маршрутов миллиарды, поэтому начинаем с небольшого набора и решаем задачу линейного программирования. Она даёт двойственную цену каждой заявки: на сколько км подешевело бы решение, если бы эту заявку не нужно было покрывать. Если маршрут короче суммы цен своих заявок, он покрывает их дешевле текущих маршрутов. Например, цены заявок 5, 6 и 7 км, а маршрут через них 15 км: 15 &lt; 18, маршрут добавляем.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62688" y="320040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19888" y="34747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8" y="360273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Поиск маршрута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19888" y="466344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Такой маршрут ищем динамическим программированием. Строим цепочки заявка за заявкой в порядке времени и для каждой храним время окончания, пробег и сумму цен. Цепочку, которая хуже другой по всем трём, отбрасываем. Лучший найденный маршрут добавляем в ЛП, цены пересчитываются, повторяем, пока выгодных маршрутов нет.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768096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15568" y="7955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808329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Ветвление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914400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Если в ответе ЛП остались дробные маршруты, делим задачу на две ветки (например, «эта бригада используется» и «не используется») и решаем каждую. Отсечения — дополнительные неравенства, которые запрещают дробные решения и не мешают настоящим планам.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62688" y="768096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19888" y="7955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2928" y="808329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Финальная проверка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19888" y="914400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Перебираем все маршруты, которые по оценке ещё могут дать план лучше найденного (для Востока 12–35 тыс.), и решаем на них точную целочисленную задачу: HiGHS и CP-SAT наперегонки.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252960"/>
            <a:ext cx="2304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C8C8C"/>
                </a:solidFill>
                <a:latin typeface="Beeline Sans"/>
              </a:rPr>
              <a:t>*Граница считается отдельно от оптимизатора, для работы и интеграции она не нужна.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Проверка ограничений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5568" y="369417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36576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Навык и транспорт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437083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у бригады есть навык заявки и нужный транспорт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30768" y="320040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887968" y="369417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6688" y="36576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437083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работа начинается внутри окна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630936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15568" y="680313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67665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Смена и обед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747979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работа внутри смены бригады, обед 45 минут в окне 13:00–16:00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630936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887968" y="680313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67665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Оборудование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747979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запас на маршрут не больше того, что бригада унесёт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94183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115568" y="991209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98755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Событие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1058875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выполненное и начатое к моменту события не изменилось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94183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887968" y="991209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98755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Полнота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1058875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каждая заявка назначена один раз или помечена как неназначенная с причиной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203167" y="3200400"/>
            <a:ext cx="7498079" cy="8961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6751808" y="3621024"/>
            <a:ext cx="6492240" cy="82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C800"/>
                </a:solidFill>
                <a:latin typeface="Beeline Sans"/>
              </a:rPr>
              <a:t>Независимая проверка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Модуль check_plan в продукте и validate.py в исследованиях не используют код оптимизатора и заново считают время прибытия, ожидание и пробег.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Через них прошли все цифры в презентации.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Если заявку назначить нельзя, интерфейс пишет причину, например «нет навыка „Аварии“».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Перепланирование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4930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Выполненные и начатые заявки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06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не меняем, начатую работу не прерываем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22976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5705856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8155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Новая обычная заявка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6528816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ставим в свободный промежуток, остальной план не трогаем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7845552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8028431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81381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885139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можно перестроить остаток дня, начать нужно в течение 2 часов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0168128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10351008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046073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Отмена или недоступный инженер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1117396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свободное время отдаём неназначенным заявкам, заявки ушедшего другим бригадам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74368" y="3200400"/>
            <a:ext cx="9326880" cy="89611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923008" y="36210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41414"/>
                </a:solidFill>
                <a:latin typeface="Beeline Sans"/>
              </a:rPr>
              <a:t>Пример: Бригада 4 недоступна с 14:00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23008" y="457200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1414"/>
                </a:solidFill>
                <a:latin typeface="Beeline Sans"/>
              </a:rPr>
              <a:t>Выполненные и начатые заявки (29) не трогаем. 5 оставшихся заявок переходят к другим: 4 — Бригада 10, 1 — Бригада 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2300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2300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неназначенных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5764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+2,8 км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5764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пробега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9228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8 →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9228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бригад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23008" y="10241280"/>
            <a:ext cx="8412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Изменения видны на карте и в списке «было / стало».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Сценарии и подсказки</a:t>
            </a:r>
          </a:p>
        </p:txBody>
      </p:sp>
      <p:pic>
        <p:nvPicPr>
          <p:cNvPr id="7" name="Picture 6" descr="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8488392" cy="750137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283696"/>
            <a:ext cx="84883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Список сценариев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887200"/>
            <a:ext cx="8488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Сценарии сгруппированы по требованиям второго этапа: рейтинг, сложность, старт из дома, изменения дня, сколько людей нужно; дальше — планы шести участков.</a:t>
            </a:r>
          </a:p>
        </p:txBody>
      </p:sp>
      <p:pic>
        <p:nvPicPr>
          <p:cNvPr id="10" name="Picture 9" descr="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948" y="3017520"/>
            <a:ext cx="12874752" cy="80467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695400" y="11283696"/>
            <a:ext cx="1400584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Тур по экрану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5400" y="11887200"/>
            <a:ext cx="1400584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При первом заходе открывается пошаговый тур: один элемент подсвечен, остальное затемнено. Кнопка «?» запускает его в любой момент.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Проигрывание дня</a:t>
            </a:r>
          </a:p>
        </p:txBody>
      </p:sp>
      <p:pic>
        <p:nvPicPr>
          <p:cNvPr id="7" name="Picture 6" descr="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18" y="3017520"/>
            <a:ext cx="17899379" cy="795527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247120"/>
            <a:ext cx="23042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Пройденная часть маршрута нарисована сплошной линией, оставшаяся пунктиром. Значки показывают, где бригада сейчас, справа видно, кто работает, кто в пути и кто ждёт окна. В сценарии с событием проигрывание останавливается в момент события: до него идёт утренний план, после него пересчитанный.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Остальные события дня</a:t>
            </a:r>
          </a:p>
        </p:txBody>
      </p:sp>
      <p:pic>
        <p:nvPicPr>
          <p:cNvPr id="7" name="Picture 6" descr="ev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7315200" cy="579729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Клиент перенёс окно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если бригада успевает в новое окно, меняется только время визита</a:t>
            </a:r>
          </a:p>
        </p:txBody>
      </p:sp>
      <p:pic>
        <p:nvPicPr>
          <p:cNvPr id="10" name="Picture 9" descr="ev_can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017520"/>
            <a:ext cx="7315200" cy="5413248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2220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Отмена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у бригады освобождается время, остальные заявки не меняются</a:t>
            </a:r>
          </a:p>
        </p:txBody>
      </p:sp>
      <p:pic>
        <p:nvPicPr>
          <p:cNvPr id="13" name="Picture 12" descr="ev_acc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6048" y="3017520"/>
            <a:ext cx="7315200" cy="579729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638604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604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начнётся в пределах двух часов; выполненное и начатое не меняется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Бригады, заявки без исполнителя, сравнение</a:t>
            </a:r>
          </a:p>
        </p:txBody>
      </p:sp>
      <p:pic>
        <p:nvPicPr>
          <p:cNvPr id="7" name="Picture 6" descr="brig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983" y="3017520"/>
            <a:ext cx="12537649" cy="34747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6711696"/>
            <a:ext cx="23042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Бригады в работе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315200"/>
            <a:ext cx="23042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 каждой бригаде: транспорт, навыки, что взять с собой, сколько адресов и км; отметки инженеров «приехал» и «закончил»; выгрузка фактических выездов в CSV</a:t>
            </a:r>
          </a:p>
        </p:txBody>
      </p:sp>
      <p:pic>
        <p:nvPicPr>
          <p:cNvPr id="10" name="Picture 9" descr="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03" y="7680960"/>
            <a:ext cx="15902608" cy="365759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11558016"/>
            <a:ext cx="23042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Без исполнителя и сравнение с базовым вариантом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161520"/>
            <a:ext cx="23042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заявки без исполнителя — с причиной и тем, какой бригады не хватает; сравнение с базовым вариантом из ТЗ: сколько заявок выполнено, бригад и км на заявку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Покрытие аварий и свободные окна</a:t>
            </a:r>
          </a:p>
        </p:txBody>
      </p:sp>
      <p:pic>
        <p:nvPicPr>
          <p:cNvPr id="7" name="Picture 6" descr="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15745967" cy="6998208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00815"/>
            <a:ext cx="1574596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Покрытие аварий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19"/>
            <a:ext cx="1574596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через сколько минут начнут аварию в каждой точке участка, если она случится в выбранный час; час выбирают ползунком</a:t>
            </a:r>
          </a:p>
        </p:txBody>
      </p:sp>
      <p:pic>
        <p:nvPicPr>
          <p:cNvPr id="10" name="Picture 9" descr="defic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326" y="3017520"/>
            <a:ext cx="5803571" cy="786384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6952976" y="11100815"/>
            <a:ext cx="674827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Свободные окна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52976" y="11704319"/>
            <a:ext cx="674827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сколько ещё подключений помещается в каждом районе и окне. Окна с нулём клиентам лучше не предлагать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Ранний старт и точное время</a:t>
            </a:r>
          </a:p>
        </p:txBody>
      </p:sp>
      <p:pic>
        <p:nvPicPr>
          <p:cNvPr id="7" name="Picture 6" descr="wha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8412480" cy="8812072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692640" y="3200400"/>
            <a:ext cx="13898880" cy="896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Ранний старт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Если часть клиентов согласится начать до часа раньше окна, бригад может понадобиться меньше. В плане указано, кому из клиентов и когда позвонить.</a:t>
            </a:r>
          </a:p>
          <a:p>
            <a:pPr algn="l">
              <a:spcBef>
                <a:spcPts val="1600"/>
              </a:spcBef>
            </a:pPr>
            <a:r>
              <a:rPr sz="3200" b="1" i="0">
                <a:solidFill>
                  <a:srgbClr val="141414"/>
                </a:solidFill>
                <a:latin typeface="Beeline Sans"/>
              </a:rPr>
              <a:t>Цена точного времени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Часовое окно вместо двухчасового у 25, 50 и 100% клиентов: сколько бригад и км это стоит; 0% — сам план.</a:t>
            </a:r>
          </a:p>
          <a:p>
            <a:pPr algn="l">
              <a:spcBef>
                <a:spcPts val="1600"/>
              </a:spcBef>
            </a:pPr>
            <a:r>
              <a:rPr sz="3200" b="1" i="0">
                <a:solidFill>
                  <a:srgbClr val="141414"/>
                </a:solidFill>
                <a:latin typeface="Beeline Sans"/>
              </a:rPr>
              <a:t>Время в пути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Общественный транспорт — по расписаниям: автобусы, трамваи, метро, МЦК, МЦД, электрички и автобусы области; среднее время в часы окна заявки. Машина — пробки по часам, дням недели и сетке ~330 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Реальный день и наш план, Восток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12 бригад, 130 км, 1 заявка без исполнителя: по расписаниям и с обедом общественный транспорт медленнее</a:t>
            </a:r>
          </a:p>
        </p:txBody>
      </p:sp>
      <p:pic>
        <p:nvPicPr>
          <p:cNvPr id="9" name="Picture 8" descr="map_vostok_pt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31644"/>
            <a:ext cx="11338560" cy="7835590"/>
          </a:xfrm>
          <a:prstGeom prst="roundRect">
            <a:avLst>
              <a:gd name="adj" fmla="val 3000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115568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1115568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Диспетчер   </a:t>
            </a:r>
            <a:r>
              <a:rPr sz="2400" b="0" i="0">
                <a:solidFill>
                  <a:srgbClr val="141414"/>
                </a:solidFill>
                <a:latin typeface="Beeline Sans"/>
              </a:rPr>
              <a:t>12 бригад, 229 км, 3 опоздания, 2 заявки без бригады (□)</a:t>
            </a:r>
          </a:p>
        </p:txBody>
      </p:sp>
      <p:pic>
        <p:nvPicPr>
          <p:cNvPr id="12" name="Picture 11" descr="map_vostok_pt_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88" y="3031644"/>
            <a:ext cx="11338560" cy="7835590"/>
          </a:xfrm>
          <a:prstGeom prst="roundRect">
            <a:avLst>
              <a:gd name="adj" fmla="val 3000"/>
            </a:avLst>
          </a:prstGeom>
        </p:spPr>
      </p:pic>
      <p:sp>
        <p:nvSpPr>
          <p:cNvPr id="13" name="Rounded Rectangle 12"/>
          <p:cNvSpPr/>
          <p:nvPr/>
        </p:nvSpPr>
        <p:spPr>
          <a:xfrm>
            <a:off x="12362688" y="1115568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728448" y="1115568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Наш план   </a:t>
            </a:r>
            <a:r>
              <a:rPr sz="2400" b="0" i="0">
                <a:solidFill>
                  <a:srgbClr val="141414"/>
                </a:solidFill>
                <a:latin typeface="Beeline Sans"/>
              </a:rPr>
              <a:t>8 бригад, 167 км, без опозданий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618720"/>
            <a:ext cx="2286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*Общественный транспорт, навыки как в реальный день. Линии соединяют заявки в порядке объезда.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Загрузка бригад по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Восток, смешанный транспорт — 8 бригад, 187,4 км (демо-план)</a:t>
            </a:r>
          </a:p>
        </p:txBody>
      </p:sp>
      <p:pic>
        <p:nvPicPr>
          <p:cNvPr id="9" name="Picture 8" descr="gantt_vostok_mi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04581"/>
            <a:ext cx="23042879" cy="78383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11795760"/>
            <a:ext cx="621792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1795760"/>
            <a:ext cx="621792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9768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подключение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11795760"/>
            <a:ext cx="621792" cy="402336"/>
          </a:xfrm>
          <a:prstGeom prst="rect">
            <a:avLst/>
          </a:prstGeom>
          <a:solidFill>
            <a:srgbClr val="A1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9244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ремонт и дозаказ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08407" y="11704320"/>
            <a:ext cx="1207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серая полоса — дорога, пунктир — ожидание окна. Восток, смешанный транспорт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Наш план на трёх участках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на общественном транспорте 12, 11 и 12 бригад; на смешанном — 8, 7 и 12</a:t>
            </a:r>
          </a:p>
        </p:txBody>
      </p:sp>
      <p:pic>
        <p:nvPicPr>
          <p:cNvPr id="9" name="Picture 8" descr="map3_vostok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Восток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8 бригад вместо 12, 167 км</a:t>
            </a:r>
          </a:p>
        </p:txBody>
      </p:sp>
      <p:pic>
        <p:nvPicPr>
          <p:cNvPr id="12" name="Picture 11" descr="map3_yugocentr_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8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8430768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Югоцентр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6 бригад вместо 11, 198 км</a:t>
            </a:r>
          </a:p>
        </p:txBody>
      </p:sp>
      <p:pic>
        <p:nvPicPr>
          <p:cNvPr id="15" name="Picture 14" descr="map3_yugovostok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62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16203167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Юго-восток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3167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11 бригад вместо 12, 413 км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3167" y="12527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*На карте Юго-востока только московская часть. Три бригады стартуют из Каширы, Ступино и Домодедово.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57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Все варианты реального дня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59" y="914400"/>
            <a:ext cx="7790688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184880" y="914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колонка «Текущая модель»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3017520"/>
          <a:ext cx="23042880" cy="8046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029200"/>
                <a:gridCol w="4206240"/>
                <a:gridCol w="3383280"/>
                <a:gridCol w="3017520"/>
                <a:gridCol w="3200400"/>
                <a:gridCol w="4206240"/>
              </a:tblGrid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Участок,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Реальный день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Базовый ТЗ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Наш план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Оптимальность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Текущая модель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229 км, 3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8 бр, 167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1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252 км, 2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19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7 бр, 190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8 бр, 180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21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7 бр, 186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8 бр, 187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228 км, 4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14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198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3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228 км, 2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10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164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7 бр, 130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13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161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7 бр, 157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367 км, 35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11 бр, 413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380 км, 24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29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9 бр, 436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10 бр, 417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36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11 бр, 524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11338560"/>
            <a:ext cx="23042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1A1A1"/>
                </a:solidFill>
                <a:latin typeface="Beeline Sans"/>
              </a:rPr>
              <a:t>*«Доказана»: план оптимален и по числу бригад, и по пробегу, лучшего плана в этих ограничениях нет (нижняя граница совпала с планом).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A1A1A1"/>
                </a:solidFill>
                <a:latin typeface="Beeline Sans"/>
              </a:rPr>
              <a:t>В ячейках: бригад, км, опоздания или невыполненные заявки. Навыки как в реальный день, смешанный транспорт задали мы. Текущая модель — те же заявки с обедом, оборудованием, сложностью работ, домами бригад, расписаниями и пробками (research/deck_report_v2.md).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58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beetech">
      <a:dk1>
        <a:srgbClr val="1E1E1E"/>
      </a:dk1>
      <a:lt1>
        <a:srgbClr val="FFFFFF"/>
      </a:lt1>
      <a:dk2>
        <a:srgbClr val="141414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00C2AB"/>
      </a:accent4>
      <a:accent5>
        <a:srgbClr val="EC008C"/>
      </a:accent5>
      <a:accent6>
        <a:srgbClr val="6332C8"/>
      </a:accent6>
      <a:hlink>
        <a:srgbClr val="F07300"/>
      </a:hlink>
      <a:folHlink>
        <a:srgbClr val="E5093B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6DC749F4E63E2499755345AD71F676C" ma:contentTypeVersion="1" ma:contentTypeDescription="Создание документа." ma:contentTypeScope="" ma:versionID="befad51a7d1e2057edc29d085254fa4b">
  <xsd:schema xmlns:xsd="http://www.w3.org/2001/XMLSchema" xmlns:xs="http://www.w3.org/2001/XMLSchema" xmlns:p="http://schemas.microsoft.com/office/2006/metadata/properties" xmlns:ns2="b0d1da1b-b766-4d02-a7fe-ca5e63ac8b47" targetNamespace="http://schemas.microsoft.com/office/2006/metadata/properties" ma:root="true" ma:fieldsID="60ff9718db658d84870affcbadea4cab" ns2:_="">
    <xsd:import namespace="b0d1da1b-b766-4d02-a7fe-ca5e63ac8b4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1da1b-b766-4d02-a7fe-ca5e63ac8b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770616-B9A9-4136-8EF0-5FD8000A0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d1da1b-b766-4d02-a7fe-ca5e63ac8b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782C7-19C9-468F-A881-26AE90F9B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8C896-CF3A-4CE8-9C0B-CB9A407D05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1781</Words>
  <Application>Microsoft Macintosh PowerPoint</Application>
  <PresentationFormat>Произвольный</PresentationFormat>
  <Paragraphs>172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Beeline Sans</vt:lpstr>
      <vt:lpstr>Beeline Sans Black</vt:lpstr>
      <vt:lpstr>Beeline Sans Medium</vt:lpstr>
      <vt:lpstr>Helvetica Neue</vt:lpstr>
      <vt:lpstr>Helvetica Neue Medium</vt:lpstr>
      <vt:lpstr>21_BasicWhite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Миллер Марина Игоревна</cp:lastModifiedBy>
  <cp:revision>20</cp:revision>
  <dcterms:modified xsi:type="dcterms:W3CDTF">2026-05-12T07:54:46Z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0x010100C6DC749F4E63E2499755345AD71F676C</vt:lpwstr>
  </property>
</Properties>
</file>